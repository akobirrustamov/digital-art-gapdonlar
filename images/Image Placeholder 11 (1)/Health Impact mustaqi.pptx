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12" d="100"/>
          <a:sy n="112" d="100"/>
        </p:scale>
        <p:origin x="-222"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4C1858-677A-97E0-4D61-8FAC187C84A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1C7D401-7851-E4B4-9546-8BB6800C67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B38D0A8-9999-A970-ED25-ADA252AC52B1}"/>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5" name="Нижний колонтитул 4">
            <a:extLst>
              <a:ext uri="{FF2B5EF4-FFF2-40B4-BE49-F238E27FC236}">
                <a16:creationId xmlns:a16="http://schemas.microsoft.com/office/drawing/2014/main" id="{775E3CB1-E624-8AFD-B63B-42AA4593D3B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8B920C7-B9F5-8BE3-5A99-D9F5C61413AE}"/>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2212632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F197C2-9F4E-AB21-5FD6-E255DA44F1B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C29E21C-EE22-B928-27F8-90915A0DBBE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D3BBC25-9B60-E490-4BBE-DBD6A3C9BD69}"/>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5" name="Нижний колонтитул 4">
            <a:extLst>
              <a:ext uri="{FF2B5EF4-FFF2-40B4-BE49-F238E27FC236}">
                <a16:creationId xmlns:a16="http://schemas.microsoft.com/office/drawing/2014/main" id="{B3823189-705E-AA3E-917C-217CC128906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F939D0E-0711-F933-0836-8FB7A7E4F087}"/>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425447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B8622-2EC3-7678-ADF9-D092F52A810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25C0F0C-63AA-E757-7241-8655806758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5F57789-9725-DC52-99F2-86A31E479772}"/>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5" name="Нижний колонтитул 4">
            <a:extLst>
              <a:ext uri="{FF2B5EF4-FFF2-40B4-BE49-F238E27FC236}">
                <a16:creationId xmlns:a16="http://schemas.microsoft.com/office/drawing/2014/main" id="{F31C2C11-F1FB-5F51-8A6B-108EE676D6F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DDCB00F-0689-7525-EA26-1115EB0FB3FC}"/>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2511240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1500E0-B034-508C-379A-D9DFBC7E2EB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7235B59-E60D-C7D7-5B0D-48F21988C8AA}"/>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823A69E1-49A0-EE3D-095B-7BC40E261E03}"/>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3C2C1FB-31E0-DD40-F4B8-5548CAAF072D}"/>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6" name="Нижний колонтитул 5">
            <a:extLst>
              <a:ext uri="{FF2B5EF4-FFF2-40B4-BE49-F238E27FC236}">
                <a16:creationId xmlns:a16="http://schemas.microsoft.com/office/drawing/2014/main" id="{C510A38A-3E40-9314-DECE-76668D902E7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EC2BE03-8EA1-0DD9-E884-61D3C5971E91}"/>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1016292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60B862-220C-CA32-DBBF-8C63FD390F4E}"/>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ADF80C5-F355-7FCA-CAEA-B75F12F48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C8A9052-5DFF-3DD4-6982-6426E6AED73C}"/>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FD9A83A5-3423-FC3B-8FBC-15C7C68D42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40D6A91-86B3-69A5-7187-10278DB0B8D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E8E852F-002F-0C96-E1C8-7592BA30CA77}"/>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8" name="Нижний колонтитул 7">
            <a:extLst>
              <a:ext uri="{FF2B5EF4-FFF2-40B4-BE49-F238E27FC236}">
                <a16:creationId xmlns:a16="http://schemas.microsoft.com/office/drawing/2014/main" id="{8C954D69-AD91-EA06-BC99-3C3B492ABD6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FD107BB-2169-2D10-6960-310543C52D7B}"/>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382077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932896-8EC3-532A-6898-1803929A51A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9173CE4-E057-F48D-F1FB-F9DE68E43C0E}"/>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4" name="Нижний колонтитул 3">
            <a:extLst>
              <a:ext uri="{FF2B5EF4-FFF2-40B4-BE49-F238E27FC236}">
                <a16:creationId xmlns:a16="http://schemas.microsoft.com/office/drawing/2014/main" id="{84CDB11F-DEB2-4CD9-1237-78F2CB2C5DC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EF02F33-88EC-A8A2-9BEF-1EE106159733}"/>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80555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903C03C7-5F58-63FE-BD0C-568E55DBE30C}"/>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3" name="Нижний колонтитул 2">
            <a:extLst>
              <a:ext uri="{FF2B5EF4-FFF2-40B4-BE49-F238E27FC236}">
                <a16:creationId xmlns:a16="http://schemas.microsoft.com/office/drawing/2014/main" id="{CC2E0165-5D4B-BC26-05B0-8C605D84CBF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1AC7A7F-3348-DF4D-5408-404170D2E35D}"/>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346188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0EFC8A-6092-1379-0419-F079F444E61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BF70877-2DA6-814F-181C-70E3769B7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CEEC04A-E833-EF8B-D3CC-EFE99F0B1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6592F11-139A-1044-F7D9-CB92B06D94DE}"/>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6" name="Нижний колонтитул 5">
            <a:extLst>
              <a:ext uri="{FF2B5EF4-FFF2-40B4-BE49-F238E27FC236}">
                <a16:creationId xmlns:a16="http://schemas.microsoft.com/office/drawing/2014/main" id="{097E0358-3247-2F35-F9EB-8FB36BA63CA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C6E1271-6A41-FD4E-D573-7626B75BA952}"/>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73994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893377-084D-106C-0A97-ED5C9071B13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819D6265-292A-E06E-3EB0-070A54290D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B4CAE916-0A7D-7496-1AA3-311D66527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B82C05D-4FC8-A9A0-3326-42EC1FD1484C}"/>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6" name="Нижний колонтитул 5">
            <a:extLst>
              <a:ext uri="{FF2B5EF4-FFF2-40B4-BE49-F238E27FC236}">
                <a16:creationId xmlns:a16="http://schemas.microsoft.com/office/drawing/2014/main" id="{5CF70F9C-DE5D-E61C-41C9-65A73868D6C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D91A0A7-B389-B308-0700-65803AD23473}"/>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2141690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51C41A-E5FB-8187-5DF0-F0F877542A8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FC418BE1-4A2A-F5AD-EC12-BA775D767790}"/>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DED4982-2D66-26D3-2651-C42C5B8016E0}"/>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5" name="Нижний колонтитул 4">
            <a:extLst>
              <a:ext uri="{FF2B5EF4-FFF2-40B4-BE49-F238E27FC236}">
                <a16:creationId xmlns:a16="http://schemas.microsoft.com/office/drawing/2014/main" id="{7A54695B-7794-07E0-287E-E0CCD1E97FB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9828DAA-F0EA-3F9C-D8F0-6D18CF3D7495}"/>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592190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BD1B5F5-B09E-8B42-D5A6-20B9ECA11E2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E90C57DD-2045-ED7F-7C44-A986AB50FDC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26E9291-9CF4-B118-707B-1E9B8C2CC189}"/>
              </a:ext>
            </a:extLst>
          </p:cNvPr>
          <p:cNvSpPr>
            <a:spLocks noGrp="1"/>
          </p:cNvSpPr>
          <p:nvPr>
            <p:ph type="dt" sz="half" idx="10"/>
          </p:nvPr>
        </p:nvSpPr>
        <p:spPr/>
        <p:txBody>
          <a:bodyPr/>
          <a:lstStyle/>
          <a:p>
            <a:fld id="{556B0CAC-91D2-4CDA-8ABC-8C694F759A41}" type="datetimeFigureOut">
              <a:rPr lang="ru-RU" smtClean="0"/>
              <a:t>04.03.2025</a:t>
            </a:fld>
            <a:endParaRPr lang="ru-RU"/>
          </a:p>
        </p:txBody>
      </p:sp>
      <p:sp>
        <p:nvSpPr>
          <p:cNvPr id="5" name="Нижний колонтитул 4">
            <a:extLst>
              <a:ext uri="{FF2B5EF4-FFF2-40B4-BE49-F238E27FC236}">
                <a16:creationId xmlns:a16="http://schemas.microsoft.com/office/drawing/2014/main" id="{F04CF4BB-0F7A-0771-9EFE-49FC14E05A6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1F73473-66C1-24F6-B5A1-2CC369CCA679}"/>
              </a:ext>
            </a:extLst>
          </p:cNvPr>
          <p:cNvSpPr>
            <a:spLocks noGrp="1"/>
          </p:cNvSpPr>
          <p:nvPr>
            <p:ph type="sldNum" sz="quarter" idx="12"/>
          </p:nvPr>
        </p:nvSpPr>
        <p:spPr/>
        <p:txBody>
          <a:bodyPr/>
          <a:lstStyle/>
          <a:p>
            <a:fld id="{2AAA60A1-A2CB-4F5B-A3D8-D1AC05AC8DBF}" type="slidenum">
              <a:rPr lang="ru-RU" smtClean="0"/>
              <a:t>‹#›</a:t>
            </a:fld>
            <a:endParaRPr lang="ru-RU"/>
          </a:p>
        </p:txBody>
      </p:sp>
    </p:spTree>
    <p:extLst>
      <p:ext uri="{BB962C8B-B14F-4D97-AF65-F5344CB8AC3E}">
        <p14:creationId xmlns:p14="http://schemas.microsoft.com/office/powerpoint/2010/main" val="120330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52A1AF-BA7D-5CBD-8B05-8C61106083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90AD36F-13A4-2C42-0172-694BF884C6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4D0EFA8-0AC9-9E0E-ECBF-A03181ED74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6B0CAC-91D2-4CDA-8ABC-8C694F759A41}" type="datetimeFigureOut">
              <a:rPr lang="ru-RU" smtClean="0"/>
              <a:t>04.03.2025</a:t>
            </a:fld>
            <a:endParaRPr lang="ru-RU"/>
          </a:p>
        </p:txBody>
      </p:sp>
      <p:sp>
        <p:nvSpPr>
          <p:cNvPr id="5" name="Нижний колонтитул 4">
            <a:extLst>
              <a:ext uri="{FF2B5EF4-FFF2-40B4-BE49-F238E27FC236}">
                <a16:creationId xmlns:a16="http://schemas.microsoft.com/office/drawing/2014/main" id="{320E489B-F0D1-50B0-3EFF-60828618D5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9356FA29-4BC9-8C0E-28D7-143D5772F1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AA60A1-A2CB-4F5B-A3D8-D1AC05AC8DBF}" type="slidenum">
              <a:rPr lang="ru-RU" smtClean="0"/>
              <a:t>‹#›</a:t>
            </a:fld>
            <a:endParaRPr lang="ru-RU"/>
          </a:p>
        </p:txBody>
      </p:sp>
    </p:spTree>
    <p:extLst>
      <p:ext uri="{BB962C8B-B14F-4D97-AF65-F5344CB8AC3E}">
        <p14:creationId xmlns:p14="http://schemas.microsoft.com/office/powerpoint/2010/main" val="1131495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9DDE0D-89D9-431E-F25B-357F20267785}"/>
              </a:ext>
            </a:extLst>
          </p:cNvPr>
          <p:cNvSpPr>
            <a:spLocks noGrp="1"/>
          </p:cNvSpPr>
          <p:nvPr>
            <p:ph type="ctrTitle"/>
          </p:nvPr>
        </p:nvSpPr>
        <p:spPr>
          <a:xfrm>
            <a:off x="1524000" y="1122363"/>
            <a:ext cx="9144000" cy="634009"/>
          </a:xfrm>
        </p:spPr>
        <p:txBody>
          <a:bodyPr>
            <a:normAutofit/>
          </a:bodyPr>
          <a:lstStyle/>
          <a:p>
            <a:r>
              <a:rPr lang="en-US" sz="3600" dirty="0"/>
              <a:t>Health Impact:</a:t>
            </a:r>
            <a:endParaRPr lang="ru-RU" sz="3600" dirty="0"/>
          </a:p>
        </p:txBody>
      </p:sp>
      <p:sp>
        <p:nvSpPr>
          <p:cNvPr id="3" name="Подзаголовок 2">
            <a:extLst>
              <a:ext uri="{FF2B5EF4-FFF2-40B4-BE49-F238E27FC236}">
                <a16:creationId xmlns:a16="http://schemas.microsoft.com/office/drawing/2014/main" id="{6FD2E661-004C-130D-7BCD-05CB90358954}"/>
              </a:ext>
            </a:extLst>
          </p:cNvPr>
          <p:cNvSpPr>
            <a:spLocks noGrp="1"/>
          </p:cNvSpPr>
          <p:nvPr>
            <p:ph type="subTitle" idx="1"/>
          </p:nvPr>
        </p:nvSpPr>
        <p:spPr>
          <a:xfrm>
            <a:off x="1460625" y="1756373"/>
            <a:ext cx="9144000" cy="3069124"/>
          </a:xfrm>
        </p:spPr>
        <p:txBody>
          <a:bodyPr>
            <a:normAutofit/>
          </a:bodyPr>
          <a:lstStyle/>
          <a:p>
            <a:r>
              <a:rPr lang="en-US" sz="2000" dirty="0"/>
              <a:t>The virus primarily affects the respiratory system, with symptoms ranging from mild cough and fever to severe pneumonia. For vulnerable groups, such as the elderly and those with underlying health conditions, the virus can be fatal. The pandemic overwhelmed healthcare systems, forcing governments to take extreme measures like lockdowns and social distancing to curb its spread.</a:t>
            </a:r>
            <a:endParaRPr lang="ru-RU" sz="2000" dirty="0"/>
          </a:p>
        </p:txBody>
      </p:sp>
      <p:sp>
        <p:nvSpPr>
          <p:cNvPr id="5" name="TextBox 4">
            <a:extLst>
              <a:ext uri="{FF2B5EF4-FFF2-40B4-BE49-F238E27FC236}">
                <a16:creationId xmlns:a16="http://schemas.microsoft.com/office/drawing/2014/main" id="{C4BB3E75-5C8A-773E-7B2F-782DE6AD7097}"/>
              </a:ext>
            </a:extLst>
          </p:cNvPr>
          <p:cNvSpPr txBox="1"/>
          <p:nvPr/>
        </p:nvSpPr>
        <p:spPr>
          <a:xfrm>
            <a:off x="1524001" y="3429000"/>
            <a:ext cx="9143999" cy="3231654"/>
          </a:xfrm>
          <a:prstGeom prst="rect">
            <a:avLst/>
          </a:prstGeom>
          <a:noFill/>
        </p:spPr>
        <p:txBody>
          <a:bodyPr wrap="square">
            <a:spAutoFit/>
          </a:bodyPr>
          <a:lstStyle/>
          <a:p>
            <a:r>
              <a:rPr lang="en-US" b="1" dirty="0"/>
              <a:t>                                                           </a:t>
            </a:r>
            <a:r>
              <a:rPr lang="en-US" sz="3600" b="1" dirty="0" err="1"/>
              <a:t>Sog'liq</a:t>
            </a:r>
            <a:r>
              <a:rPr lang="en-US" sz="3600" b="1" dirty="0"/>
              <a:t> </a:t>
            </a:r>
            <a:r>
              <a:rPr lang="en-US" sz="3600" b="1" dirty="0" err="1"/>
              <a:t>ta'siri</a:t>
            </a:r>
            <a:r>
              <a:rPr lang="en-US" sz="3600" b="1" dirty="0"/>
              <a:t>:</a:t>
            </a:r>
            <a:br>
              <a:rPr lang="en-US" dirty="0"/>
            </a:br>
            <a:r>
              <a:rPr lang="en-US" sz="2400" dirty="0"/>
              <a:t>Virus </a:t>
            </a:r>
            <a:r>
              <a:rPr lang="en-US" sz="2400" dirty="0" err="1"/>
              <a:t>asosan</a:t>
            </a:r>
            <a:r>
              <a:rPr lang="en-US" sz="2400" dirty="0"/>
              <a:t> </a:t>
            </a:r>
            <a:r>
              <a:rPr lang="en-US" sz="2400" dirty="0" err="1"/>
              <a:t>nafas</a:t>
            </a:r>
            <a:r>
              <a:rPr lang="en-US" sz="2400" dirty="0"/>
              <a:t> </a:t>
            </a:r>
            <a:r>
              <a:rPr lang="en-US" sz="2400" dirty="0" err="1"/>
              <a:t>olish</a:t>
            </a:r>
            <a:r>
              <a:rPr lang="en-US" sz="2400" dirty="0"/>
              <a:t> </a:t>
            </a:r>
            <a:r>
              <a:rPr lang="en-US" sz="2400" dirty="0" err="1"/>
              <a:t>tizimiga</a:t>
            </a:r>
            <a:r>
              <a:rPr lang="en-US" sz="2400" dirty="0"/>
              <a:t> </a:t>
            </a:r>
            <a:r>
              <a:rPr lang="en-US" sz="2400" dirty="0" err="1"/>
              <a:t>ta'sir</a:t>
            </a:r>
            <a:r>
              <a:rPr lang="en-US" sz="2400" dirty="0"/>
              <a:t> </a:t>
            </a:r>
            <a:r>
              <a:rPr lang="en-US" sz="2400" dirty="0" err="1"/>
              <a:t>qiladi</a:t>
            </a:r>
            <a:r>
              <a:rPr lang="en-US" sz="2400" dirty="0"/>
              <a:t>, </a:t>
            </a:r>
            <a:r>
              <a:rPr lang="en-US" sz="2400" dirty="0" err="1"/>
              <a:t>alomatlari</a:t>
            </a:r>
            <a:r>
              <a:rPr lang="en-US" sz="2400" dirty="0"/>
              <a:t> </a:t>
            </a:r>
            <a:r>
              <a:rPr lang="en-US" sz="2400" dirty="0" err="1"/>
              <a:t>yengil</a:t>
            </a:r>
            <a:r>
              <a:rPr lang="en-US" sz="2400" dirty="0"/>
              <a:t> </a:t>
            </a:r>
            <a:r>
              <a:rPr lang="en-US" sz="2400" dirty="0" err="1"/>
              <a:t>yo'tal</a:t>
            </a:r>
            <a:r>
              <a:rPr lang="en-US" sz="2400" dirty="0"/>
              <a:t> va </a:t>
            </a:r>
            <a:r>
              <a:rPr lang="en-US" sz="2400" dirty="0" err="1"/>
              <a:t>isitmadan</a:t>
            </a:r>
            <a:r>
              <a:rPr lang="en-US" sz="2400" dirty="0"/>
              <a:t> </a:t>
            </a:r>
            <a:r>
              <a:rPr lang="en-US" sz="2400" dirty="0" err="1"/>
              <a:t>og'ir</a:t>
            </a:r>
            <a:r>
              <a:rPr lang="en-US" sz="2400" dirty="0"/>
              <a:t> </a:t>
            </a:r>
            <a:r>
              <a:rPr lang="en-US" sz="2400" dirty="0" err="1"/>
              <a:t>pnevmoniyagacha</a:t>
            </a:r>
            <a:r>
              <a:rPr lang="en-US" sz="2400" dirty="0"/>
              <a:t> </a:t>
            </a:r>
            <a:r>
              <a:rPr lang="en-US" sz="2400" dirty="0" err="1"/>
              <a:t>o'zgarishi</a:t>
            </a:r>
            <a:r>
              <a:rPr lang="en-US" sz="2400" dirty="0"/>
              <a:t> </a:t>
            </a:r>
            <a:r>
              <a:rPr lang="en-US" sz="2400" dirty="0" err="1"/>
              <a:t>mumkin</a:t>
            </a:r>
            <a:r>
              <a:rPr lang="en-US" sz="2400" dirty="0"/>
              <a:t>. </a:t>
            </a:r>
            <a:r>
              <a:rPr lang="en-US" sz="2400" dirty="0" err="1"/>
              <a:t>O'z</a:t>
            </a:r>
            <a:r>
              <a:rPr lang="en-US" sz="2400" dirty="0"/>
              <a:t> </a:t>
            </a:r>
            <a:r>
              <a:rPr lang="en-US" sz="2400" dirty="0" err="1"/>
              <a:t>sog'lig'i</a:t>
            </a:r>
            <a:r>
              <a:rPr lang="en-US" sz="2400" dirty="0"/>
              <a:t> </a:t>
            </a:r>
            <a:r>
              <a:rPr lang="en-US" sz="2400" dirty="0" err="1"/>
              <a:t>bo'yicha</a:t>
            </a:r>
            <a:r>
              <a:rPr lang="en-US" sz="2400" dirty="0"/>
              <a:t> </a:t>
            </a:r>
            <a:r>
              <a:rPr lang="en-US" sz="2400" dirty="0" err="1"/>
              <a:t>xavf</a:t>
            </a:r>
            <a:r>
              <a:rPr lang="en-US" sz="2400" dirty="0"/>
              <a:t> </a:t>
            </a:r>
            <a:r>
              <a:rPr lang="en-US" sz="2400" dirty="0" err="1"/>
              <a:t>guruhida</a:t>
            </a:r>
            <a:r>
              <a:rPr lang="en-US" sz="2400" dirty="0"/>
              <a:t> </a:t>
            </a:r>
            <a:r>
              <a:rPr lang="en-US" sz="2400" dirty="0" err="1"/>
              <a:t>bo'lgan</a:t>
            </a:r>
            <a:r>
              <a:rPr lang="en-US" sz="2400" dirty="0"/>
              <a:t> </a:t>
            </a:r>
            <a:r>
              <a:rPr lang="en-US" sz="2400" dirty="0" err="1"/>
              <a:t>keksalar</a:t>
            </a:r>
            <a:r>
              <a:rPr lang="en-US" sz="2400" dirty="0"/>
              <a:t> va </a:t>
            </a:r>
            <a:r>
              <a:rPr lang="en-US" sz="2400" dirty="0" err="1"/>
              <a:t>boshqa</a:t>
            </a:r>
            <a:r>
              <a:rPr lang="en-US" sz="2400" dirty="0"/>
              <a:t> </a:t>
            </a:r>
            <a:r>
              <a:rPr lang="en-US" sz="2400" dirty="0" err="1"/>
              <a:t>kasalliklarga</a:t>
            </a:r>
            <a:r>
              <a:rPr lang="en-US" sz="2400" dirty="0"/>
              <a:t> </a:t>
            </a:r>
            <a:r>
              <a:rPr lang="en-US" sz="2400" dirty="0" err="1"/>
              <a:t>ega</a:t>
            </a:r>
            <a:r>
              <a:rPr lang="en-US" sz="2400" dirty="0"/>
              <a:t> </a:t>
            </a:r>
            <a:r>
              <a:rPr lang="en-US" sz="2400" dirty="0" err="1"/>
              <a:t>odamlar</a:t>
            </a:r>
            <a:r>
              <a:rPr lang="en-US" sz="2400" dirty="0"/>
              <a:t> uchun virus </a:t>
            </a:r>
            <a:r>
              <a:rPr lang="en-US" sz="2400" dirty="0" err="1"/>
              <a:t>halokatli</a:t>
            </a:r>
            <a:r>
              <a:rPr lang="en-US" sz="2400" dirty="0"/>
              <a:t> </a:t>
            </a:r>
            <a:r>
              <a:rPr lang="en-US" sz="2400" dirty="0" err="1"/>
              <a:t>bo'lishi</a:t>
            </a:r>
            <a:r>
              <a:rPr lang="en-US" sz="2400" dirty="0"/>
              <a:t> </a:t>
            </a:r>
            <a:r>
              <a:rPr lang="en-US" sz="2400" dirty="0" err="1"/>
              <a:t>mumkin</a:t>
            </a:r>
            <a:r>
              <a:rPr lang="en-US" sz="2400" dirty="0"/>
              <a:t>. </a:t>
            </a:r>
            <a:r>
              <a:rPr lang="en-US" sz="2400" dirty="0" err="1"/>
              <a:t>Pandemiya</a:t>
            </a:r>
            <a:r>
              <a:rPr lang="en-US" sz="2400" dirty="0"/>
              <a:t> </a:t>
            </a:r>
            <a:r>
              <a:rPr lang="en-US" sz="2400" dirty="0" err="1"/>
              <a:t>tibbiyot</a:t>
            </a:r>
            <a:r>
              <a:rPr lang="en-US" sz="2400" dirty="0"/>
              <a:t> </a:t>
            </a:r>
            <a:r>
              <a:rPr lang="en-US" sz="2400" dirty="0" err="1"/>
              <a:t>tizimlarini</a:t>
            </a:r>
            <a:r>
              <a:rPr lang="en-US" sz="2400" dirty="0"/>
              <a:t> </a:t>
            </a:r>
            <a:r>
              <a:rPr lang="en-US" sz="2400" dirty="0" err="1"/>
              <a:t>haddan</a:t>
            </a:r>
            <a:r>
              <a:rPr lang="en-US" sz="2400" dirty="0"/>
              <a:t> </a:t>
            </a:r>
            <a:r>
              <a:rPr lang="en-US" sz="2400" dirty="0" err="1"/>
              <a:t>tashqari</a:t>
            </a:r>
            <a:r>
              <a:rPr lang="en-US" sz="2400" dirty="0"/>
              <a:t> </a:t>
            </a:r>
            <a:r>
              <a:rPr lang="en-US" sz="2400" dirty="0" err="1"/>
              <a:t>yukladi</a:t>
            </a:r>
            <a:r>
              <a:rPr lang="en-US" sz="2400" dirty="0"/>
              <a:t>, </a:t>
            </a:r>
            <a:r>
              <a:rPr lang="en-US" sz="2400" dirty="0" err="1"/>
              <a:t>hukumatlar</a:t>
            </a:r>
            <a:r>
              <a:rPr lang="en-US" sz="2400" dirty="0"/>
              <a:t> uning </a:t>
            </a:r>
            <a:r>
              <a:rPr lang="en-US" sz="2400" dirty="0" err="1"/>
              <a:t>tarqalishini</a:t>
            </a:r>
            <a:r>
              <a:rPr lang="en-US" sz="2400" dirty="0"/>
              <a:t> </a:t>
            </a:r>
            <a:r>
              <a:rPr lang="en-US" sz="2400" dirty="0" err="1"/>
              <a:t>cheklash</a:t>
            </a:r>
            <a:r>
              <a:rPr lang="en-US" sz="2400" dirty="0"/>
              <a:t> uchun </a:t>
            </a:r>
            <a:r>
              <a:rPr lang="en-US" sz="2400" dirty="0" err="1"/>
              <a:t>qattiq</a:t>
            </a:r>
            <a:r>
              <a:rPr lang="en-US" sz="2400" dirty="0"/>
              <a:t> </a:t>
            </a:r>
            <a:r>
              <a:rPr lang="en-US" sz="2400" dirty="0" err="1"/>
              <a:t>choralar</a:t>
            </a:r>
            <a:r>
              <a:rPr lang="en-US" sz="2400" dirty="0"/>
              <a:t> </a:t>
            </a:r>
            <a:r>
              <a:rPr lang="en-US" sz="2400" dirty="0" err="1"/>
              <a:t>ko'rishga</a:t>
            </a:r>
            <a:r>
              <a:rPr lang="en-US" sz="2400" dirty="0"/>
              <a:t> </a:t>
            </a:r>
            <a:r>
              <a:rPr lang="en-US" sz="2400" dirty="0" err="1"/>
              <a:t>majbur</a:t>
            </a:r>
            <a:r>
              <a:rPr lang="en-US" sz="2400" dirty="0"/>
              <a:t> </a:t>
            </a:r>
            <a:r>
              <a:rPr lang="en-US" sz="2400" dirty="0" err="1"/>
              <a:t>bo'ldi</a:t>
            </a:r>
            <a:r>
              <a:rPr lang="en-US" sz="2400" dirty="0"/>
              <a:t>, </a:t>
            </a:r>
            <a:r>
              <a:rPr lang="en-US" sz="2400" dirty="0" err="1"/>
              <a:t>jumladan</a:t>
            </a:r>
            <a:r>
              <a:rPr lang="en-US" sz="2400" dirty="0"/>
              <a:t>, </a:t>
            </a:r>
            <a:r>
              <a:rPr lang="en-US" sz="2400" dirty="0" err="1"/>
              <a:t>karantin</a:t>
            </a:r>
            <a:r>
              <a:rPr lang="en-US" sz="2400" dirty="0"/>
              <a:t> va </a:t>
            </a:r>
            <a:r>
              <a:rPr lang="en-US" sz="2400" dirty="0" err="1"/>
              <a:t>ijtimoiy</a:t>
            </a:r>
            <a:r>
              <a:rPr lang="en-US" sz="2400" dirty="0"/>
              <a:t> </a:t>
            </a:r>
            <a:r>
              <a:rPr lang="en-US" sz="2400" dirty="0" err="1"/>
              <a:t>masofa</a:t>
            </a:r>
            <a:r>
              <a:rPr lang="en-US" sz="2400" dirty="0"/>
              <a:t> </a:t>
            </a:r>
            <a:r>
              <a:rPr lang="en-US" sz="2400" dirty="0" err="1"/>
              <a:t>saqlash</a:t>
            </a:r>
            <a:r>
              <a:rPr lang="en-US" sz="2400" dirty="0"/>
              <a:t>.</a:t>
            </a:r>
            <a:endParaRPr lang="ru-RU" sz="2400" dirty="0"/>
          </a:p>
        </p:txBody>
      </p:sp>
    </p:spTree>
    <p:extLst>
      <p:ext uri="{BB962C8B-B14F-4D97-AF65-F5344CB8AC3E}">
        <p14:creationId xmlns:p14="http://schemas.microsoft.com/office/powerpoint/2010/main" val="2258764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3ED014-C0CA-C58B-30C0-06BE576FBEFC}"/>
              </a:ext>
            </a:extLst>
          </p:cNvPr>
          <p:cNvSpPr>
            <a:spLocks noGrp="1"/>
          </p:cNvSpPr>
          <p:nvPr>
            <p:ph type="title"/>
          </p:nvPr>
        </p:nvSpPr>
        <p:spPr>
          <a:xfrm>
            <a:off x="3539904" y="365125"/>
            <a:ext cx="7813895" cy="1325563"/>
          </a:xfrm>
        </p:spPr>
        <p:txBody>
          <a:bodyPr>
            <a:normAutofit/>
          </a:bodyPr>
          <a:lstStyle/>
          <a:p>
            <a:r>
              <a:rPr lang="en-US" sz="3200" dirty="0"/>
              <a:t>Economic Impact:</a:t>
            </a:r>
            <a:endParaRPr lang="ru-RU" sz="3200" dirty="0"/>
          </a:p>
        </p:txBody>
      </p:sp>
      <p:sp>
        <p:nvSpPr>
          <p:cNvPr id="3" name="Объект 2">
            <a:extLst>
              <a:ext uri="{FF2B5EF4-FFF2-40B4-BE49-F238E27FC236}">
                <a16:creationId xmlns:a16="http://schemas.microsoft.com/office/drawing/2014/main" id="{9722772F-952C-13E8-27B2-FC44E94DEBC1}"/>
              </a:ext>
            </a:extLst>
          </p:cNvPr>
          <p:cNvSpPr>
            <a:spLocks noGrp="1"/>
          </p:cNvSpPr>
          <p:nvPr>
            <p:ph idx="1"/>
          </p:nvPr>
        </p:nvSpPr>
        <p:spPr>
          <a:xfrm>
            <a:off x="838199" y="1354845"/>
            <a:ext cx="10515600" cy="2547199"/>
          </a:xfrm>
        </p:spPr>
        <p:txBody>
          <a:bodyPr>
            <a:normAutofit/>
          </a:bodyPr>
          <a:lstStyle/>
          <a:p>
            <a:r>
              <a:rPr lang="en-US" dirty="0"/>
              <a:t>COVID-19 led to a global economic downturn. Many businesses were forced to close or limit operations, leading to mass layoffs, financial struggles, and a significant increase in unemployment. Small businesses, in particular, were heavily impacted. Governments implemented financial relief packages to help support citizens, but the long-term economic consequences are still being felt.</a:t>
            </a:r>
            <a:endParaRPr lang="ru-RU" dirty="0"/>
          </a:p>
        </p:txBody>
      </p:sp>
      <p:sp>
        <p:nvSpPr>
          <p:cNvPr id="5" name="TextBox 4">
            <a:extLst>
              <a:ext uri="{FF2B5EF4-FFF2-40B4-BE49-F238E27FC236}">
                <a16:creationId xmlns:a16="http://schemas.microsoft.com/office/drawing/2014/main" id="{C70F4E2B-8D7C-CA7E-7821-70800D97560E}"/>
              </a:ext>
            </a:extLst>
          </p:cNvPr>
          <p:cNvSpPr txBox="1"/>
          <p:nvPr/>
        </p:nvSpPr>
        <p:spPr>
          <a:xfrm>
            <a:off x="1122630" y="3777279"/>
            <a:ext cx="10022186" cy="2862322"/>
          </a:xfrm>
          <a:prstGeom prst="rect">
            <a:avLst/>
          </a:prstGeom>
          <a:noFill/>
        </p:spPr>
        <p:txBody>
          <a:bodyPr wrap="square">
            <a:spAutoFit/>
          </a:bodyPr>
          <a:lstStyle/>
          <a:p>
            <a:r>
              <a:rPr lang="en-US" b="1" dirty="0"/>
              <a:t>                                                        </a:t>
            </a:r>
            <a:r>
              <a:rPr lang="en-US" sz="3600" b="1" dirty="0" err="1"/>
              <a:t>Iqtisodiy</a:t>
            </a:r>
            <a:r>
              <a:rPr lang="en-US" sz="3600" b="1" dirty="0"/>
              <a:t> </a:t>
            </a:r>
            <a:r>
              <a:rPr lang="en-US" sz="3600" b="1" dirty="0" err="1"/>
              <a:t>ta'sir</a:t>
            </a:r>
            <a:r>
              <a:rPr lang="en-US" sz="3600" b="1" dirty="0"/>
              <a:t>:</a:t>
            </a:r>
            <a:br>
              <a:rPr lang="en-US" dirty="0"/>
            </a:br>
            <a:r>
              <a:rPr lang="en-US" sz="2400" dirty="0"/>
              <a:t>COVID-19 </a:t>
            </a:r>
            <a:r>
              <a:rPr lang="en-US" sz="2400" dirty="0" err="1"/>
              <a:t>butun</a:t>
            </a:r>
            <a:r>
              <a:rPr lang="en-US" sz="2400" dirty="0"/>
              <a:t> </a:t>
            </a:r>
            <a:r>
              <a:rPr lang="en-US" sz="2400" dirty="0" err="1"/>
              <a:t>dunyo</a:t>
            </a:r>
            <a:r>
              <a:rPr lang="en-US" sz="2400" dirty="0"/>
              <a:t> </a:t>
            </a:r>
            <a:r>
              <a:rPr lang="en-US" sz="2400" dirty="0" err="1"/>
              <a:t>bo'ylab</a:t>
            </a:r>
            <a:r>
              <a:rPr lang="en-US" sz="2400" dirty="0"/>
              <a:t> </a:t>
            </a:r>
            <a:r>
              <a:rPr lang="en-US" sz="2400" dirty="0" err="1"/>
              <a:t>iqtisodiy</a:t>
            </a:r>
            <a:r>
              <a:rPr lang="en-US" sz="2400" dirty="0"/>
              <a:t> </a:t>
            </a:r>
            <a:r>
              <a:rPr lang="en-US" sz="2400" dirty="0" err="1"/>
              <a:t>pasayishga</a:t>
            </a:r>
            <a:r>
              <a:rPr lang="en-US" sz="2400" dirty="0"/>
              <a:t> </a:t>
            </a:r>
            <a:r>
              <a:rPr lang="en-US" sz="2400" dirty="0" err="1"/>
              <a:t>olib</a:t>
            </a:r>
            <a:r>
              <a:rPr lang="en-US" sz="2400" dirty="0"/>
              <a:t> </a:t>
            </a:r>
            <a:r>
              <a:rPr lang="en-US" sz="2400" dirty="0" err="1"/>
              <a:t>keldi</a:t>
            </a:r>
            <a:r>
              <a:rPr lang="en-US" sz="2400" dirty="0"/>
              <a:t>. </a:t>
            </a:r>
            <a:r>
              <a:rPr lang="en-US" sz="2400" dirty="0" err="1"/>
              <a:t>Ko'plab</a:t>
            </a:r>
            <a:r>
              <a:rPr lang="en-US" sz="2400" dirty="0"/>
              <a:t> </a:t>
            </a:r>
            <a:r>
              <a:rPr lang="en-US" sz="2400" dirty="0" err="1"/>
              <a:t>korxonalar</a:t>
            </a:r>
            <a:r>
              <a:rPr lang="en-US" sz="2400" dirty="0"/>
              <a:t> </a:t>
            </a:r>
            <a:r>
              <a:rPr lang="en-US" sz="2400" dirty="0" err="1"/>
              <a:t>yopilishi</a:t>
            </a:r>
            <a:r>
              <a:rPr lang="en-US" sz="2400" dirty="0"/>
              <a:t> </a:t>
            </a:r>
            <a:r>
              <a:rPr lang="en-US" sz="2400" dirty="0" err="1"/>
              <a:t>yoki</a:t>
            </a:r>
            <a:r>
              <a:rPr lang="en-US" sz="2400" dirty="0"/>
              <a:t> </a:t>
            </a:r>
            <a:r>
              <a:rPr lang="en-US" sz="2400" dirty="0" err="1"/>
              <a:t>faoliyatlarini</a:t>
            </a:r>
            <a:r>
              <a:rPr lang="en-US" sz="2400" dirty="0"/>
              <a:t> </a:t>
            </a:r>
            <a:r>
              <a:rPr lang="en-US" sz="2400" dirty="0" err="1"/>
              <a:t>cheklashga</a:t>
            </a:r>
            <a:r>
              <a:rPr lang="en-US" sz="2400" dirty="0"/>
              <a:t> </a:t>
            </a:r>
            <a:r>
              <a:rPr lang="en-US" sz="2400" dirty="0" err="1"/>
              <a:t>majbur</a:t>
            </a:r>
            <a:r>
              <a:rPr lang="en-US" sz="2400" dirty="0"/>
              <a:t> </a:t>
            </a:r>
            <a:r>
              <a:rPr lang="en-US" sz="2400" dirty="0" err="1"/>
              <a:t>bo'ldi</a:t>
            </a:r>
            <a:r>
              <a:rPr lang="en-US" sz="2400" dirty="0"/>
              <a:t>, </a:t>
            </a:r>
            <a:r>
              <a:rPr lang="en-US" sz="2400" dirty="0" err="1"/>
              <a:t>bu</a:t>
            </a:r>
            <a:r>
              <a:rPr lang="en-US" sz="2400" dirty="0"/>
              <a:t> </a:t>
            </a:r>
            <a:r>
              <a:rPr lang="en-US" sz="2400" dirty="0" err="1"/>
              <a:t>esa</a:t>
            </a:r>
            <a:r>
              <a:rPr lang="en-US" sz="2400" dirty="0"/>
              <a:t> </a:t>
            </a:r>
            <a:r>
              <a:rPr lang="en-US" sz="2400" dirty="0" err="1"/>
              <a:t>ommaviy</a:t>
            </a:r>
            <a:r>
              <a:rPr lang="en-US" sz="2400" dirty="0"/>
              <a:t> </a:t>
            </a:r>
            <a:r>
              <a:rPr lang="en-US" sz="2400" dirty="0" err="1"/>
              <a:t>ishdan</a:t>
            </a:r>
            <a:r>
              <a:rPr lang="en-US" sz="2400" dirty="0"/>
              <a:t> </a:t>
            </a:r>
            <a:r>
              <a:rPr lang="en-US" sz="2400" dirty="0" err="1"/>
              <a:t>bo'shatilish</a:t>
            </a:r>
            <a:r>
              <a:rPr lang="en-US" sz="2400" dirty="0"/>
              <a:t>, </a:t>
            </a:r>
            <a:r>
              <a:rPr lang="en-US" sz="2400" dirty="0" err="1"/>
              <a:t>moliyaviy</a:t>
            </a:r>
            <a:r>
              <a:rPr lang="en-US" sz="2400" dirty="0"/>
              <a:t> </a:t>
            </a:r>
            <a:r>
              <a:rPr lang="en-US" sz="2400" dirty="0" err="1"/>
              <a:t>qiyinchiliklar</a:t>
            </a:r>
            <a:r>
              <a:rPr lang="en-US" sz="2400" dirty="0"/>
              <a:t> va </a:t>
            </a:r>
            <a:r>
              <a:rPr lang="en-US" sz="2400" dirty="0" err="1"/>
              <a:t>ish</a:t>
            </a:r>
            <a:r>
              <a:rPr lang="en-US" sz="2400" dirty="0"/>
              <a:t> </a:t>
            </a:r>
            <a:r>
              <a:rPr lang="en-US" sz="2400" dirty="0" err="1"/>
              <a:t>o'rinlarining</a:t>
            </a:r>
            <a:r>
              <a:rPr lang="en-US" sz="2400" dirty="0"/>
              <a:t> </a:t>
            </a:r>
            <a:r>
              <a:rPr lang="en-US" sz="2400" dirty="0" err="1"/>
              <a:t>kamayishiga</a:t>
            </a:r>
            <a:r>
              <a:rPr lang="en-US" sz="2400" dirty="0"/>
              <a:t> </a:t>
            </a:r>
            <a:r>
              <a:rPr lang="en-US" sz="2400" dirty="0" err="1"/>
              <a:t>sabab</a:t>
            </a:r>
            <a:r>
              <a:rPr lang="en-US" sz="2400" dirty="0"/>
              <a:t> </a:t>
            </a:r>
            <a:r>
              <a:rPr lang="en-US" sz="2400" dirty="0" err="1"/>
              <a:t>bo'ldi</a:t>
            </a:r>
            <a:r>
              <a:rPr lang="en-US" sz="2400" dirty="0"/>
              <a:t>. </a:t>
            </a:r>
            <a:r>
              <a:rPr lang="en-US" sz="2400" dirty="0" err="1"/>
              <a:t>Xususan</a:t>
            </a:r>
            <a:r>
              <a:rPr lang="en-US" sz="2400" dirty="0"/>
              <a:t>, </a:t>
            </a:r>
            <a:r>
              <a:rPr lang="en-US" sz="2400" dirty="0" err="1"/>
              <a:t>kichik</a:t>
            </a:r>
            <a:r>
              <a:rPr lang="en-US" sz="2400" dirty="0"/>
              <a:t> </a:t>
            </a:r>
            <a:r>
              <a:rPr lang="en-US" sz="2400" dirty="0" err="1"/>
              <a:t>bizneslar</a:t>
            </a:r>
            <a:r>
              <a:rPr lang="en-US" sz="2400" dirty="0"/>
              <a:t> </a:t>
            </a:r>
            <a:r>
              <a:rPr lang="en-US" sz="2400" dirty="0" err="1"/>
              <a:t>juda</a:t>
            </a:r>
            <a:r>
              <a:rPr lang="en-US" sz="2400" dirty="0"/>
              <a:t> </a:t>
            </a:r>
            <a:r>
              <a:rPr lang="en-US" sz="2400" dirty="0" err="1"/>
              <a:t>katta</a:t>
            </a:r>
            <a:r>
              <a:rPr lang="en-US" sz="2400" dirty="0"/>
              <a:t> </a:t>
            </a:r>
            <a:r>
              <a:rPr lang="en-US" sz="2400" dirty="0" err="1"/>
              <a:t>zarar</a:t>
            </a:r>
            <a:r>
              <a:rPr lang="en-US" sz="2400" dirty="0"/>
              <a:t> </a:t>
            </a:r>
            <a:r>
              <a:rPr lang="en-US" sz="2400" dirty="0" err="1"/>
              <a:t>ko'rdi</a:t>
            </a:r>
            <a:r>
              <a:rPr lang="en-US" sz="2400" dirty="0"/>
              <a:t>. </a:t>
            </a:r>
            <a:r>
              <a:rPr lang="en-US" sz="2400" dirty="0" err="1"/>
              <a:t>Hukumatlar</a:t>
            </a:r>
            <a:r>
              <a:rPr lang="en-US" sz="2400" dirty="0"/>
              <a:t> </a:t>
            </a:r>
            <a:r>
              <a:rPr lang="en-US" sz="2400" dirty="0" err="1"/>
              <a:t>fuqarolarni</a:t>
            </a:r>
            <a:r>
              <a:rPr lang="en-US" sz="2400" dirty="0"/>
              <a:t> </a:t>
            </a:r>
            <a:r>
              <a:rPr lang="en-US" sz="2400" dirty="0" err="1"/>
              <a:t>qo'llab-quvvatlash</a:t>
            </a:r>
            <a:r>
              <a:rPr lang="en-US" sz="2400" dirty="0"/>
              <a:t> uchun </a:t>
            </a:r>
            <a:r>
              <a:rPr lang="en-US" sz="2400" dirty="0" err="1"/>
              <a:t>moliyaviy</a:t>
            </a:r>
            <a:r>
              <a:rPr lang="en-US" sz="2400" dirty="0"/>
              <a:t> </a:t>
            </a:r>
            <a:r>
              <a:rPr lang="en-US" sz="2400" dirty="0" err="1"/>
              <a:t>yordam</a:t>
            </a:r>
            <a:r>
              <a:rPr lang="en-US" sz="2400" dirty="0"/>
              <a:t> </a:t>
            </a:r>
            <a:r>
              <a:rPr lang="en-US" sz="2400" dirty="0" err="1"/>
              <a:t>paketlarini</a:t>
            </a:r>
            <a:r>
              <a:rPr lang="en-US" sz="2400" dirty="0"/>
              <a:t> ishlab </a:t>
            </a:r>
            <a:r>
              <a:rPr lang="en-US" sz="2400" dirty="0" err="1"/>
              <a:t>chiqdi</a:t>
            </a:r>
            <a:r>
              <a:rPr lang="en-US" sz="2400" dirty="0"/>
              <a:t>, ammo </a:t>
            </a:r>
            <a:r>
              <a:rPr lang="en-US" sz="2400" dirty="0" err="1"/>
              <a:t>uzoq</a:t>
            </a:r>
            <a:r>
              <a:rPr lang="en-US" sz="2400" dirty="0"/>
              <a:t> </a:t>
            </a:r>
            <a:r>
              <a:rPr lang="en-US" sz="2400" dirty="0" err="1"/>
              <a:t>muddatli</a:t>
            </a:r>
            <a:r>
              <a:rPr lang="en-US" sz="2400" dirty="0"/>
              <a:t> </a:t>
            </a:r>
            <a:r>
              <a:rPr lang="en-US" sz="2400" dirty="0" err="1"/>
              <a:t>iqtisodiy</a:t>
            </a:r>
            <a:r>
              <a:rPr lang="en-US" sz="2400" dirty="0"/>
              <a:t> </a:t>
            </a:r>
            <a:r>
              <a:rPr lang="en-US" sz="2400" dirty="0" err="1"/>
              <a:t>oqibatlar</a:t>
            </a:r>
            <a:r>
              <a:rPr lang="en-US" sz="2400" dirty="0"/>
              <a:t> </a:t>
            </a:r>
            <a:r>
              <a:rPr lang="en-US" sz="2400" dirty="0" err="1"/>
              <a:t>hali</a:t>
            </a:r>
            <a:r>
              <a:rPr lang="en-US" sz="2400" dirty="0"/>
              <a:t> ham </a:t>
            </a:r>
            <a:r>
              <a:rPr lang="en-US" sz="2400" dirty="0" err="1"/>
              <a:t>sezilmoqda</a:t>
            </a:r>
            <a:r>
              <a:rPr lang="en-US" sz="2400" dirty="0"/>
              <a:t>.</a:t>
            </a:r>
            <a:endParaRPr lang="ru-RU" sz="2400" dirty="0"/>
          </a:p>
        </p:txBody>
      </p:sp>
    </p:spTree>
    <p:extLst>
      <p:ext uri="{BB962C8B-B14F-4D97-AF65-F5344CB8AC3E}">
        <p14:creationId xmlns:p14="http://schemas.microsoft.com/office/powerpoint/2010/main" val="348862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E97A28-5A4B-929E-DF09-428ACA27B528}"/>
              </a:ext>
            </a:extLst>
          </p:cNvPr>
          <p:cNvSpPr>
            <a:spLocks noGrp="1"/>
          </p:cNvSpPr>
          <p:nvPr>
            <p:ph type="title"/>
          </p:nvPr>
        </p:nvSpPr>
        <p:spPr>
          <a:xfrm>
            <a:off x="3268300" y="365125"/>
            <a:ext cx="8085499" cy="1325563"/>
          </a:xfrm>
        </p:spPr>
        <p:txBody>
          <a:bodyPr>
            <a:normAutofit/>
          </a:bodyPr>
          <a:lstStyle/>
          <a:p>
            <a:r>
              <a:rPr lang="en-US" sz="3600" dirty="0"/>
              <a:t>Social Impact:</a:t>
            </a:r>
            <a:endParaRPr lang="ru-RU" sz="3600" dirty="0"/>
          </a:p>
        </p:txBody>
      </p:sp>
      <p:sp>
        <p:nvSpPr>
          <p:cNvPr id="3" name="Объект 2">
            <a:extLst>
              <a:ext uri="{FF2B5EF4-FFF2-40B4-BE49-F238E27FC236}">
                <a16:creationId xmlns:a16="http://schemas.microsoft.com/office/drawing/2014/main" id="{BC75681A-3572-5951-57FA-E08C7CB5C137}"/>
              </a:ext>
            </a:extLst>
          </p:cNvPr>
          <p:cNvSpPr>
            <a:spLocks noGrp="1"/>
          </p:cNvSpPr>
          <p:nvPr>
            <p:ph idx="1"/>
          </p:nvPr>
        </p:nvSpPr>
        <p:spPr>
          <a:xfrm>
            <a:off x="557543" y="1253331"/>
            <a:ext cx="10515600" cy="4351338"/>
          </a:xfrm>
        </p:spPr>
        <p:txBody>
          <a:bodyPr/>
          <a:lstStyle/>
          <a:p>
            <a:r>
              <a:rPr lang="en-US" dirty="0"/>
              <a:t>Social distancing measures and lockdowns disrupted normal social interactions. People were forced to stay at home, leading to feelings of isolation and loneliness for many. Education was also affected, as schools and universities switched to online learning. The pandemic highlighted the importance of mental health, as many people experienced anxiety, depression, and stress due to uncertainty.</a:t>
            </a:r>
            <a:endParaRPr lang="ru-RU" dirty="0"/>
          </a:p>
        </p:txBody>
      </p:sp>
      <p:sp>
        <p:nvSpPr>
          <p:cNvPr id="5" name="TextBox 4">
            <a:extLst>
              <a:ext uri="{FF2B5EF4-FFF2-40B4-BE49-F238E27FC236}">
                <a16:creationId xmlns:a16="http://schemas.microsoft.com/office/drawing/2014/main" id="{E8024818-41A7-67D2-DBDF-31568F92E129}"/>
              </a:ext>
            </a:extLst>
          </p:cNvPr>
          <p:cNvSpPr txBox="1"/>
          <p:nvPr/>
        </p:nvSpPr>
        <p:spPr>
          <a:xfrm>
            <a:off x="698626" y="3858626"/>
            <a:ext cx="9808676" cy="2862322"/>
          </a:xfrm>
          <a:prstGeom prst="rect">
            <a:avLst/>
          </a:prstGeom>
          <a:noFill/>
        </p:spPr>
        <p:txBody>
          <a:bodyPr wrap="square">
            <a:spAutoFit/>
          </a:bodyPr>
          <a:lstStyle/>
          <a:p>
            <a:r>
              <a:rPr lang="en-US" b="1" dirty="0"/>
              <a:t>                                                     </a:t>
            </a:r>
            <a:r>
              <a:rPr lang="en-US" sz="3600" b="1" dirty="0" err="1"/>
              <a:t>Ijtimoiy</a:t>
            </a:r>
            <a:r>
              <a:rPr lang="en-US" sz="3600" b="1" dirty="0"/>
              <a:t> </a:t>
            </a:r>
            <a:r>
              <a:rPr lang="en-US" sz="3600" b="1" dirty="0" err="1"/>
              <a:t>ta'sir</a:t>
            </a:r>
            <a:r>
              <a:rPr lang="en-US" sz="3600" b="1" dirty="0"/>
              <a:t>:</a:t>
            </a:r>
            <a:br>
              <a:rPr lang="en-US" dirty="0"/>
            </a:br>
            <a:r>
              <a:rPr lang="en-US" sz="2400" dirty="0" err="1"/>
              <a:t>Ijtimoiy</a:t>
            </a:r>
            <a:r>
              <a:rPr lang="en-US" sz="2400" dirty="0"/>
              <a:t> </a:t>
            </a:r>
            <a:r>
              <a:rPr lang="en-US" sz="2400" dirty="0" err="1"/>
              <a:t>masofa</a:t>
            </a:r>
            <a:r>
              <a:rPr lang="en-US" sz="2400" dirty="0"/>
              <a:t> </a:t>
            </a:r>
            <a:r>
              <a:rPr lang="en-US" sz="2400" dirty="0" err="1"/>
              <a:t>saqlash</a:t>
            </a:r>
            <a:r>
              <a:rPr lang="en-US" sz="2400" dirty="0"/>
              <a:t> </a:t>
            </a:r>
            <a:r>
              <a:rPr lang="en-US" sz="2400" dirty="0" err="1"/>
              <a:t>choralari</a:t>
            </a:r>
            <a:r>
              <a:rPr lang="en-US" sz="2400" dirty="0"/>
              <a:t> va </a:t>
            </a:r>
            <a:r>
              <a:rPr lang="en-US" sz="2400" dirty="0" err="1"/>
              <a:t>karantin</a:t>
            </a:r>
            <a:r>
              <a:rPr lang="en-US" sz="2400" dirty="0"/>
              <a:t> </a:t>
            </a:r>
            <a:r>
              <a:rPr lang="en-US" sz="2400" dirty="0" err="1"/>
              <a:t>odatiy</a:t>
            </a:r>
            <a:r>
              <a:rPr lang="en-US" sz="2400" dirty="0"/>
              <a:t> </a:t>
            </a:r>
            <a:r>
              <a:rPr lang="en-US" sz="2400" dirty="0" err="1"/>
              <a:t>ijtimoiy</a:t>
            </a:r>
            <a:r>
              <a:rPr lang="en-US" sz="2400" dirty="0"/>
              <a:t> </a:t>
            </a:r>
            <a:r>
              <a:rPr lang="en-US" sz="2400" dirty="0" err="1"/>
              <a:t>aloqalarni</a:t>
            </a:r>
            <a:r>
              <a:rPr lang="en-US" sz="2400" dirty="0"/>
              <a:t> </a:t>
            </a:r>
            <a:r>
              <a:rPr lang="en-US" sz="2400" dirty="0" err="1"/>
              <a:t>buzdi</a:t>
            </a:r>
            <a:r>
              <a:rPr lang="en-US" sz="2400" dirty="0"/>
              <a:t>. </a:t>
            </a:r>
            <a:r>
              <a:rPr lang="en-US" sz="2400" dirty="0" err="1"/>
              <a:t>Odamlar</a:t>
            </a:r>
            <a:r>
              <a:rPr lang="en-US" sz="2400" dirty="0"/>
              <a:t> </a:t>
            </a:r>
            <a:r>
              <a:rPr lang="en-US" sz="2400" dirty="0" err="1"/>
              <a:t>uyda</a:t>
            </a:r>
            <a:r>
              <a:rPr lang="en-US" sz="2400" dirty="0"/>
              <a:t> </a:t>
            </a:r>
            <a:r>
              <a:rPr lang="en-US" sz="2400" dirty="0" err="1"/>
              <a:t>qolishga</a:t>
            </a:r>
            <a:r>
              <a:rPr lang="en-US" sz="2400" dirty="0"/>
              <a:t> </a:t>
            </a:r>
            <a:r>
              <a:rPr lang="en-US" sz="2400" dirty="0" err="1"/>
              <a:t>majbur</a:t>
            </a:r>
            <a:r>
              <a:rPr lang="en-US" sz="2400" dirty="0"/>
              <a:t> </a:t>
            </a:r>
            <a:r>
              <a:rPr lang="en-US" sz="2400" dirty="0" err="1"/>
              <a:t>bo'lishdi</a:t>
            </a:r>
            <a:r>
              <a:rPr lang="en-US" sz="2400" dirty="0"/>
              <a:t>, </a:t>
            </a:r>
            <a:r>
              <a:rPr lang="en-US" sz="2400" dirty="0" err="1"/>
              <a:t>bu</a:t>
            </a:r>
            <a:r>
              <a:rPr lang="en-US" sz="2400" dirty="0"/>
              <a:t> </a:t>
            </a:r>
            <a:r>
              <a:rPr lang="en-US" sz="2400" dirty="0" err="1"/>
              <a:t>esa</a:t>
            </a:r>
            <a:r>
              <a:rPr lang="en-US" sz="2400" dirty="0"/>
              <a:t> </a:t>
            </a:r>
            <a:r>
              <a:rPr lang="en-US" sz="2400" dirty="0" err="1"/>
              <a:t>ko'plab</a:t>
            </a:r>
            <a:r>
              <a:rPr lang="en-US" sz="2400" dirty="0"/>
              <a:t> </a:t>
            </a:r>
            <a:r>
              <a:rPr lang="en-US" sz="2400" dirty="0" err="1"/>
              <a:t>insonlar</a:t>
            </a:r>
            <a:r>
              <a:rPr lang="en-US" sz="2400" dirty="0"/>
              <a:t> uchun </a:t>
            </a:r>
            <a:r>
              <a:rPr lang="en-US" sz="2400" dirty="0" err="1"/>
              <a:t>yolg'izlik</a:t>
            </a:r>
            <a:r>
              <a:rPr lang="en-US" sz="2400" dirty="0"/>
              <a:t> va </a:t>
            </a:r>
            <a:r>
              <a:rPr lang="en-US" sz="2400" dirty="0" err="1"/>
              <a:t>izolyatsiyani</a:t>
            </a:r>
            <a:r>
              <a:rPr lang="en-US" sz="2400" dirty="0"/>
              <a:t> </a:t>
            </a:r>
            <a:r>
              <a:rPr lang="en-US" sz="2400" dirty="0" err="1"/>
              <a:t>keltirib</a:t>
            </a:r>
            <a:r>
              <a:rPr lang="en-US" sz="2400" dirty="0"/>
              <a:t> </a:t>
            </a:r>
            <a:r>
              <a:rPr lang="en-US" sz="2400" dirty="0" err="1"/>
              <a:t>chiqardi</a:t>
            </a:r>
            <a:r>
              <a:rPr lang="en-US" sz="2400" dirty="0"/>
              <a:t>. </a:t>
            </a:r>
            <a:r>
              <a:rPr lang="en-US" sz="2400" dirty="0" err="1"/>
              <a:t>Ta'lim</a:t>
            </a:r>
            <a:r>
              <a:rPr lang="en-US" sz="2400" dirty="0"/>
              <a:t> ham </a:t>
            </a:r>
            <a:r>
              <a:rPr lang="en-US" sz="2400" dirty="0" err="1"/>
              <a:t>ta'sirlandi</a:t>
            </a:r>
            <a:r>
              <a:rPr lang="en-US" sz="2400" dirty="0"/>
              <a:t>, </a:t>
            </a:r>
            <a:r>
              <a:rPr lang="en-US" sz="2400" dirty="0" err="1"/>
              <a:t>chunki</a:t>
            </a:r>
            <a:r>
              <a:rPr lang="en-US" sz="2400" dirty="0"/>
              <a:t> </a:t>
            </a:r>
            <a:r>
              <a:rPr lang="en-US" sz="2400" dirty="0" err="1"/>
              <a:t>maktablar</a:t>
            </a:r>
            <a:r>
              <a:rPr lang="en-US" sz="2400" dirty="0"/>
              <a:t> va </a:t>
            </a:r>
            <a:r>
              <a:rPr lang="en-US" sz="2400" dirty="0" err="1"/>
              <a:t>universitetlar</a:t>
            </a:r>
            <a:r>
              <a:rPr lang="en-US" sz="2400" dirty="0"/>
              <a:t> </a:t>
            </a:r>
            <a:r>
              <a:rPr lang="en-US" sz="2400" dirty="0" err="1"/>
              <a:t>onlayn</a:t>
            </a:r>
            <a:r>
              <a:rPr lang="en-US" sz="2400" dirty="0"/>
              <a:t> </a:t>
            </a:r>
            <a:r>
              <a:rPr lang="en-US" sz="2400" dirty="0" err="1"/>
              <a:t>ta'limga</a:t>
            </a:r>
            <a:r>
              <a:rPr lang="en-US" sz="2400" dirty="0"/>
              <a:t> </a:t>
            </a:r>
            <a:r>
              <a:rPr lang="en-US" sz="2400" dirty="0" err="1"/>
              <a:t>o'tdi</a:t>
            </a:r>
            <a:r>
              <a:rPr lang="en-US" sz="2400" dirty="0"/>
              <a:t>. </a:t>
            </a:r>
            <a:r>
              <a:rPr lang="en-US" sz="2400" dirty="0" err="1"/>
              <a:t>Pandemiya</a:t>
            </a:r>
            <a:r>
              <a:rPr lang="en-US" sz="2400" dirty="0"/>
              <a:t>, </a:t>
            </a:r>
            <a:r>
              <a:rPr lang="en-US" sz="2400" dirty="0" err="1"/>
              <a:t>odamlarning</a:t>
            </a:r>
            <a:r>
              <a:rPr lang="en-US" sz="2400" dirty="0"/>
              <a:t> </a:t>
            </a:r>
            <a:r>
              <a:rPr lang="en-US" sz="2400" dirty="0" err="1"/>
              <a:t>xavotir</a:t>
            </a:r>
            <a:r>
              <a:rPr lang="en-US" sz="2400" dirty="0"/>
              <a:t>, </a:t>
            </a:r>
            <a:r>
              <a:rPr lang="en-US" sz="2400" dirty="0" err="1"/>
              <a:t>depressiya</a:t>
            </a:r>
            <a:r>
              <a:rPr lang="en-US" sz="2400" dirty="0"/>
              <a:t> va </a:t>
            </a:r>
            <a:r>
              <a:rPr lang="en-US" sz="2400" dirty="0" err="1"/>
              <a:t>stressni</a:t>
            </a:r>
            <a:r>
              <a:rPr lang="en-US" sz="2400" dirty="0"/>
              <a:t> </a:t>
            </a:r>
            <a:r>
              <a:rPr lang="en-US" sz="2400" dirty="0" err="1"/>
              <a:t>boshdan</a:t>
            </a:r>
            <a:r>
              <a:rPr lang="en-US" sz="2400" dirty="0"/>
              <a:t> </a:t>
            </a:r>
            <a:r>
              <a:rPr lang="en-US" sz="2400" dirty="0" err="1"/>
              <a:t>kechirishlari</a:t>
            </a:r>
            <a:r>
              <a:rPr lang="en-US" sz="2400" dirty="0"/>
              <a:t> </a:t>
            </a:r>
            <a:r>
              <a:rPr lang="en-US" sz="2400" dirty="0" err="1"/>
              <a:t>bilan</a:t>
            </a:r>
            <a:r>
              <a:rPr lang="en-US" sz="2400" dirty="0"/>
              <a:t>, </a:t>
            </a:r>
            <a:r>
              <a:rPr lang="en-US" sz="2400" dirty="0" err="1"/>
              <a:t>ruhiy</a:t>
            </a:r>
            <a:r>
              <a:rPr lang="en-US" sz="2400" dirty="0"/>
              <a:t> </a:t>
            </a:r>
            <a:r>
              <a:rPr lang="en-US" sz="2400" dirty="0" err="1"/>
              <a:t>salomatlikning</a:t>
            </a:r>
            <a:r>
              <a:rPr lang="en-US" sz="2400" dirty="0"/>
              <a:t> </a:t>
            </a:r>
            <a:r>
              <a:rPr lang="en-US" sz="2400" dirty="0" err="1"/>
              <a:t>ahamiyatini</a:t>
            </a:r>
            <a:r>
              <a:rPr lang="en-US" sz="2400" dirty="0"/>
              <a:t> </a:t>
            </a:r>
            <a:r>
              <a:rPr lang="en-US" sz="2400" dirty="0" err="1"/>
              <a:t>ko'rsatdi</a:t>
            </a:r>
            <a:r>
              <a:rPr lang="en-US" sz="2400" dirty="0"/>
              <a:t>.</a:t>
            </a:r>
            <a:endParaRPr lang="ru-RU" sz="2400" dirty="0"/>
          </a:p>
        </p:txBody>
      </p:sp>
    </p:spTree>
    <p:extLst>
      <p:ext uri="{BB962C8B-B14F-4D97-AF65-F5344CB8AC3E}">
        <p14:creationId xmlns:p14="http://schemas.microsoft.com/office/powerpoint/2010/main" val="3626461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A0FBF4-B0E2-575F-59BD-874FE430B571}"/>
              </a:ext>
            </a:extLst>
          </p:cNvPr>
          <p:cNvSpPr>
            <a:spLocks noGrp="1"/>
          </p:cNvSpPr>
          <p:nvPr>
            <p:ph type="title"/>
          </p:nvPr>
        </p:nvSpPr>
        <p:spPr>
          <a:xfrm>
            <a:off x="3476530" y="365125"/>
            <a:ext cx="7877269" cy="1325563"/>
          </a:xfrm>
        </p:spPr>
        <p:txBody>
          <a:bodyPr>
            <a:normAutofit/>
          </a:bodyPr>
          <a:lstStyle/>
          <a:p>
            <a:r>
              <a:rPr lang="en-US" sz="3600" dirty="0"/>
              <a:t>Adaptations:</a:t>
            </a:r>
            <a:endParaRPr lang="ru-RU" sz="3600" dirty="0"/>
          </a:p>
        </p:txBody>
      </p:sp>
      <p:sp>
        <p:nvSpPr>
          <p:cNvPr id="3" name="Объект 2">
            <a:extLst>
              <a:ext uri="{FF2B5EF4-FFF2-40B4-BE49-F238E27FC236}">
                <a16:creationId xmlns:a16="http://schemas.microsoft.com/office/drawing/2014/main" id="{E7DEDD5F-0D03-6B4A-3D49-F7B16A472C41}"/>
              </a:ext>
            </a:extLst>
          </p:cNvPr>
          <p:cNvSpPr>
            <a:spLocks noGrp="1"/>
          </p:cNvSpPr>
          <p:nvPr>
            <p:ph idx="1"/>
          </p:nvPr>
        </p:nvSpPr>
        <p:spPr>
          <a:xfrm>
            <a:off x="639024" y="1258432"/>
            <a:ext cx="10515600" cy="1874067"/>
          </a:xfrm>
        </p:spPr>
        <p:txBody>
          <a:bodyPr>
            <a:normAutofit lnSpcReduction="10000"/>
          </a:bodyPr>
          <a:lstStyle/>
          <a:p>
            <a:r>
              <a:rPr lang="en-US" dirty="0"/>
              <a:t>As the world adapted to the new reality, technology played a crucial role in maintaining connections. Online meetings, virtual events, and remote work became the norm for many. People found new ways to work, learn, and socialize, relying on digital tools more than ever before.</a:t>
            </a:r>
            <a:endParaRPr lang="ru-RU" dirty="0"/>
          </a:p>
        </p:txBody>
      </p:sp>
      <p:sp>
        <p:nvSpPr>
          <p:cNvPr id="5" name="TextBox 4">
            <a:extLst>
              <a:ext uri="{FF2B5EF4-FFF2-40B4-BE49-F238E27FC236}">
                <a16:creationId xmlns:a16="http://schemas.microsoft.com/office/drawing/2014/main" id="{8B4617A4-DF41-F642-9BBF-0CC7B8A4CDBB}"/>
              </a:ext>
            </a:extLst>
          </p:cNvPr>
          <p:cNvSpPr txBox="1"/>
          <p:nvPr/>
        </p:nvSpPr>
        <p:spPr>
          <a:xfrm>
            <a:off x="860079" y="3125337"/>
            <a:ext cx="9419754" cy="2123658"/>
          </a:xfrm>
          <a:prstGeom prst="rect">
            <a:avLst/>
          </a:prstGeom>
          <a:noFill/>
        </p:spPr>
        <p:txBody>
          <a:bodyPr wrap="square">
            <a:spAutoFit/>
          </a:bodyPr>
          <a:lstStyle/>
          <a:p>
            <a:r>
              <a:rPr lang="en-US" b="1" dirty="0"/>
              <a:t>                                                 </a:t>
            </a:r>
            <a:r>
              <a:rPr lang="en-US" sz="3600" b="1" dirty="0" err="1"/>
              <a:t>Moslashishlar</a:t>
            </a:r>
            <a:r>
              <a:rPr lang="en-US" sz="3600" b="1" dirty="0"/>
              <a:t>:</a:t>
            </a:r>
            <a:br>
              <a:rPr lang="en-US" dirty="0"/>
            </a:br>
            <a:r>
              <a:rPr lang="en-US" sz="2400" dirty="0" err="1"/>
              <a:t>Dunyo</a:t>
            </a:r>
            <a:r>
              <a:rPr lang="en-US" sz="2400" dirty="0"/>
              <a:t> </a:t>
            </a:r>
            <a:r>
              <a:rPr lang="en-US" sz="2400" dirty="0" err="1"/>
              <a:t>yangi</a:t>
            </a:r>
            <a:r>
              <a:rPr lang="en-US" sz="2400" dirty="0"/>
              <a:t> </a:t>
            </a:r>
            <a:r>
              <a:rPr lang="en-US" sz="2400" dirty="0" err="1"/>
              <a:t>realga</a:t>
            </a:r>
            <a:r>
              <a:rPr lang="en-US" sz="2400" dirty="0"/>
              <a:t> </a:t>
            </a:r>
            <a:r>
              <a:rPr lang="en-US" sz="2400" dirty="0" err="1"/>
              <a:t>moslashganida</a:t>
            </a:r>
            <a:r>
              <a:rPr lang="en-US" sz="2400" dirty="0"/>
              <a:t>, </a:t>
            </a:r>
            <a:r>
              <a:rPr lang="en-US" sz="2400" dirty="0" err="1"/>
              <a:t>texnologiya</a:t>
            </a:r>
            <a:r>
              <a:rPr lang="en-US" sz="2400" dirty="0"/>
              <a:t> </a:t>
            </a:r>
            <a:r>
              <a:rPr lang="en-US" sz="2400" dirty="0" err="1"/>
              <a:t>aloqalarni</a:t>
            </a:r>
            <a:r>
              <a:rPr lang="en-US" sz="2400" dirty="0"/>
              <a:t> </a:t>
            </a:r>
            <a:r>
              <a:rPr lang="en-US" sz="2400" dirty="0" err="1"/>
              <a:t>saqlashda</a:t>
            </a:r>
            <a:r>
              <a:rPr lang="en-US" sz="2400" dirty="0"/>
              <a:t> </a:t>
            </a:r>
            <a:r>
              <a:rPr lang="en-US" sz="2400" dirty="0" err="1"/>
              <a:t>muhim</a:t>
            </a:r>
            <a:r>
              <a:rPr lang="en-US" sz="2400" dirty="0"/>
              <a:t> </a:t>
            </a:r>
            <a:r>
              <a:rPr lang="en-US" sz="2400" dirty="0" err="1"/>
              <a:t>rol</a:t>
            </a:r>
            <a:r>
              <a:rPr lang="en-US" sz="2400" dirty="0"/>
              <a:t> </a:t>
            </a:r>
            <a:r>
              <a:rPr lang="en-US" sz="2400" dirty="0" err="1"/>
              <a:t>o'ynadi</a:t>
            </a:r>
            <a:r>
              <a:rPr lang="en-US" sz="2400" dirty="0"/>
              <a:t>. </a:t>
            </a:r>
            <a:r>
              <a:rPr lang="en-US" sz="2400" dirty="0" err="1"/>
              <a:t>Onlayn</a:t>
            </a:r>
            <a:r>
              <a:rPr lang="en-US" sz="2400" dirty="0"/>
              <a:t> </a:t>
            </a:r>
            <a:r>
              <a:rPr lang="en-US" sz="2400" dirty="0" err="1"/>
              <a:t>uchrashuvlar</a:t>
            </a:r>
            <a:r>
              <a:rPr lang="en-US" sz="2400" dirty="0"/>
              <a:t>, virtual </a:t>
            </a:r>
            <a:r>
              <a:rPr lang="en-US" sz="2400" dirty="0" err="1"/>
              <a:t>tadbirlar</a:t>
            </a:r>
            <a:r>
              <a:rPr lang="en-US" sz="2400" dirty="0"/>
              <a:t> va </a:t>
            </a:r>
            <a:r>
              <a:rPr lang="en-US" sz="2400" dirty="0" err="1"/>
              <a:t>masofaviy</a:t>
            </a:r>
            <a:r>
              <a:rPr lang="en-US" sz="2400" dirty="0"/>
              <a:t> </a:t>
            </a:r>
            <a:r>
              <a:rPr lang="en-US" sz="2400" dirty="0" err="1"/>
              <a:t>ish</a:t>
            </a:r>
            <a:r>
              <a:rPr lang="en-US" sz="2400" dirty="0"/>
              <a:t> </a:t>
            </a:r>
            <a:r>
              <a:rPr lang="en-US" sz="2400" dirty="0" err="1"/>
              <a:t>ko'pchilik</a:t>
            </a:r>
            <a:r>
              <a:rPr lang="en-US" sz="2400" dirty="0"/>
              <a:t> uchun </a:t>
            </a:r>
            <a:r>
              <a:rPr lang="en-US" sz="2400" dirty="0" err="1"/>
              <a:t>odatga</a:t>
            </a:r>
            <a:r>
              <a:rPr lang="en-US" sz="2400" dirty="0"/>
              <a:t> </a:t>
            </a:r>
            <a:r>
              <a:rPr lang="en-US" sz="2400" dirty="0" err="1"/>
              <a:t>aylandi</a:t>
            </a:r>
            <a:r>
              <a:rPr lang="en-US" sz="2400" dirty="0"/>
              <a:t>. </a:t>
            </a:r>
            <a:r>
              <a:rPr lang="en-US" sz="2400" dirty="0" err="1"/>
              <a:t>Odamlar</a:t>
            </a:r>
            <a:r>
              <a:rPr lang="en-US" sz="2400" dirty="0"/>
              <a:t> </a:t>
            </a:r>
            <a:r>
              <a:rPr lang="en-US" sz="2400" dirty="0" err="1"/>
              <a:t>ish</a:t>
            </a:r>
            <a:r>
              <a:rPr lang="en-US" sz="2400" dirty="0"/>
              <a:t>, </a:t>
            </a:r>
            <a:r>
              <a:rPr lang="en-US" sz="2400" dirty="0" err="1"/>
              <a:t>o'qish</a:t>
            </a:r>
            <a:r>
              <a:rPr lang="en-US" sz="2400" dirty="0"/>
              <a:t> va </a:t>
            </a:r>
            <a:r>
              <a:rPr lang="en-US" sz="2400" dirty="0" err="1"/>
              <a:t>ijtimoiylashishning</a:t>
            </a:r>
            <a:r>
              <a:rPr lang="en-US" sz="2400" dirty="0"/>
              <a:t> </a:t>
            </a:r>
            <a:r>
              <a:rPr lang="en-US" sz="2400" dirty="0" err="1"/>
              <a:t>yangi</a:t>
            </a:r>
            <a:r>
              <a:rPr lang="en-US" sz="2400" dirty="0"/>
              <a:t> </a:t>
            </a:r>
            <a:r>
              <a:rPr lang="en-US" sz="2400" dirty="0" err="1"/>
              <a:t>usullarini</a:t>
            </a:r>
            <a:r>
              <a:rPr lang="en-US" sz="2400" dirty="0"/>
              <a:t> </a:t>
            </a:r>
            <a:r>
              <a:rPr lang="en-US" sz="2400" dirty="0" err="1"/>
              <a:t>topdilar</a:t>
            </a:r>
            <a:r>
              <a:rPr lang="en-US" sz="2400" dirty="0"/>
              <a:t>, </a:t>
            </a:r>
            <a:r>
              <a:rPr lang="en-US" sz="2400" dirty="0" err="1"/>
              <a:t>raqamli</a:t>
            </a:r>
            <a:r>
              <a:rPr lang="en-US" sz="2400" dirty="0"/>
              <a:t> </a:t>
            </a:r>
            <a:r>
              <a:rPr lang="en-US" sz="2400" dirty="0" err="1"/>
              <a:t>vositalarga</a:t>
            </a:r>
            <a:r>
              <a:rPr lang="en-US" sz="2400" dirty="0"/>
              <a:t> </a:t>
            </a:r>
            <a:r>
              <a:rPr lang="en-US" sz="2400" dirty="0" err="1"/>
              <a:t>yanada</a:t>
            </a:r>
            <a:r>
              <a:rPr lang="en-US" sz="2400" dirty="0"/>
              <a:t> </a:t>
            </a:r>
            <a:r>
              <a:rPr lang="en-US" sz="2400" dirty="0" err="1"/>
              <a:t>ko'proq</a:t>
            </a:r>
            <a:r>
              <a:rPr lang="en-US" sz="2400" dirty="0"/>
              <a:t> </a:t>
            </a:r>
            <a:r>
              <a:rPr lang="en-US" sz="2400" dirty="0" err="1"/>
              <a:t>tayanib</a:t>
            </a:r>
            <a:r>
              <a:rPr lang="en-US" sz="2400" dirty="0"/>
              <a:t>.</a:t>
            </a:r>
            <a:endParaRPr lang="ru-RU" sz="2400" dirty="0"/>
          </a:p>
        </p:txBody>
      </p:sp>
    </p:spTree>
    <p:extLst>
      <p:ext uri="{BB962C8B-B14F-4D97-AF65-F5344CB8AC3E}">
        <p14:creationId xmlns:p14="http://schemas.microsoft.com/office/powerpoint/2010/main" val="3543506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F89D89-CEF4-147A-68EA-3B8D2BF4DD7E}"/>
              </a:ext>
            </a:extLst>
          </p:cNvPr>
          <p:cNvSpPr>
            <a:spLocks noGrp="1"/>
          </p:cNvSpPr>
          <p:nvPr>
            <p:ph type="title"/>
          </p:nvPr>
        </p:nvSpPr>
        <p:spPr>
          <a:xfrm>
            <a:off x="3259248" y="365125"/>
            <a:ext cx="8094551" cy="1325563"/>
          </a:xfrm>
        </p:spPr>
        <p:txBody>
          <a:bodyPr>
            <a:normAutofit/>
          </a:bodyPr>
          <a:lstStyle/>
          <a:p>
            <a:r>
              <a:rPr lang="en-US" sz="3600" dirty="0"/>
              <a:t>Vaccination Efforts:</a:t>
            </a:r>
            <a:endParaRPr lang="ru-RU" sz="3600" dirty="0"/>
          </a:p>
        </p:txBody>
      </p:sp>
      <p:sp>
        <p:nvSpPr>
          <p:cNvPr id="3" name="Объект 2">
            <a:extLst>
              <a:ext uri="{FF2B5EF4-FFF2-40B4-BE49-F238E27FC236}">
                <a16:creationId xmlns:a16="http://schemas.microsoft.com/office/drawing/2014/main" id="{160504B7-3760-5C6A-46A3-8876343EF1E8}"/>
              </a:ext>
            </a:extLst>
          </p:cNvPr>
          <p:cNvSpPr>
            <a:spLocks noGrp="1"/>
          </p:cNvSpPr>
          <p:nvPr>
            <p:ph idx="1"/>
          </p:nvPr>
        </p:nvSpPr>
        <p:spPr>
          <a:xfrm>
            <a:off x="838200" y="1321807"/>
            <a:ext cx="10515600" cy="2498756"/>
          </a:xfrm>
        </p:spPr>
        <p:txBody>
          <a:bodyPr>
            <a:normAutofit/>
          </a:bodyPr>
          <a:lstStyle/>
          <a:p>
            <a:r>
              <a:rPr lang="en-US" dirty="0"/>
              <a:t>In response to the pandemic, scientists developed vaccines at an unprecedented speed. Vaccination campaigns began in 2020 and have been instrumental in reducing the spread of the virus and preventing severe illness. However, vaccine distribution and hesitancy remain challenges in many parts of the world.</a:t>
            </a:r>
          </a:p>
          <a:p>
            <a:endParaRPr lang="ru-RU" dirty="0"/>
          </a:p>
        </p:txBody>
      </p:sp>
      <p:sp>
        <p:nvSpPr>
          <p:cNvPr id="5" name="TextBox 4">
            <a:extLst>
              <a:ext uri="{FF2B5EF4-FFF2-40B4-BE49-F238E27FC236}">
                <a16:creationId xmlns:a16="http://schemas.microsoft.com/office/drawing/2014/main" id="{3E20D14A-5E6C-E138-3330-BCD6DFA15218}"/>
              </a:ext>
            </a:extLst>
          </p:cNvPr>
          <p:cNvSpPr txBox="1"/>
          <p:nvPr/>
        </p:nvSpPr>
        <p:spPr>
          <a:xfrm>
            <a:off x="993618" y="3820563"/>
            <a:ext cx="10515599" cy="2492990"/>
          </a:xfrm>
          <a:prstGeom prst="rect">
            <a:avLst/>
          </a:prstGeom>
          <a:noFill/>
        </p:spPr>
        <p:txBody>
          <a:bodyPr wrap="square">
            <a:spAutoFit/>
          </a:bodyPr>
          <a:lstStyle/>
          <a:p>
            <a:r>
              <a:rPr lang="en-US" b="1" dirty="0"/>
              <a:t>                                                </a:t>
            </a:r>
            <a:r>
              <a:rPr lang="en-US" sz="3600" b="1" dirty="0" err="1"/>
              <a:t>Vaksinatsiya</a:t>
            </a:r>
            <a:r>
              <a:rPr lang="en-US" sz="3600" b="1" dirty="0"/>
              <a:t> </a:t>
            </a:r>
            <a:r>
              <a:rPr lang="en-US" sz="3600" b="1" dirty="0" err="1"/>
              <a:t>sa'y-harakatlari</a:t>
            </a:r>
            <a:r>
              <a:rPr lang="en-US" sz="3600" b="1" dirty="0"/>
              <a:t>:</a:t>
            </a:r>
            <a:br>
              <a:rPr lang="en-US" dirty="0"/>
            </a:br>
            <a:r>
              <a:rPr lang="en-US" sz="2400" dirty="0" err="1"/>
              <a:t>Pandemiyaga</a:t>
            </a:r>
            <a:r>
              <a:rPr lang="en-US" sz="2400" dirty="0"/>
              <a:t> </a:t>
            </a:r>
            <a:r>
              <a:rPr lang="en-US" sz="2400" dirty="0" err="1"/>
              <a:t>javoban</a:t>
            </a:r>
            <a:r>
              <a:rPr lang="en-US" sz="2400" dirty="0"/>
              <a:t>, </a:t>
            </a:r>
            <a:r>
              <a:rPr lang="en-US" sz="2400" dirty="0" err="1"/>
              <a:t>olimlar</a:t>
            </a:r>
            <a:r>
              <a:rPr lang="en-US" sz="2400" dirty="0"/>
              <a:t> </a:t>
            </a:r>
            <a:r>
              <a:rPr lang="en-US" sz="2400" dirty="0" err="1"/>
              <a:t>vaksinalarni</a:t>
            </a:r>
            <a:r>
              <a:rPr lang="en-US" sz="2400" dirty="0"/>
              <a:t> </a:t>
            </a:r>
            <a:r>
              <a:rPr lang="en-US" sz="2400" dirty="0" err="1"/>
              <a:t>avvalgi</a:t>
            </a:r>
            <a:r>
              <a:rPr lang="en-US" sz="2400" dirty="0"/>
              <a:t> </a:t>
            </a:r>
            <a:r>
              <a:rPr lang="en-US" sz="2400" dirty="0" err="1"/>
              <a:t>tezlikda</a:t>
            </a:r>
            <a:r>
              <a:rPr lang="en-US" sz="2400" dirty="0"/>
              <a:t> ishlab </a:t>
            </a:r>
            <a:r>
              <a:rPr lang="en-US" sz="2400" dirty="0" err="1"/>
              <a:t>chiqishdi</a:t>
            </a:r>
            <a:r>
              <a:rPr lang="en-US" sz="2400" dirty="0"/>
              <a:t>. </a:t>
            </a:r>
            <a:r>
              <a:rPr lang="en-US" sz="2400" dirty="0" err="1"/>
              <a:t>Vaksinatsiya</a:t>
            </a:r>
            <a:r>
              <a:rPr lang="en-US" sz="2400" dirty="0"/>
              <a:t> </a:t>
            </a:r>
            <a:r>
              <a:rPr lang="en-US" sz="2400" dirty="0" err="1"/>
              <a:t>kampaniyalari</a:t>
            </a:r>
            <a:r>
              <a:rPr lang="en-US" sz="2400" dirty="0"/>
              <a:t> 2020 </a:t>
            </a:r>
            <a:r>
              <a:rPr lang="en-US" sz="2400" dirty="0" err="1"/>
              <a:t>yilda</a:t>
            </a:r>
            <a:r>
              <a:rPr lang="en-US" sz="2400" dirty="0"/>
              <a:t> boshlandi va </a:t>
            </a:r>
            <a:r>
              <a:rPr lang="en-US" sz="2400" dirty="0" err="1"/>
              <a:t>ular</a:t>
            </a:r>
            <a:r>
              <a:rPr lang="en-US" sz="2400" dirty="0"/>
              <a:t> </a:t>
            </a:r>
            <a:r>
              <a:rPr lang="en-US" sz="2400" dirty="0" err="1"/>
              <a:t>virusning</a:t>
            </a:r>
            <a:r>
              <a:rPr lang="en-US" sz="2400" dirty="0"/>
              <a:t> </a:t>
            </a:r>
            <a:r>
              <a:rPr lang="en-US" sz="2400" dirty="0" err="1"/>
              <a:t>tarqalishini</a:t>
            </a:r>
            <a:r>
              <a:rPr lang="en-US" sz="2400" dirty="0"/>
              <a:t> </a:t>
            </a:r>
            <a:r>
              <a:rPr lang="en-US" sz="2400" dirty="0" err="1"/>
              <a:t>kamaytirish</a:t>
            </a:r>
            <a:r>
              <a:rPr lang="en-US" sz="2400" dirty="0"/>
              <a:t> va </a:t>
            </a:r>
            <a:r>
              <a:rPr lang="en-US" sz="2400" dirty="0" err="1"/>
              <a:t>og'ir</a:t>
            </a:r>
            <a:r>
              <a:rPr lang="en-US" sz="2400" dirty="0"/>
              <a:t> </a:t>
            </a:r>
            <a:r>
              <a:rPr lang="en-US" sz="2400" dirty="0" err="1"/>
              <a:t>kasalliklarni</a:t>
            </a:r>
            <a:r>
              <a:rPr lang="en-US" sz="2400" dirty="0"/>
              <a:t> </a:t>
            </a:r>
            <a:r>
              <a:rPr lang="en-US" sz="2400" dirty="0" err="1"/>
              <a:t>oldini</a:t>
            </a:r>
            <a:r>
              <a:rPr lang="en-US" sz="2400" dirty="0"/>
              <a:t> </a:t>
            </a:r>
            <a:r>
              <a:rPr lang="en-US" sz="2400" dirty="0" err="1"/>
              <a:t>olishda</a:t>
            </a:r>
            <a:r>
              <a:rPr lang="en-US" sz="2400" dirty="0"/>
              <a:t> </a:t>
            </a:r>
            <a:r>
              <a:rPr lang="en-US" sz="2400" dirty="0" err="1"/>
              <a:t>muhim</a:t>
            </a:r>
            <a:r>
              <a:rPr lang="en-US" sz="2400" dirty="0"/>
              <a:t> </a:t>
            </a:r>
            <a:r>
              <a:rPr lang="en-US" sz="2400" dirty="0" err="1"/>
              <a:t>rol</a:t>
            </a:r>
            <a:r>
              <a:rPr lang="en-US" sz="2400" dirty="0"/>
              <a:t> </a:t>
            </a:r>
            <a:r>
              <a:rPr lang="en-US" sz="2400" dirty="0" err="1"/>
              <a:t>o'ynadi</a:t>
            </a:r>
            <a:r>
              <a:rPr lang="en-US" sz="2400" dirty="0"/>
              <a:t>. </a:t>
            </a:r>
            <a:r>
              <a:rPr lang="en-US" sz="2400" dirty="0" err="1"/>
              <a:t>Biroq</a:t>
            </a:r>
            <a:r>
              <a:rPr lang="en-US" sz="2400" dirty="0"/>
              <a:t>, </a:t>
            </a:r>
            <a:r>
              <a:rPr lang="en-US" sz="2400" dirty="0" err="1"/>
              <a:t>vaksinalarni</a:t>
            </a:r>
            <a:r>
              <a:rPr lang="en-US" sz="2400" dirty="0"/>
              <a:t> </a:t>
            </a:r>
            <a:r>
              <a:rPr lang="en-US" sz="2400" dirty="0" err="1"/>
              <a:t>tarqatish</a:t>
            </a:r>
            <a:r>
              <a:rPr lang="en-US" sz="2400" dirty="0"/>
              <a:t> va </a:t>
            </a:r>
            <a:r>
              <a:rPr lang="en-US" sz="2400" dirty="0" err="1"/>
              <a:t>ularga</a:t>
            </a:r>
            <a:r>
              <a:rPr lang="en-US" sz="2400" dirty="0"/>
              <a:t> </a:t>
            </a:r>
            <a:r>
              <a:rPr lang="en-US" sz="2400" dirty="0" err="1"/>
              <a:t>qarshi</a:t>
            </a:r>
            <a:r>
              <a:rPr lang="en-US" sz="2400" dirty="0"/>
              <a:t> </a:t>
            </a:r>
            <a:r>
              <a:rPr lang="en-US" sz="2400" dirty="0" err="1"/>
              <a:t>turganlik</a:t>
            </a:r>
            <a:r>
              <a:rPr lang="en-US" sz="2400" dirty="0"/>
              <a:t> </a:t>
            </a:r>
            <a:r>
              <a:rPr lang="en-US" sz="2400" dirty="0" err="1"/>
              <a:t>ko'plab</a:t>
            </a:r>
            <a:r>
              <a:rPr lang="en-US" sz="2400" dirty="0"/>
              <a:t> </a:t>
            </a:r>
            <a:r>
              <a:rPr lang="en-US" sz="2400" dirty="0" err="1"/>
              <a:t>joylarda</a:t>
            </a:r>
            <a:r>
              <a:rPr lang="en-US" sz="2400" dirty="0"/>
              <a:t> </a:t>
            </a:r>
            <a:r>
              <a:rPr lang="en-US" sz="2400" dirty="0" err="1"/>
              <a:t>muammo</a:t>
            </a:r>
            <a:r>
              <a:rPr lang="en-US" sz="2400" dirty="0"/>
              <a:t> </a:t>
            </a:r>
            <a:r>
              <a:rPr lang="en-US" sz="2400" dirty="0" err="1"/>
              <a:t>bo'lib</a:t>
            </a:r>
            <a:r>
              <a:rPr lang="en-US" sz="2400" dirty="0"/>
              <a:t> </a:t>
            </a:r>
            <a:r>
              <a:rPr lang="en-US" sz="2400" dirty="0" err="1"/>
              <a:t>qolmoqda</a:t>
            </a:r>
            <a:r>
              <a:rPr lang="en-US" sz="2400" dirty="0"/>
              <a:t>.</a:t>
            </a:r>
          </a:p>
        </p:txBody>
      </p:sp>
    </p:spTree>
    <p:extLst>
      <p:ext uri="{BB962C8B-B14F-4D97-AF65-F5344CB8AC3E}">
        <p14:creationId xmlns:p14="http://schemas.microsoft.com/office/powerpoint/2010/main" val="124453959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597</Words>
  <Application>Microsoft Office PowerPoint</Application>
  <PresentationFormat>Широкоэкранный</PresentationFormat>
  <Paragraphs>15</Paragraphs>
  <Slides>5</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5</vt:i4>
      </vt:variant>
    </vt:vector>
  </HeadingPairs>
  <TitlesOfParts>
    <vt:vector size="9" baseType="lpstr">
      <vt:lpstr>Arial</vt:lpstr>
      <vt:lpstr>Calibri</vt:lpstr>
      <vt:lpstr>Calibri Light</vt:lpstr>
      <vt:lpstr>Тема Office</vt:lpstr>
      <vt:lpstr>Health Impact:</vt:lpstr>
      <vt:lpstr>Economic Impact:</vt:lpstr>
      <vt:lpstr>Social Impact:</vt:lpstr>
      <vt:lpstr>Adaptations:</vt:lpstr>
      <vt:lpstr>Vaccination Efforts: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Пользователь</dc:creator>
  <cp:lastModifiedBy>Пользователь</cp:lastModifiedBy>
  <cp:revision>2</cp:revision>
  <dcterms:created xsi:type="dcterms:W3CDTF">2025-03-04T04:55:21Z</dcterms:created>
  <dcterms:modified xsi:type="dcterms:W3CDTF">2025-03-04T05:13:12Z</dcterms:modified>
</cp:coreProperties>
</file>