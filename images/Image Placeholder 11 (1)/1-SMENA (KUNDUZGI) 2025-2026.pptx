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0693400" cy="7562850"/>
  <p:notesSz cx="10693400" cy="75628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00" d="100"/>
          <a:sy n="400" d="100"/>
        </p:scale>
        <p:origin x="-11394" y="-133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  <a:tabLst>
                <a:tab pos="816610" algn="l"/>
              </a:tabLst>
            </a:pPr>
            <a:r>
              <a:rPr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pc="-10" dirty="0"/>
              <a:t>B.S.Kurbanov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</a:pPr>
            <a:r>
              <a:rPr spc="-10" dirty="0"/>
              <a:t>Fakultet</a:t>
            </a:r>
            <a:r>
              <a:rPr spc="-35" dirty="0"/>
              <a:t> </a:t>
            </a:r>
            <a:r>
              <a:rPr spc="-10" dirty="0"/>
              <a:t>dekani: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  <a:tabLst>
                <a:tab pos="816610" algn="l"/>
              </a:tabLst>
            </a:pPr>
            <a:r>
              <a:rPr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pc="-10" dirty="0"/>
              <a:t>B.S.Kurbanov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</a:pPr>
            <a:r>
              <a:rPr spc="-10" dirty="0"/>
              <a:t>Fakultet</a:t>
            </a:r>
            <a:r>
              <a:rPr spc="-35" dirty="0"/>
              <a:t> </a:t>
            </a:r>
            <a:r>
              <a:rPr spc="-10" dirty="0"/>
              <a:t>dekani: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  <a:tabLst>
                <a:tab pos="816610" algn="l"/>
              </a:tabLst>
            </a:pPr>
            <a:r>
              <a:rPr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pc="-10" dirty="0"/>
              <a:t>B.S.Kurbanov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</a:pPr>
            <a:r>
              <a:rPr spc="-10" dirty="0"/>
              <a:t>Fakultet</a:t>
            </a:r>
            <a:r>
              <a:rPr spc="-35" dirty="0"/>
              <a:t> </a:t>
            </a:r>
            <a:r>
              <a:rPr spc="-10" dirty="0"/>
              <a:t>dekani: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  <a:tabLst>
                <a:tab pos="816610" algn="l"/>
              </a:tabLst>
            </a:pPr>
            <a:r>
              <a:rPr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pc="-10" dirty="0"/>
              <a:t>B.S.Kurbanov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</a:pPr>
            <a:r>
              <a:rPr spc="-10" dirty="0"/>
              <a:t>Fakultet</a:t>
            </a:r>
            <a:r>
              <a:rPr spc="-35" dirty="0"/>
              <a:t> </a:t>
            </a:r>
            <a:r>
              <a:rPr spc="-10" dirty="0"/>
              <a:t>dekani: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  <a:tabLst>
                <a:tab pos="816610" algn="l"/>
              </a:tabLst>
            </a:pPr>
            <a:r>
              <a:rPr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pc="-10" dirty="0"/>
              <a:t>B.S.Kurbanov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</a:pPr>
            <a:r>
              <a:rPr spc="-10" dirty="0"/>
              <a:t>Fakultet</a:t>
            </a:r>
            <a:r>
              <a:rPr spc="-35" dirty="0"/>
              <a:t> </a:t>
            </a:r>
            <a:r>
              <a:rPr spc="-10" dirty="0"/>
              <a:t>dekani: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5572" y="7399125"/>
            <a:ext cx="1645285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  <a:tabLst>
                <a:tab pos="816610" algn="l"/>
              </a:tabLst>
            </a:pPr>
            <a:r>
              <a:rPr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pc="-10" dirty="0"/>
              <a:t>B.S.Kurbanov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976" y="7399125"/>
            <a:ext cx="957580" cy="173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255"/>
              </a:lnSpc>
            </a:pPr>
            <a:r>
              <a:rPr spc="-10" dirty="0"/>
              <a:t>Fakultet</a:t>
            </a:r>
            <a:r>
              <a:rPr spc="-35" dirty="0"/>
              <a:t> </a:t>
            </a:r>
            <a:r>
              <a:rPr spc="-10" dirty="0"/>
              <a:t>dekani: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851F433C-418D-7EAF-E2DF-BE93B043CBAD}"/>
              </a:ext>
            </a:extLst>
          </p:cNvPr>
          <p:cNvSpPr txBox="1"/>
          <p:nvPr/>
        </p:nvSpPr>
        <p:spPr>
          <a:xfrm>
            <a:off x="7616506" y="105091"/>
            <a:ext cx="2937510" cy="106247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1400" spc="-10" dirty="0">
                <a:solidFill>
                  <a:srgbClr val="000080"/>
                </a:solidFill>
                <a:latin typeface="Times New Roman"/>
                <a:cs typeface="Times New Roman"/>
              </a:rPr>
              <a:t>"</a:t>
            </a:r>
            <a:r>
              <a:rPr sz="1400" spc="-10">
                <a:solidFill>
                  <a:srgbClr val="000080"/>
                </a:solidFill>
                <a:latin typeface="Times New Roman"/>
                <a:cs typeface="Times New Roman"/>
              </a:rPr>
              <a:t>TASDIQLAYMAN"</a:t>
            </a:r>
            <a:endParaRPr lang="en-US" sz="1400" spc="-10">
              <a:solidFill>
                <a:srgbClr val="000080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1000">
                <a:solidFill>
                  <a:srgbClr val="000080"/>
                </a:solidFill>
                <a:latin typeface="Times New Roman"/>
                <a:cs typeface="Times New Roman"/>
              </a:rPr>
              <a:t>Buxoro</a:t>
            </a:r>
            <a:r>
              <a:rPr lang="en-US" sz="1000">
                <a:solidFill>
                  <a:srgbClr val="000080"/>
                </a:solidFill>
                <a:latin typeface="Times New Roman"/>
                <a:cs typeface="Times New Roman"/>
              </a:rPr>
              <a:t> xalqaro universiteti</a:t>
            </a:r>
            <a:endParaRPr lang="en-US" sz="1000" spc="-10" dirty="0">
              <a:solidFill>
                <a:srgbClr val="000080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1000">
                <a:solidFill>
                  <a:srgbClr val="000080"/>
                </a:solidFill>
                <a:latin typeface="Times New Roman"/>
                <a:cs typeface="Times New Roman"/>
              </a:rPr>
              <a:t>o'quv</a:t>
            </a:r>
            <a:r>
              <a:rPr sz="1000" spc="-25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1000" dirty="0" err="1">
                <a:solidFill>
                  <a:srgbClr val="000080"/>
                </a:solidFill>
                <a:latin typeface="Times New Roman"/>
                <a:cs typeface="Times New Roman"/>
              </a:rPr>
              <a:t>ishlari</a:t>
            </a:r>
            <a:r>
              <a:rPr sz="1000" spc="-1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1000" dirty="0" err="1">
                <a:solidFill>
                  <a:srgbClr val="000080"/>
                </a:solidFill>
                <a:latin typeface="Times New Roman"/>
                <a:cs typeface="Times New Roman"/>
              </a:rPr>
              <a:t>bo'yicha</a:t>
            </a:r>
            <a:r>
              <a:rPr sz="1000" spc="-1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1000" spc="-10" dirty="0" err="1">
                <a:solidFill>
                  <a:srgbClr val="000080"/>
                </a:solidFill>
                <a:latin typeface="Times New Roman"/>
                <a:cs typeface="Times New Roman"/>
              </a:rPr>
              <a:t>prorektor</a:t>
            </a:r>
            <a:endParaRPr lang="en-US" sz="1000" dirty="0">
              <a:latin typeface="Times New Roman"/>
              <a:cs typeface="Times New Roman"/>
            </a:endParaRPr>
          </a:p>
          <a:p>
            <a:pPr marL="5715" algn="ctr">
              <a:lnSpc>
                <a:spcPct val="100000"/>
              </a:lnSpc>
              <a:spcBef>
                <a:spcPts val="55"/>
              </a:spcBef>
              <a:tabLst>
                <a:tab pos="610235" algn="l"/>
                <a:tab pos="742950" algn="l"/>
              </a:tabLst>
            </a:pPr>
            <a:r>
              <a:rPr lang="en-US" sz="1000" u="sng" dirty="0">
                <a:solidFill>
                  <a:srgbClr val="000080"/>
                </a:solidFill>
                <a:uFill>
                  <a:solidFill>
                    <a:srgbClr val="00007F"/>
                  </a:solidFill>
                </a:uFill>
                <a:latin typeface="Times New Roman"/>
                <a:cs typeface="Times New Roman"/>
              </a:rPr>
              <a:t>	</a:t>
            </a:r>
            <a:r>
              <a:rPr lang="en-US" sz="1000">
                <a:solidFill>
                  <a:srgbClr val="000080"/>
                </a:solidFill>
                <a:latin typeface="Times New Roman"/>
                <a:cs typeface="Times New Roman"/>
              </a:rPr>
              <a:t>	</a:t>
            </a:r>
            <a:r>
              <a:rPr lang="en-US" sz="1000" spc="-10">
                <a:solidFill>
                  <a:srgbClr val="000080"/>
                </a:solidFill>
                <a:latin typeface="Times New Roman"/>
                <a:cs typeface="Times New Roman"/>
              </a:rPr>
              <a:t>E.M.Muxtorov</a:t>
            </a:r>
            <a:endParaRPr lang="en-US" sz="1000" dirty="0">
              <a:latin typeface="Times New Roman"/>
              <a:cs typeface="Times New Roman"/>
            </a:endParaRPr>
          </a:p>
          <a:p>
            <a:pPr marL="17780" algn="ctr">
              <a:lnSpc>
                <a:spcPct val="100000"/>
              </a:lnSpc>
              <a:spcBef>
                <a:spcPts val="180"/>
              </a:spcBef>
            </a:pPr>
            <a:r>
              <a:rPr lang="en-US" sz="1000" spc="-10">
                <a:solidFill>
                  <a:srgbClr val="000080"/>
                </a:solidFill>
                <a:latin typeface="Times New Roman"/>
                <a:cs typeface="Times New Roman"/>
              </a:rPr>
              <a:t>08</a:t>
            </a:r>
            <a:r>
              <a:rPr sz="1000" spc="-10">
                <a:solidFill>
                  <a:srgbClr val="000080"/>
                </a:solidFill>
                <a:latin typeface="Times New Roman"/>
                <a:cs typeface="Times New Roman"/>
              </a:rPr>
              <a:t>.</a:t>
            </a:r>
            <a:r>
              <a:rPr lang="en-US" sz="1000" spc="-10">
                <a:solidFill>
                  <a:srgbClr val="000080"/>
                </a:solidFill>
                <a:latin typeface="Times New Roman"/>
                <a:cs typeface="Times New Roman"/>
              </a:rPr>
              <a:t>09</a:t>
            </a:r>
            <a:r>
              <a:rPr sz="1000" spc="-10">
                <a:solidFill>
                  <a:srgbClr val="000080"/>
                </a:solidFill>
                <a:latin typeface="Times New Roman"/>
                <a:cs typeface="Times New Roman"/>
              </a:rPr>
              <a:t>.202</a:t>
            </a:r>
            <a:r>
              <a:rPr lang="en-US" sz="1000" spc="-10" dirty="0">
                <a:solidFill>
                  <a:srgbClr val="000080"/>
                </a:solidFill>
                <a:latin typeface="Times New Roman"/>
                <a:cs typeface="Times New Roman"/>
              </a:rPr>
              <a:t>5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494F309-DAB3-FA97-FFC5-ABAE150BF8E6}"/>
              </a:ext>
            </a:extLst>
          </p:cNvPr>
          <p:cNvSpPr txBox="1">
            <a:spLocks/>
          </p:cNvSpPr>
          <p:nvPr/>
        </p:nvSpPr>
        <p:spPr>
          <a:xfrm>
            <a:off x="3853496" y="256226"/>
            <a:ext cx="298640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90"/>
              </a:spcBef>
            </a:pPr>
            <a:r>
              <a:rPr lang="en-US" sz="3200" ker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DARS</a:t>
            </a:r>
            <a:r>
              <a:rPr lang="en-US" sz="3200" kern="0" spc="-1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spc="-1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JADVALI</a:t>
            </a:r>
            <a:endParaRPr lang="en-US" sz="3200" kern="0" spc="-1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96868-98A4-76CC-A773-CB1A2F8DCBDF}"/>
              </a:ext>
            </a:extLst>
          </p:cNvPr>
          <p:cNvSpPr txBox="1"/>
          <p:nvPr/>
        </p:nvSpPr>
        <p:spPr>
          <a:xfrm>
            <a:off x="1504400" y="575544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1-kurs (kunduzgi)</a:t>
            </a:r>
            <a:endParaRPr lang="ru-RU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BB23CF-CCFB-432F-8E85-2E2A3F2AFE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02" y="105091"/>
            <a:ext cx="1377698" cy="1377698"/>
          </a:xfrm>
          <a:prstGeom prst="rect">
            <a:avLst/>
          </a:prstGeom>
        </p:spPr>
      </p:pic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251D93C1-80CC-4D74-8220-CA4E8F71A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584189"/>
              </p:ext>
            </p:extLst>
          </p:nvPr>
        </p:nvGraphicFramePr>
        <p:xfrm>
          <a:off x="931547" y="1497005"/>
          <a:ext cx="8830301" cy="5765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194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Dushanba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Chorshanba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Payshanba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Juma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ATT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(25)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Rustamov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104" marR="83185" indent="-11430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Dasturlash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Quyliyev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492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18745" marR="112395" indent="4445">
                        <a:lnSpc>
                          <a:spcPts val="610"/>
                        </a:lnSpc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Akademik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Gafurov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619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4940" marR="34290" indent="-11430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Hisob(Calculus)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1,2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4940" marR="35560" indent="-11430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Hisob(Calculus)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1,2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4460" marR="115570" indent="-1905">
                        <a:lnSpc>
                          <a:spcPts val="610"/>
                        </a:lnSpc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Akademik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Rustamov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1454" marR="81915" indent="-12065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Dasturlash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1290" marR="34290" indent="-12065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Hisob(Calculus)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1,2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Ro`ziyev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Fizika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Ro`ziyev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Fizika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Haydarova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64769" algn="r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780" algn="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0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Haydarova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66040" algn="r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markazi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IQT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(25)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Quyliyev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619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Boltayev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 marR="89535" indent="-63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Iqtisodiyot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Gafurov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619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Aripova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6830" indent="127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Iqtisodiy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ta'limotlar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8001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Iqtisodiyotda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AKT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tizimlar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7874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Iqtisodiyotda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AKT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tizimlar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429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Aripova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6830" indent="127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Iqtisodiy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ta'limotlar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Raximov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Raximov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Aripova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40640" indent="6858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Iqtisodiyot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Raximov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2-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IQT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(25)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Boltayev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 marR="89535" indent="-63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Iqtisodiyot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Gafurov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619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Aripova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6830" indent="127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Iqtisodiy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ta'limotlar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Yusupov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41910" indent="6858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Iqtisodiyot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8001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Iqtisodiyotda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AKT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tizimlar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302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429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Rustamov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8001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Iqtisodiyotda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AKT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tizimlar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Quyliyev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492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Yusupov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100" indent="127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Iqtisodiy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ta'limotlar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PSI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(22)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Shamsiyeva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50800" indent="8826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82245" marR="43815" indent="-1282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Oliy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88595" marR="45720" indent="-13462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Oliy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1454" marR="37465" indent="-1676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O`zbek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1454" marR="36195" indent="-1676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O`zbek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Avezov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O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189" marR="49530" indent="-6731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Mutaxasislikka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kirish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Shamsiyeva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33985" marR="57150" indent="-8699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Mutaxasislikka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kirish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-127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Raqamli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texnologiyalari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3340" indent="-127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Raqamli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texnologiyalari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(25)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9906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1915" marR="74930" indent="381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Jismoniy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sport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Universal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sport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78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majmuasi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84455" indent="63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Jismoniy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sport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Universal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sport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majmuasi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Tarix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(15)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9906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Orziyev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50800" indent="10350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geografiya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Orziyev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740" marR="95250" indent="-11938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Arxeologiya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Jahon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tarixi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A-2.4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6364" marR="92075" indent="-2476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O'zbekiston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A-2.4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0640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Jahon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tarixi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8580" marR="61594" indent="9271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geografiya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(25)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Xamroyev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50800" indent="8826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38430" marR="93980" indent="-3683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O'zbekiston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JM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Haydarov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50800" indent="8064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87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Karomatov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3820" marR="74930" indent="1905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Jismoniy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madaniyat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097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6675" marR="60325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Milliy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harakatli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o‘yinlarni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G`ayratova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40640" indent="-152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3873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85725" indent="1905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Jismoniy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madaniyat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762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Gimnastika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9906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60325" indent="-889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Gimnastika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Shirinov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Falsafa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 indent="-1117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1270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Milliy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harakatli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o‘yinlarni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Shirinov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Falsafa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MT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(20)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1765" algn="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Nasimova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7165" algn="r">
                        <a:lnSpc>
                          <a:spcPts val="52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Ilk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va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5090" marR="7810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yoshdagi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0495" algn="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Nasimova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5260" algn="r">
                        <a:lnSpc>
                          <a:spcPts val="52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Ilk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va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5090" marR="7683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yoshdagi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7625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1765" algn="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Nasimova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7165" algn="r">
                        <a:lnSpc>
                          <a:spcPts val="52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Ilk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va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5090" marR="7810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yoshdagi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3873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60325">
                        <a:lnSpc>
                          <a:spcPts val="640"/>
                        </a:lnSpc>
                        <a:spcBef>
                          <a:spcPts val="22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Shermuhammed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ova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5885" marR="59055" indent="-27940">
                        <a:lnSpc>
                          <a:spcPts val="610"/>
                        </a:lnSpc>
                        <a:spcBef>
                          <a:spcPts val="40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o'zbek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Turayeva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O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2230" marR="53340" indent="-1905" algn="ctr">
                        <a:lnSpc>
                          <a:spcPts val="610"/>
                        </a:lnSpc>
                        <a:spcBef>
                          <a:spcPts val="13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sahnalashtirish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ijodiy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faoliyatga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o'rgatish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Raxmonova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4191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ijtimoiy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moslashuvi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Raxmonova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5244" indent="127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ijtimoiy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moslashuvi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287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Turayeva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O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2230" marR="51435" indent="-1905" algn="ctr">
                        <a:lnSpc>
                          <a:spcPts val="610"/>
                        </a:lnSpc>
                        <a:spcBef>
                          <a:spcPts val="13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sahnalashtirish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ijodiy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faoliyatga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o'rgatish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762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Turayeva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O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2230" marR="53340" indent="-1905" algn="ctr">
                        <a:lnSpc>
                          <a:spcPts val="610"/>
                        </a:lnSpc>
                        <a:spcBef>
                          <a:spcPts val="13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sahnalashtirish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ijodiy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faoliyatga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o'rgatish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60325">
                        <a:lnSpc>
                          <a:spcPts val="640"/>
                        </a:lnSpc>
                        <a:spcBef>
                          <a:spcPts val="22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Shermuhammed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ova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5885" marR="59055" indent="-27940">
                        <a:lnSpc>
                          <a:spcPts val="610"/>
                        </a:lnSpc>
                        <a:spcBef>
                          <a:spcPts val="40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o'zbek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683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psixodiagnostik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asi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psixodiagnostik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asi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G`ayratova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40640" indent="-152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BT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(35)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Xalilov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50800" indent="8064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Himoyeva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Ona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Himoyeva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96520" algn="r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Ona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3873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Qosimova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42545" indent="19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Boshlang‘ich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4610" indent="-3683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Askarova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38735" indent="-152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3340" indent="-3683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746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22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9906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4610" indent="-3683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Akmurodova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Siddiqova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41275" indent="19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Boshlang‘ich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3185" marR="7556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Boshlang‘ich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ta’lim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pedagogikasi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6200" marR="8318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Boshlang‘ich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ta’lim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pedagogikasi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38F610A-382C-4D8C-89DD-27A04A83B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34173"/>
              </p:ext>
            </p:extLst>
          </p:nvPr>
        </p:nvGraphicFramePr>
        <p:xfrm>
          <a:off x="931549" y="733425"/>
          <a:ext cx="8830301" cy="5765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194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Dushanba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Chorshanba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Payshanba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Juma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O`TA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(28)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5885" marR="88900" indent="-762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06045" marR="86360" indent="-1079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Tilshunoslik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2540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Ifodali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praktikumi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Gafurov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492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Akmurodova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5880" indent="1968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Ifodali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praktikumi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Gafurov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619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37465" indent="-1714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Adabiyotshunos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6195" marR="37465" indent="71120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O‘qituvchi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madaniyat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davlat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tilida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yuritish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Askarova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indent="6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O‘qituvchi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madaniyat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davlat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yuritish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3340" marR="37465" indent="-635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Adabiyotshunos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104" marR="46990" indent="-15113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folklori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1454" marR="46990" indent="-15748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folklori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2-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O`TA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(28)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5885" marR="8826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Tilshunoslik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37465" indent="-1714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Adabiyotshunos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2540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Ifodali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praktikumi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Akmurodova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4610" indent="1968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Ifodali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praktikumi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Xona:B-4.2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Gafurov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619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1454" marR="45085" indent="-15748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folklori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Gafurov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619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6830" indent="71120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O‘qituvchi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madaniyat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davlat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yuritish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G`ayratova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indent="6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O‘qituvchi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madaniyat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davlat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yuritish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3340" marR="37465" indent="-635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Adabiyotshunos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104" marR="46990" indent="-15113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folklori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MPL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(25)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Ibraximova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1435" marR="41910" indent="-25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Maxsus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klinik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Haydarov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48895" indent="8826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Askarova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40640" indent="-152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Quyliyev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619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3873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Gafurov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619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O'zbekistonning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eng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yangi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Abdullayeva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905" marR="48260" indent="-7366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Mutaxasislikka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kirish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Ibraximova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1435" marR="40640" indent="-25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Maxsus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klinik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9906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Abdullayeva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189" marR="49530" indent="-6731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Mutaxasislikka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kirish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3937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Odam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anatomiy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asi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fiziologiyasi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406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Odam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anatomiy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asi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fiziologiyasi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Muz</a:t>
                      </a:r>
                      <a:r>
                        <a:rPr sz="1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Xolikov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-190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nazariyasi.Solfe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djio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Xidirov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50800" indent="6223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An’anaviy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xonandalik</a:t>
                      </a:r>
                      <a:r>
                        <a:rPr sz="55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Xidirov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52069" indent="6223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An’anaviy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xonandalik</a:t>
                      </a:r>
                      <a:r>
                        <a:rPr sz="55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Haydarov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50800" indent="8826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Navro`zov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67945" indent="774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Cholg‘u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ijrochiligi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Xidirov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52069" indent="6223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An’anaviy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xonandalik</a:t>
                      </a:r>
                      <a:r>
                        <a:rPr sz="55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400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5885" marR="59055" indent="-279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o'zbek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Navro`zov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67945" indent="774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Cholg‘u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ijrochiligi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9906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7465" indent="-190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nazariyasi.Solfe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djio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Navro`zov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69850" indent="774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Cholg‘u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ijrochiligi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5885" marR="59055" indent="-279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o'zbek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XTA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9906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3340" indent="-3683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Samandarova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746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Xamroyev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50800" indent="8826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Ikromova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937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40640" indent="-152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Gulova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L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3660" indent="254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3873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Gulova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L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3660" indent="254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3340" indent="-3683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Akmurodova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746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4610" indent="-3683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Samandarova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Ikromova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Raxmatova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937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Raxmatova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2-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XTA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9144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G`ayratova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38735" indent="-152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9370" marR="4826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9370" marR="4826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Xamidova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1755" indent="-635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Xamroyev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50800" indent="8064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1435" marR="38735" indent="-317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62230" indent="-29209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Akmurodova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indent="-15240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Xamidova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1755" indent="254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Djalilova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Djalilova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3340" indent="-36830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746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762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4610" indent="-36830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indent="1905" algn="ctr">
                        <a:lnSpc>
                          <a:spcPts val="610"/>
                        </a:lnSpc>
                        <a:spcBef>
                          <a:spcPts val="3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25-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XTA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9906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Askarova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38735" indent="-152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4610" indent="-3683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Akmurodova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indent="190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937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4610" indent="-3683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Samandarova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3873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Mediasavodxon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lik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madaniyati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Qayumova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1755" indent="254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Qayumova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3660" indent="254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Umarova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Umarova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937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Xamroyev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50800" indent="8826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4610" indent="-3683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Samandarova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indent="190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Rus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(33)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3189" marR="49530" indent="-6731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Mutaxasislikka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kirish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8905" marR="48260" indent="-7366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Mutaxasislikka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kirish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4610" indent="-36830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Akmurodova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Xalilov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48895" indent="8826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5016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adabiyoti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60325">
                        <a:lnSpc>
                          <a:spcPts val="640"/>
                        </a:lnSpc>
                        <a:spcBef>
                          <a:spcPts val="22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Shermuhammed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ova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5880" indent="2540" algn="ctr">
                        <a:lnSpc>
                          <a:spcPts val="610"/>
                        </a:lnSpc>
                        <a:spcBef>
                          <a:spcPts val="40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Rus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praktikumi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Klicheva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4889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adabiyoti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59055">
                        <a:lnSpc>
                          <a:spcPts val="640"/>
                        </a:lnSpc>
                        <a:spcBef>
                          <a:spcPts val="22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Shermuhammed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ova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4610" indent="2540" algn="ctr">
                        <a:lnSpc>
                          <a:spcPts val="610"/>
                        </a:lnSpc>
                        <a:spcBef>
                          <a:spcPts val="40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Rus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praktikumi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7625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9906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3340" indent="-36830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746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762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4610" indent="-36830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(rus)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tili.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8735" indent="1905" algn="ctr">
                        <a:lnSpc>
                          <a:spcPts val="610"/>
                        </a:lnSpc>
                        <a:spcBef>
                          <a:spcPts val="3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sohada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qo‘llanilishi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A1F876-0799-F221-793D-4A64896938F1}"/>
              </a:ext>
            </a:extLst>
          </p:cNvPr>
          <p:cNvSpPr txBox="1"/>
          <p:nvPr/>
        </p:nvSpPr>
        <p:spPr>
          <a:xfrm>
            <a:off x="1765300" y="104476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2-kurs (kunduzgi)</a:t>
            </a:r>
            <a:endParaRPr lang="ru-RU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3F2066BC-89D8-4880-98FE-CDA02C76D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532905"/>
              </p:ext>
            </p:extLst>
          </p:nvPr>
        </p:nvGraphicFramePr>
        <p:xfrm>
          <a:off x="153041" y="657225"/>
          <a:ext cx="10387318" cy="6415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194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Dushanba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Chorshanba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Payshanba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Juma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ATT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(11)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1454" marR="38100" indent="-16637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Chiziqli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algebra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Rustamov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12395" marR="83820" indent="-2032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Ma`lumotlar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bazasi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Rustamov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18745" marR="85725" indent="-26034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Ma`lumotlar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bazasi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1454" marR="38100" indent="-16637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Chiziqli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algebra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Rustamov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3340" marR="45085" indent="1206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Elektronika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sxemalar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1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Rustamov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571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Elektronika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sxemalar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1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72390" indent="8382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Diskret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tuzilmalar(A)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Jalolov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5405" marR="58419" indent="4572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Kompyuter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tarmoqlari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Rustamov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0800" indent="571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Elektronika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sxemalar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1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72390" indent="8382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Diskret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tuzilmalar(A)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740" marR="36830" indent="-16002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Chiziqli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algebra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Rustamov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3975" indent="5143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Kompyuter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tarmoqlari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Xuddiyeva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1120" marR="66040" indent="8953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Diskret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tuzilmalar(M)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IQT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(11)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Boltayev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Statistika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Aripova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4145" marR="36195" indent="-9906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Mikroiqtisodiyo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1,2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Boltayev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740" marR="36830" indent="-16319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Iqtisodiy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siyosat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Boltayev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7804" marR="35560" indent="-17526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Iqtisodiy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siyosat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Yusupov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 marR="80010" indent="-10795" algn="just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Iqtisodiyotda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ma`lumotlar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tahlili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Yusupov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 marR="78740" indent="-10795" algn="just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Iqtisodiyotda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ma`lumotlar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tahlili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Xudoykulov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95250" algn="r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Falsafa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Raxmonov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9060" marR="47625" indent="-4127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Ekonometrikag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kirish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Boltayev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Statistika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Yusupov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04775" marR="47625" indent="-4762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Ekonometrikag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kirish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Raxmonov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Statistika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Oripov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38430" marR="37465" indent="-9334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Mikroiqtisodiyo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1,2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PSI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(12)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1435" marR="42545" indent="-63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psixodiagnostik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1435" marR="43815" indent="-63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psixodiagnostik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Avezov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O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8735" indent="9906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Haydarov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6830" indent="317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differensial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Xalilov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1524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Eksperimental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(L)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8120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Xalilov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2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3340" indent="-63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ma’lumotlarni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qayta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metodlari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texnologiyalari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Haydarov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48895" indent="8826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0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Xalilov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ts val="52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-63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ma’lumotlarni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qayta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metodlari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texnologiyalari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8120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Xalilov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6985" algn="ctr">
                        <a:lnSpc>
                          <a:spcPts val="52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1435" marR="60960" indent="-63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ma’lumotlarni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qayta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metodlari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texnologiyalari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Avezov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O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7465" indent="9144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6195" marR="38735" indent="-698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differensial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A-1.1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(14)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MG`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(6)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104" marR="53340" indent="-14478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Etnomadaniyat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50800" indent="127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Xoliqov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L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87325" marR="56515" indent="-14033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Huquq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sohalari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1910" indent="8953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7804" marR="60960" indent="-16637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Etnomadaniyat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1778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Xudoykulov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104" marR="83185" indent="-129539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Dinshunoslik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O`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marR="67945" indent="-1651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Milliy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g'oya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Saloxov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2230" marR="53975" indent="-1841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Milliy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g'oya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774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Karimov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7804" marR="84455" indent="-1422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Dinshunoslik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JM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(13)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52705" indent="-1651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111760" indent="-8890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Jismoniy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83820" indent="190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madaniyat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652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Barakayev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60325" algn="ctr">
                        <a:lnSpc>
                          <a:spcPts val="550"/>
                        </a:lnSpc>
                        <a:spcBef>
                          <a:spcPts val="290"/>
                        </a:spcBef>
                      </a:pPr>
                      <a:r>
                        <a:rPr sz="500" spc="-10" dirty="0">
                          <a:latin typeface="Times New Roman"/>
                          <a:cs typeface="Times New Roman"/>
                        </a:rPr>
                        <a:t>Yangi</a:t>
                      </a:r>
                      <a:r>
                        <a:rPr sz="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tahrirdagi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O‘zbekiston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Respublikasi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Konstitutsiyasi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1910" indent="8953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121285" indent="-88900">
                        <a:lnSpc>
                          <a:spcPct val="11270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Karomatov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Jismoniy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83820" indent="190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madaniyat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Karomatov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6667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Sport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o‘yinlari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1778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0800" indent="774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06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Shoyev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0640" marR="33655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Yangi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tahrirdagi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O‘zbekiston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Respublikasi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Konstitutsiyasi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7625" algn="just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Yengil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atletika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Universal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sport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78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majmuasi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5405" marR="5905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Sport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o‘yinlari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Universal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sport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majmuasi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6675" marR="57150" indent="-3175" algn="just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Yengil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atletika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Universal</a:t>
                      </a:r>
                      <a:r>
                        <a:rPr sz="4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sport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majmuasi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BT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(31)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Himoyeva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2705" marR="55244" indent="-762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127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Texnologiya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ta’limi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5565" marR="8318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Boshlang‘ich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ta’lim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pedagogikasi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127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Texnologiya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ta’limi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Qosimova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762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O`ktamova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90805" algn="r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Ona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3185" marR="7556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Boshlang‘ich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ta’lim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pedagogikasi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7625" indent="31750" algn="just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Tabiiy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fanlar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0820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0795" algn="ctr">
                        <a:lnSpc>
                          <a:spcPts val="52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1750" marR="34925" indent="1206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texnologiyalarin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kasbiy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faoliyatda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qo`llash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(ECTS)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0" algn="just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Tabiiy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fanlar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O`ktamova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96520" algn="r">
                        <a:lnSpc>
                          <a:spcPct val="10000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Ona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0820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2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Axborot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0640" marR="34290" indent="2540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texnologiyalarin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kasbiy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faoliyatda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qo`llash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(ECTS)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MPL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(31)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Tosheva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38735" indent="-1778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Maxsus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maxsus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Tosheva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1435" marR="43180" indent="-1841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Maxsus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maxsus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774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1910" indent="8953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50800" indent="-1651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Ibraximova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8255" algn="ctr">
                        <a:lnSpc>
                          <a:spcPts val="575"/>
                        </a:lnSpc>
                      </a:pPr>
                      <a:r>
                        <a:rPr sz="500" spc="-20" dirty="0">
                          <a:latin typeface="Times New Roman"/>
                          <a:cs typeface="Times New Roman"/>
                        </a:rPr>
                        <a:t>Inklyuziv</a:t>
                      </a:r>
                      <a:r>
                        <a:rPr sz="5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ta'lim.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63500" marR="57785" indent="-14604" algn="ctr">
                        <a:lnSpc>
                          <a:spcPts val="550"/>
                        </a:lnSpc>
                        <a:spcBef>
                          <a:spcPts val="35"/>
                        </a:spcBef>
                      </a:pPr>
                      <a:r>
                        <a:rPr sz="500" spc="-10" dirty="0">
                          <a:latin typeface="Times New Roman"/>
                          <a:cs typeface="Times New Roman"/>
                        </a:rPr>
                        <a:t>Gospital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0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63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Xudoykulov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104" marR="73660" indent="-12065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Dinshunoslik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Abdullayeva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6675" marR="60325" indent="-139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Erta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tashxis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abilitasiya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Abdullayeva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-762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Erta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tashxis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abilitasiya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Ibraximova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635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Inklyuziv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ta'lim.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2705" marR="47625" algn="ctr">
                        <a:lnSpc>
                          <a:spcPts val="610"/>
                        </a:lnSpc>
                        <a:spcBef>
                          <a:spcPts val="3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Gospital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7804" marR="84455" indent="-14224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Dinshunoslik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MT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(16)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Aminova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-14604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Tasviriy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faoliyatga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o‘rgatish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Aminova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317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Tasviriy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faoliyatga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o‘rgatish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52705" indent="-1651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1910" indent="9715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Barakayev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58419" algn="ctr">
                        <a:lnSpc>
                          <a:spcPts val="550"/>
                        </a:lnSpc>
                        <a:spcBef>
                          <a:spcPts val="290"/>
                        </a:spcBef>
                      </a:pPr>
                      <a:r>
                        <a:rPr sz="500" spc="-10" dirty="0">
                          <a:latin typeface="Times New Roman"/>
                          <a:cs typeface="Times New Roman"/>
                        </a:rPr>
                        <a:t>Yangi</a:t>
                      </a:r>
                      <a:r>
                        <a:rPr sz="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tahrirdagi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O‘zbekiston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Respublikasi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Konstitutsiyasi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774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63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Xudoykulov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104" marR="73660" indent="-12065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Dinshunoslik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06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Shoyev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0640" marR="33655" algn="ctr">
                        <a:lnSpc>
                          <a:spcPts val="610"/>
                        </a:lnSpc>
                        <a:spcBef>
                          <a:spcPts val="13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Yangi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tahrirdagi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O‘zbekiston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Respublikasi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Konstitutsiyasi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Karimov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7804" marR="73660" indent="-13271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Dinshunoslik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Kozimova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444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Tabiat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bilan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tanishtirish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Kozimova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6675" marR="60325" indent="-1524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Tabiat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bilan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tanishtirish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MUZ</a:t>
                      </a:r>
                      <a:r>
                        <a:rPr sz="1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(20)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Karimov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7804" marR="75565" indent="-13271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Dinshunoslik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Navro`zov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39700" marR="132080" indent="1778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Orkestr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sinfi.(M)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Navro`zov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6050" marR="139065" indent="1206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Orkestr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sinfi.(A)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1910" indent="8953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42545" indent="-63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Garmoniya.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asarlari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tahlili.(A)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52705" indent="-1651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1778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Xudoykulov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104" marR="83185" indent="-129539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Dinshunoslik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774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0640" marR="4826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metodikasi.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Maktab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repertuari.(M)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 marR="51435" indent="-63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Garmoniya.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asarlari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tahlili.(M)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ts val="65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/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0640" marR="50165" indent="-15240">
                        <a:lnSpc>
                          <a:spcPct val="61800"/>
                        </a:lnSpc>
                        <a:spcBef>
                          <a:spcPts val="24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Raxmatov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8740" marR="72390" indent="-1841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metodikasi.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Maktab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repertuari.(L)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181C5C1-B0FD-447F-8E56-96F0537BD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443609"/>
              </p:ext>
            </p:extLst>
          </p:nvPr>
        </p:nvGraphicFramePr>
        <p:xfrm>
          <a:off x="142494" y="747522"/>
          <a:ext cx="10387318" cy="3202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194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Dushanba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Chorshanba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Payshanba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Juma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XTA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(29)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Tursunov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937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Mamlakatshuno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slik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(Country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study)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9715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Salimova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L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8509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Salimova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L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9370" marR="4699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Bozorova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6845" marR="54610" indent="-10985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Ikkinchi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Bozorova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6845" marR="45085" indent="-10223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Ikkinchi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Raxmatova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Kobilova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45085" indent="3302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Tursunov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746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Mamlakatshuno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slik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(Country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study)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Kobilova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45085" indent="2413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Raxmatova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2-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XTA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Ikromova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8953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Ikromova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9370" marR="4826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45085" indent="3302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Ikromova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937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45085" indent="3302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0800" indent="774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Bozorova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6845" marR="54610" indent="-10985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Ikkinchi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Bozorova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6845" marR="54610" indent="-10985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Ikkinchi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Tursunov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746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Mamlakatshuno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slik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(Country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study)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Tursunov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937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Mamlakatshuno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slik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(Country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study)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Ikromova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XTA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(27)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Kobilova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937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Mamlakatshuno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slik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(Country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study)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9715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Kobilova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Bozorova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6845" marR="54610" indent="-10985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Ikkinchi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Bozorova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6845" marR="52705" indent="-10985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Ikkinchi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Kobilova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9370" marR="4826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yozuv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43180" indent="3302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45085" indent="3302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aspektlari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7747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Tursunov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7465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Mamlakatshuno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slik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(Country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study)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Qayumova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Qayumova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Nutq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ko‘nikmal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ari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integratsiyas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O`TA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(21)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8509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7804" marR="73660" indent="-132715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Dinshunoslik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69850" indent="8509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adabiyoti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1910" indent="8953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7804" marR="43180" indent="-16764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Jahon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adabiyoti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6200" marR="50165" indent="-1714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Hozirgi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-1778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Xudoykulov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104" marR="73660" indent="-12065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Dinshunoslik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(150)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52705" indent="1270" algn="ctr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Ekologiya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atrof-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muhit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muhofazasi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7150" indent="-1397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Hozirgi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80010" indent="6540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adabiyoti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104" marR="44450" indent="-15557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Jahon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adabiyoti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12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A1F876-0799-F221-793D-4A64896938F1}"/>
              </a:ext>
            </a:extLst>
          </p:cNvPr>
          <p:cNvSpPr txBox="1"/>
          <p:nvPr/>
        </p:nvSpPr>
        <p:spPr>
          <a:xfrm>
            <a:off x="1765300" y="104476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3-kurs (kunduzgi)</a:t>
            </a:r>
            <a:endParaRPr lang="ru-RU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B04707D3-071C-4726-986D-1C12079A6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676306"/>
              </p:ext>
            </p:extLst>
          </p:nvPr>
        </p:nvGraphicFramePr>
        <p:xfrm>
          <a:off x="142494" y="747522"/>
          <a:ext cx="10387318" cy="3207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194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Dushanba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Chorshanba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Payshanba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Juma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23-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BT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(26)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31750" algn="just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Tabiiy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fanlar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514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Matematikadan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xalqaro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baholash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dasturlari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43180" indent="-5080" algn="ctr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Bo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‘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ch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sinf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matematika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 marR="80645" indent="-190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darslarida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mantiqiy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fikrlashni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rivojlantirish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450" b="1" spc="-80" dirty="0">
                          <a:latin typeface="Times New Roman"/>
                          <a:cs typeface="Times New Roman"/>
                        </a:rPr>
                        <a:t>Xona</a:t>
                      </a:r>
                      <a:r>
                        <a:rPr sz="825" spc="-120" baseline="1515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450" b="1" spc="-80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825" spc="-120" baseline="15151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450" b="1" spc="-80" dirty="0">
                          <a:latin typeface="Times New Roman"/>
                          <a:cs typeface="Times New Roman"/>
                        </a:rPr>
                        <a:t>B-</a:t>
                      </a:r>
                      <a:r>
                        <a:rPr sz="825" spc="-30" baseline="15151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3.5</a:t>
                      </a:r>
                      <a:r>
                        <a:rPr sz="450" b="1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Qosimova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3340" marR="6286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41910" indent="-5080" algn="ctr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Bo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‘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825" spc="-195" baseline="-10101" dirty="0">
                          <a:latin typeface="Times New Roman"/>
                          <a:cs typeface="Times New Roman"/>
                        </a:rPr>
                        <a:t>ch</a:t>
                      </a:r>
                      <a:r>
                        <a:rPr sz="550" spc="-13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sinf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matematika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 marR="79375" indent="-190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darslarida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mantiqiy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fikrlashni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rivojlantirish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450" b="1" spc="-75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825" spc="-112" baseline="15151" dirty="0">
                          <a:latin typeface="Times New Roman"/>
                          <a:cs typeface="Times New Roman"/>
                        </a:rPr>
                        <a:t>(A</a:t>
                      </a:r>
                      <a:r>
                        <a:rPr sz="450" b="1" spc="-75" dirty="0">
                          <a:latin typeface="Times New Roman"/>
                          <a:cs typeface="Times New Roman"/>
                        </a:rPr>
                        <a:t>B-</a:t>
                      </a:r>
                      <a:r>
                        <a:rPr sz="825" baseline="15151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4.3</a:t>
                      </a:r>
                      <a:r>
                        <a:rPr sz="450" b="1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5244" indent="16510" algn="just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Tabiiy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fanlar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marR="39370" indent="-21590">
                        <a:lnSpc>
                          <a:spcPct val="101800"/>
                        </a:lnSpc>
                        <a:spcBef>
                          <a:spcPts val="17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O`ktamova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Ona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o‘qish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savodxonligi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6200" marR="67310" indent="-1270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marR="38100" indent="-21590">
                        <a:lnSpc>
                          <a:spcPct val="101800"/>
                        </a:lnSpc>
                        <a:spcBef>
                          <a:spcPts val="17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O`ktamova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Ona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o‘qish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savodxonligi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6200" marR="66040" indent="-1270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533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Matematikadan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xalqaro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baholash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dasturlari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7625" indent="28575" algn="just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Boshlang‘ich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matn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ustida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2705" marR="6286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5244" indent="15240" algn="just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Boshlang‘ich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matn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ustida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2-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23-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BT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(25)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31750" algn="just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Tabiiy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fanlar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2705" marR="4381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Matematikadan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xalqaro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baholash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dasturlari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indent="-152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Bo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sh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‘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ic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0640" marR="50800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sinf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darslarida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mantiqiy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fikrlashni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rivojlantirish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450" b="1" spc="-80" dirty="0">
                          <a:latin typeface="Times New Roman"/>
                          <a:cs typeface="Times New Roman"/>
                        </a:rPr>
                        <a:t>Xona</a:t>
                      </a:r>
                      <a:r>
                        <a:rPr sz="825" spc="-120" baseline="1515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450" b="1" spc="-80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825" spc="-120" baseline="15151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450" b="1" spc="-80" dirty="0">
                          <a:latin typeface="Times New Roman"/>
                          <a:cs typeface="Times New Roman"/>
                        </a:rPr>
                        <a:t>B-</a:t>
                      </a:r>
                      <a:r>
                        <a:rPr sz="825" spc="-30" baseline="15151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3.5</a:t>
                      </a:r>
                      <a:r>
                        <a:rPr sz="450" b="1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Qosimova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3340" marR="6286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0" algn="just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Tabiiy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fanlar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indent="-228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Bo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‘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825" spc="-179" baseline="-15151" dirty="0">
                          <a:latin typeface="Times New Roman"/>
                          <a:cs typeface="Times New Roman"/>
                        </a:rPr>
                        <a:t>ch</a:t>
                      </a:r>
                      <a:r>
                        <a:rPr sz="550" spc="-12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43180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sinf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darslarida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mantiqiy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fikrlashni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rivojlantirish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450" b="1" spc="-75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825" spc="-112" baseline="15151" dirty="0">
                          <a:latin typeface="Times New Roman"/>
                          <a:cs typeface="Times New Roman"/>
                        </a:rPr>
                        <a:t>(A</a:t>
                      </a:r>
                      <a:r>
                        <a:rPr sz="450" b="1" spc="-75" dirty="0">
                          <a:latin typeface="Times New Roman"/>
                          <a:cs typeface="Times New Roman"/>
                        </a:rPr>
                        <a:t>B-</a:t>
                      </a:r>
                      <a:r>
                        <a:rPr sz="825" baseline="15151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4.6</a:t>
                      </a:r>
                      <a:r>
                        <a:rPr sz="450" b="1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O`ktamova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9370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Ona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o‘qish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savodxonligi</a:t>
                      </a:r>
                      <a:r>
                        <a:rPr sz="5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3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O`ktamova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9370" marR="31750" indent="-17145" algn="ctr">
                        <a:lnSpc>
                          <a:spcPts val="550"/>
                        </a:lnSpc>
                        <a:spcBef>
                          <a:spcPts val="565"/>
                        </a:spcBef>
                      </a:pPr>
                      <a:r>
                        <a:rPr sz="500" spc="-10" dirty="0">
                          <a:latin typeface="Times New Roman"/>
                          <a:cs typeface="Times New Roman"/>
                        </a:rPr>
                        <a:t>Ona tili </a:t>
                      </a:r>
                      <a:r>
                        <a:rPr sz="5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 o‘qish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0" dirty="0">
                          <a:latin typeface="Times New Roman"/>
                          <a:cs typeface="Times New Roman"/>
                        </a:rPr>
                        <a:t>savodxonligi</a:t>
                      </a:r>
                      <a:r>
                        <a:rPr sz="5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uni</a:t>
                      </a:r>
                      <a:r>
                        <a:rPr sz="5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0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10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7625" indent="28575" algn="just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Boshlang‘ich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matn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ustida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Sharopova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5244" indent="22860" algn="just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Boshlang‘ich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matn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ustida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 algn="just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Boymurodova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533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Matematikadan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xalqaro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baholash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dasturlari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23-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MT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(23)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24130" algn="just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just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17780" algn="just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tilini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Aminova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444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Tabiat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bilan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tanishtirish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Aminova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6675" marR="60325" indent="317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Tabiat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bilan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tanishtirish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Aminova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-6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o‘yin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texnologiyalari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Kozimova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8895" indent="-6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ifodali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Nasimova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-1651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Ilk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yoshdagi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bolalar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bilan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A-2.7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Nasimova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6675" marR="59055" indent="6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Ilk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yoshdagi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bolalar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bilan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Kozimova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56515" indent="-6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ifodali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Aminova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-6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Maktabgacha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ta’limda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o‘yin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texnologiyalari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Yusupov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 marR="82550" indent="15240" algn="just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Iqtisodiy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tadbirkorlik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tarbiyasi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Yusupov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 marR="82550" indent="15240" algn="just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Iqtisodiy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tadbirkorlik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tarbiyasi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23-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O`TA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(35)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9715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adabiyoti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46990" indent="-63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tilshunosliginin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5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dolzarb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masalalari</a:t>
                      </a:r>
                      <a:r>
                        <a:rPr sz="55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48260" indent="-1587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tilshunosliginin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5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dolzarb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masalalari</a:t>
                      </a:r>
                      <a:r>
                        <a:rPr sz="55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40640" indent="11430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adabiyoti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7625" indent="19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adabiyotini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5244" indent="19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adabiyotini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Akmurodova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 marR="49530" indent="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Ona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tilini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Akmurodova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Ona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 tilini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metodikasi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016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Hozirgi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Choriyeva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4889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Hozirgi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o‘zbek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adabiy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tili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B-4.3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82880" marR="45720" indent="-12827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Sotsiolingvistik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Yahyoyeva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93040" marR="45720" indent="-13906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Sotsiolingvistik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846FC6E-7A1A-4274-8EE5-72D8CF53A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040943"/>
              </p:ext>
            </p:extLst>
          </p:nvPr>
        </p:nvGraphicFramePr>
        <p:xfrm>
          <a:off x="142494" y="3954907"/>
          <a:ext cx="10387318" cy="2561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210">
                  <a:extLst>
                    <a:ext uri="{9D8B030D-6E8A-4147-A177-3AD203B41FA5}">
                      <a16:colId xmlns:a16="http://schemas.microsoft.com/office/drawing/2014/main" val="339899136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3208754580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1439647076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976993868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399368415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3558045411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4069811377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3972580916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24851533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3729626158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3018405332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183130063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1466217393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3833118039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56974313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4030882844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1016874749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34277146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1094986630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23-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MUZ</a:t>
                      </a:r>
                      <a:r>
                        <a:rPr sz="1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(27)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48590">
                        <a:lnSpc>
                          <a:spcPts val="640"/>
                        </a:lnSpc>
                        <a:spcBef>
                          <a:spcPts val="219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Raxmatov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 marR="62865" indent="635" algn="ctr">
                        <a:lnSpc>
                          <a:spcPts val="610"/>
                        </a:lnSpc>
                        <a:spcBef>
                          <a:spcPts val="40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fortepiano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147320">
                        <a:lnSpc>
                          <a:spcPts val="640"/>
                        </a:lnSpc>
                        <a:spcBef>
                          <a:spcPts val="219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Raxmatov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 marR="61594" indent="635" algn="ctr">
                        <a:lnSpc>
                          <a:spcPts val="610"/>
                        </a:lnSpc>
                        <a:spcBef>
                          <a:spcPts val="40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fortepiano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79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05740" marR="73025" indent="-127000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5" dirty="0">
                          <a:latin typeface="Times New Roman"/>
                          <a:cs typeface="Times New Roman"/>
                        </a:rPr>
                        <a:t>Muhammedov</a:t>
                      </a:r>
                      <a:r>
                        <a:rPr sz="55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406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texnologiyalari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loyilahalash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0975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Karimov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52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Uzluksiz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5560" indent="-190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ta’limdagi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tendensiyalar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zamonaviy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yondashuvlar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5" dirty="0">
                          <a:latin typeface="Times New Roman"/>
                          <a:cs typeface="Times New Roman"/>
                        </a:rPr>
                        <a:t>Muhammedov</a:t>
                      </a:r>
                      <a:r>
                        <a:rPr sz="55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0165" marR="406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texnologiyalari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loyilahalash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Boltazoda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1275" indent="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Cholg‘ushunosl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ik.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Cholg‘ulasht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irish.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Navro`zov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39370" indent="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Cholg‘ushunosl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ik.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Cholg‘ulasht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irish.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 (L)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Axtamov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7804" marR="73025" indent="-13906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Musiqa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tarixi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Xo`jayev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48260" indent="-31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Folklor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jamoalari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bilan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Xo`jayev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0165" indent="-31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Folklor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jamoalari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bilan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ishlash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2245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Karimov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2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Uzluksiz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6830" indent="-190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ta’limdagi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tendensiyalar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zamonaviy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yondashuvlar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5493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23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XTA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(17)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Bozorova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76530" marR="46990" indent="-12192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Ikkinchi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Bozorova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76530" marR="45085" indent="-12192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Ikkinchi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Umarova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3660" indent="7302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Tarjima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Ikromova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67945" indent="7874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Tarjima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74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Kobilova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5880" indent="-635" algn="ctr">
                        <a:lnSpc>
                          <a:spcPts val="610"/>
                        </a:lnSpc>
                        <a:spcBef>
                          <a:spcPts val="13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gapirish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ko‘nikmalarini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Ikromova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3340" marR="47625" algn="ctr">
                        <a:lnSpc>
                          <a:spcPts val="610"/>
                        </a:lnSpc>
                        <a:spcBef>
                          <a:spcPts val="13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baholashning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xalqaro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standartlari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 marR="105410" indent="-104139">
                        <a:lnSpc>
                          <a:spcPct val="65500"/>
                        </a:lnSpc>
                        <a:spcBef>
                          <a:spcPts val="409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Raxmatova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tilda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5880" indent="1905"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tinglab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tushunish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ko‘nikmalarini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48260" indent="-25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integrallashgan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106680" indent="-104139">
                        <a:lnSpc>
                          <a:spcPct val="65500"/>
                        </a:lnSpc>
                        <a:spcBef>
                          <a:spcPts val="409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Raxmatova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tilda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7785" indent="1905" algn="ctr">
                        <a:lnSpc>
                          <a:spcPts val="610"/>
                        </a:lnSpc>
                        <a:spcBef>
                          <a:spcPts val="1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tinglab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tushunish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ko‘nikmalarini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Ikromova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3340" marR="46355" algn="ctr">
                        <a:lnSpc>
                          <a:spcPts val="610"/>
                        </a:lnSpc>
                        <a:spcBef>
                          <a:spcPts val="13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baholashning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xalqaro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standartlari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48260" indent="-25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integrallashgan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Kobilova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7785" indent="-635" algn="ctr">
                        <a:lnSpc>
                          <a:spcPts val="610"/>
                        </a:lnSpc>
                        <a:spcBef>
                          <a:spcPts val="13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gapirish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ko‘nikmalarini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182529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2-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23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XTA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(18)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Bozorova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76530" marR="46990" indent="-12192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Ikkinchi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Bozorova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76530" marR="45085" indent="-121920">
                        <a:lnSpc>
                          <a:spcPts val="61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Ikkinchi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xorijiy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til</a:t>
                      </a:r>
                      <a:r>
                        <a:rPr sz="5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A-3.6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Idiyeva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L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2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tilda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7785" indent="190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tinglab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tushunish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ko‘nikmalarini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B-1.2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Ikromova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67945" indent="7874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Tarjima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B-2.2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(36)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 indent="-1117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2705" marR="46355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baholashning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xalqaro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standartlari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Idiyeva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L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2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tilda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7785" indent="1905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tinglab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tushunish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ko‘nikmalarini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A-2.4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732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5880" indent="-635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gapirish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ko‘nikmalarini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445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859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7785" indent="-635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gapirish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ko‘nikmalarini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rivojlantirish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 indent="-1117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2705" marR="47625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o‘qitish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baholashning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xalqaro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standartlari</a:t>
                      </a:r>
                      <a:r>
                        <a:rPr sz="55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Kobilova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0645" marR="71755" indent="7302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Tarjima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nazariyasi</a:t>
                      </a:r>
                      <a:r>
                        <a:rPr sz="55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amaliyoti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Umarova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48260" indent="-25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integrallashgan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Umarova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48260" indent="-2540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Chet</a:t>
                      </a:r>
                      <a:r>
                        <a:rPr sz="5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tillarni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o‘qitishning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integrallashgan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A-3.5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765899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23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PSI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(25)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4826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trening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marR="38100" indent="19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konsultatsiya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psixokorreksiya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3820" marR="7810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Baratova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3820" marR="7620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3185" marR="78105" indent="69850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Deviant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xulq-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atvor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605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3185" marR="76200" indent="69850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Deviant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xulq-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atvor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605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marR="33655" indent="-15240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Qodirov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Yangi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tahrirdagi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5244" indent="317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O‘zbekiston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Respublikasi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Konstitutsiyasi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5880" marR="4699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trening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asoslari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7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4604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Potok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Baratova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3185" marR="7810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Bolalar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085" marR="40005" indent="19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konsultatsiya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psixokorreksiya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6990" marR="40640" indent="97155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Alimova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9055" marR="52069" indent="85090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Umumiy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pedagogika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16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19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A1F876-0799-F221-793D-4A64896938F1}"/>
              </a:ext>
            </a:extLst>
          </p:cNvPr>
          <p:cNvSpPr txBox="1"/>
          <p:nvPr/>
        </p:nvSpPr>
        <p:spPr>
          <a:xfrm>
            <a:off x="1765300" y="104476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4-kurs (kunduzgi)</a:t>
            </a:r>
            <a:endParaRPr lang="ru-RU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062AF6A-6867-46B8-B1F6-6B8EC294F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251612"/>
              </p:ext>
            </p:extLst>
          </p:nvPr>
        </p:nvGraphicFramePr>
        <p:xfrm>
          <a:off x="142494" y="747522"/>
          <a:ext cx="10387318" cy="3844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194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Dushanba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Chorshanba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Payshanba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Juma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Shanba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30"/>
                        </a:lnSpc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22-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XTA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(23)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2540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2245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Karimov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2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Uzluksiz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 marR="36830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ta'limdagi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tendensiyalar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zamonaviy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yondashuvlar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78105" indent="-190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1120" marR="6667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frazeologiyasi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7150" indent="7302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stilistikasi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8580" marR="61594" indent="63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fonetikasi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79375" indent="-190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Haydarova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78105" indent="-190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A-2.4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Ruziyeva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6921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fonetikasi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A-2.4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Saidova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 marR="62865" indent="6667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stilistikasi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A-2.4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5880" indent="7302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stilistikasi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1120" marR="6667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frazeologiyasi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A-2.4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Haydarova</a:t>
                      </a:r>
                      <a:r>
                        <a:rPr sz="55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88900" indent="127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A-2.4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2-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22-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XTA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(24)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2245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Karimov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0795" algn="ctr">
                        <a:lnSpc>
                          <a:spcPts val="52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Uzluksiz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4925" marR="45720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ta'limdagi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tendensiyalar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zamonaviy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yondashuvlar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86995" indent="127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1120" marR="6667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frazeologiyasi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7150" indent="6540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stilistikasi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8580" marR="61594" indent="-14604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fonetikasi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88900" indent="127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Ruziyeva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67310" indent="-1524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fonetikasi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7429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frazeologiyasi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A-2.1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(48)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Ruziyeva</a:t>
                      </a:r>
                      <a:r>
                        <a:rPr sz="55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 marR="62865" indent="6667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stilistikasi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5880" indent="6540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stilistikasi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Namozova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88900" indent="127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Namozova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K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88900" indent="127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B-5.1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(100)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17195" marR="174625" indent="-265430">
                        <a:lnSpc>
                          <a:spcPts val="113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22-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MBTXT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(26)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2245" algn="ctr">
                        <a:lnSpc>
                          <a:spcPts val="545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Karimov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J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0795" algn="ctr">
                        <a:lnSpc>
                          <a:spcPts val="52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Uzluksiz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4925" marR="45720" algn="ctr">
                        <a:lnSpc>
                          <a:spcPts val="610"/>
                        </a:lnSpc>
                        <a:spcBef>
                          <a:spcPts val="40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ta'limdagi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tendensiyalar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zamonaviy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yondashuvlar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ts val="43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86995" indent="127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7429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frazeologiyasi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7150" indent="6540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stilistikasi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8580" marR="61594" indent="-14604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fonetikasi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88900" indent="127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Djalilova</a:t>
                      </a:r>
                      <a:r>
                        <a:rPr sz="5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 marR="61594" indent="5905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stilistikasi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76200">
                        <a:lnSpc>
                          <a:spcPts val="640"/>
                        </a:lnSpc>
                        <a:spcBef>
                          <a:spcPts val="219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Ro`zimurodova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88900" indent="1270" algn="ctr">
                        <a:lnSpc>
                          <a:spcPts val="610"/>
                        </a:lnSpc>
                        <a:spcBef>
                          <a:spcPts val="10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79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 marR="69215" indent="-15240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fonetikasi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Xona:B-1.4</a:t>
                      </a:r>
                      <a:r>
                        <a:rPr sz="45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Xamrayeva</a:t>
                      </a:r>
                      <a:r>
                        <a:rPr sz="5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G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55880" indent="65405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stilistikasi</a:t>
                      </a:r>
                      <a:r>
                        <a:rPr sz="5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B-2.5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(80)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76200">
                        <a:lnSpc>
                          <a:spcPts val="640"/>
                        </a:lnSpc>
                        <a:spcBef>
                          <a:spcPts val="219"/>
                        </a:spcBef>
                      </a:pPr>
                      <a:r>
                        <a:rPr sz="550" spc="-30" dirty="0">
                          <a:latin typeface="Times New Roman"/>
                          <a:cs typeface="Times New Roman"/>
                        </a:rPr>
                        <a:t>Ro`zimurodova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7470" marR="88900" indent="1270" algn="ctr">
                        <a:lnSpc>
                          <a:spcPts val="610"/>
                        </a:lnSpc>
                        <a:spcBef>
                          <a:spcPts val="10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nazariy</a:t>
                      </a:r>
                      <a:r>
                        <a:rPr sz="5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kursi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180" algn="ctr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79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Qurbonov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3500" marR="74295" algn="ctr">
                        <a:lnSpc>
                          <a:spcPts val="610"/>
                        </a:lnSpc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Ingliz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tili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frazeologiyasi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(A)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Xona: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A-0.1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(30)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325" marR="5270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4604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714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rahbari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60960" marR="53975" indent="-1587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Malakaviy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amaliyot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(4+2)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1605" marR="16510" indent="31750">
                        <a:lnSpc>
                          <a:spcPts val="550"/>
                        </a:lnSpc>
                        <a:spcBef>
                          <a:spcPts val="1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Umumta`lim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maktablari</a:t>
                      </a:r>
                      <a:r>
                        <a:rPr sz="4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va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ts val="535"/>
                        </a:lnSpc>
                      </a:pPr>
                      <a:r>
                        <a:rPr sz="450" b="1" spc="-25" dirty="0">
                          <a:latin typeface="Times New Roman"/>
                          <a:cs typeface="Times New Roman"/>
                        </a:rPr>
                        <a:t>MTT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22-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(26)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Nabiyeva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6200" marR="85725" indent="-19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Mehnat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muhandislik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Nabiyeva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6200" marR="83820" indent="-19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Mehnat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muhandislik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78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59690" indent="444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Ta`lim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muassasalarida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xizmat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 marR="97155" indent="-60960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Ekstremal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9715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vaziyatlarda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xizmat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ts val="605"/>
                        </a:lnSpc>
                      </a:pP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ot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n)</a:t>
                      </a:r>
                      <a:endParaRPr sz="675" baseline="-24691">
                        <a:latin typeface="Times New Roman"/>
                        <a:cs typeface="Times New Roman"/>
                      </a:endParaRPr>
                    </a:p>
                    <a:p>
                      <a:pPr marL="21018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Muxtorov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E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1454" marR="66040" indent="-154305">
                        <a:lnSpc>
                          <a:spcPts val="550"/>
                        </a:lnSpc>
                      </a:pPr>
                      <a:r>
                        <a:rPr sz="500" spc="-25" dirty="0">
                          <a:latin typeface="Times New Roman"/>
                          <a:cs typeface="Times New Roman"/>
                        </a:rPr>
                        <a:t>Psixofiziologiya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210185" marR="19050" indent="-113030">
                        <a:lnSpc>
                          <a:spcPct val="1022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6200" marR="83820" indent="190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Boshqaruv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0185" marR="17780" indent="-113030">
                        <a:lnSpc>
                          <a:spcPct val="102200"/>
                        </a:lnSpc>
                        <a:spcBef>
                          <a:spcPts val="24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Testologiya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0185" marR="17780" indent="-113030">
                        <a:lnSpc>
                          <a:spcPct val="1022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 marR="98425" indent="-60960">
                        <a:lnSpc>
                          <a:spcPct val="110900"/>
                        </a:lnSpc>
                        <a:spcBef>
                          <a:spcPts val="11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Ekstremal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98425" algn="ctr">
                        <a:lnSpc>
                          <a:spcPts val="610"/>
                        </a:lnSpc>
                        <a:spcBef>
                          <a:spcPts val="15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vaziyatlarda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xizmat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5090">
                        <a:lnSpc>
                          <a:spcPts val="605"/>
                        </a:lnSpc>
                      </a:pP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675" b="1" spc="-89" baseline="-2469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675" b="1" spc="-89" baseline="-24691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675" b="1" spc="-89" baseline="-24691" dirty="0">
                          <a:latin typeface="Times New Roman"/>
                          <a:cs typeface="Times New Roman"/>
                        </a:rPr>
                        <a:t>on)</a:t>
                      </a:r>
                      <a:endParaRPr sz="675" baseline="-24691">
                        <a:latin typeface="Times New Roman"/>
                        <a:cs typeface="Times New Roman"/>
                      </a:endParaRPr>
                    </a:p>
                    <a:p>
                      <a:pPr marR="15875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Potok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66040" algn="ctr">
                        <a:lnSpc>
                          <a:spcPts val="550"/>
                        </a:lnSpc>
                      </a:pPr>
                      <a:r>
                        <a:rPr sz="500" spc="-25" dirty="0">
                          <a:latin typeface="Times New Roman"/>
                          <a:cs typeface="Times New Roman"/>
                        </a:rPr>
                        <a:t>Psixofiziologiya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210185" marR="19050" indent="-113030">
                        <a:lnSpc>
                          <a:spcPct val="1022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58419" indent="444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Ta`lim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muassasalarida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xizmat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78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Nabiyeva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59690" indent="444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Ta`lim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muassasalarida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xizmat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2-</a:t>
                      </a:r>
                      <a:r>
                        <a:rPr sz="1000" spc="-15" dirty="0">
                          <a:latin typeface="Times New Roman"/>
                          <a:cs typeface="Times New Roman"/>
                        </a:rPr>
                        <a:t>22-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(24)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Nabiyeva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6200" marR="85725" indent="-19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Mehnat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muhandislik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Nabiyeva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6200" marR="83820" indent="-190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Mehnat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va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muhandislik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78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59690" indent="444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Ta`lim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muassasalarida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xizmat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97155" indent="2540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Ekstremal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vaziyatlarda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xizmat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ts val="605"/>
                        </a:lnSpc>
                      </a:pP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ot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550" spc="-10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675" b="1" spc="-150" baseline="-24691" dirty="0">
                          <a:latin typeface="Times New Roman"/>
                          <a:cs typeface="Times New Roman"/>
                        </a:rPr>
                        <a:t>n)</a:t>
                      </a:r>
                      <a:endParaRPr sz="675" baseline="-24691">
                        <a:latin typeface="Times New Roman"/>
                        <a:cs typeface="Times New Roman"/>
                      </a:endParaRPr>
                    </a:p>
                    <a:p>
                      <a:pPr marL="21018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Muxtorov</a:t>
                      </a:r>
                      <a:r>
                        <a:rPr sz="5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E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1454" marR="66040" indent="-154305">
                        <a:lnSpc>
                          <a:spcPts val="550"/>
                        </a:lnSpc>
                      </a:pPr>
                      <a:r>
                        <a:rPr sz="500" spc="-25" dirty="0">
                          <a:latin typeface="Times New Roman"/>
                          <a:cs typeface="Times New Roman"/>
                        </a:rPr>
                        <a:t>Psixofiziologiya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210185" marR="19050" indent="-113030">
                        <a:lnSpc>
                          <a:spcPct val="1022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Sobirova</a:t>
                      </a:r>
                      <a:r>
                        <a:rPr sz="5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76200" marR="83820" indent="1905" algn="ctr">
                        <a:lnSpc>
                          <a:spcPts val="610"/>
                        </a:lnSpc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Boshqaruv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psixologiyasi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0185" marR="17780" indent="-113030">
                        <a:lnSpc>
                          <a:spcPct val="102200"/>
                        </a:lnSpc>
                        <a:spcBef>
                          <a:spcPts val="23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Sobirov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Testologiya</a:t>
                      </a:r>
                      <a:r>
                        <a:rPr sz="5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210185" marR="17780" indent="-113030">
                        <a:lnSpc>
                          <a:spcPct val="1022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Rajabova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6360" marR="98425" indent="2540" algn="ctr">
                        <a:lnSpc>
                          <a:spcPts val="610"/>
                        </a:lnSpc>
                        <a:spcBef>
                          <a:spcPts val="1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Ekstremal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vaziyatlarda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xizmat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85090">
                        <a:lnSpc>
                          <a:spcPts val="605"/>
                        </a:lnSpc>
                      </a:pP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675" b="1" spc="-187" baseline="-2469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550" spc="-12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55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675" b="1" spc="-89" baseline="-2469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675" b="1" spc="-89" baseline="-24691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550" spc="-6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675" b="1" spc="-89" baseline="-24691" dirty="0">
                          <a:latin typeface="Times New Roman"/>
                          <a:cs typeface="Times New Roman"/>
                        </a:rPr>
                        <a:t>on)</a:t>
                      </a:r>
                      <a:endParaRPr sz="675" baseline="-24691">
                        <a:latin typeface="Times New Roman"/>
                        <a:cs typeface="Times New Roman"/>
                      </a:endParaRPr>
                    </a:p>
                    <a:p>
                      <a:pPr marR="1587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Potok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5" dirty="0">
                          <a:latin typeface="Times New Roman"/>
                          <a:cs typeface="Times New Roman"/>
                        </a:rPr>
                        <a:t>Atavullayeva</a:t>
                      </a:r>
                      <a:r>
                        <a:rPr sz="55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7785" marR="66040" algn="ctr">
                        <a:lnSpc>
                          <a:spcPts val="550"/>
                        </a:lnSpc>
                      </a:pPr>
                      <a:r>
                        <a:rPr sz="500" spc="-25" dirty="0">
                          <a:latin typeface="Times New Roman"/>
                          <a:cs typeface="Times New Roman"/>
                        </a:rPr>
                        <a:t>Psixofiziologiya</a:t>
                      </a:r>
                      <a:r>
                        <a:rPr sz="5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0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210185" marR="19050" indent="-113030">
                        <a:lnSpc>
                          <a:spcPct val="10220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r>
                        <a:rPr sz="4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Barotov</a:t>
                      </a:r>
                      <a:r>
                        <a:rPr sz="5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Sh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58419" indent="444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Ta`lim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muassasalarida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xizmat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(M)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778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550" spc="-20" dirty="0">
                          <a:latin typeface="Times New Roman"/>
                          <a:cs typeface="Times New Roman"/>
                        </a:rPr>
                        <a:t>Nabiyeva</a:t>
                      </a:r>
                      <a:r>
                        <a:rPr sz="5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48260" marR="59690" indent="4445" algn="ctr">
                        <a:lnSpc>
                          <a:spcPts val="610"/>
                        </a:lnSpc>
                        <a:spcBef>
                          <a:spcPts val="445"/>
                        </a:spcBef>
                      </a:pPr>
                      <a:r>
                        <a:rPr sz="550" spc="-10" dirty="0">
                          <a:latin typeface="Times New Roman"/>
                          <a:cs typeface="Times New Roman"/>
                        </a:rPr>
                        <a:t>Ta`lim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muassasalarida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10" dirty="0">
                          <a:latin typeface="Times New Roman"/>
                          <a:cs typeface="Times New Roman"/>
                        </a:rPr>
                        <a:t>psixologik</a:t>
                      </a:r>
                      <a:r>
                        <a:rPr sz="55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0" dirty="0">
                          <a:latin typeface="Times New Roman"/>
                          <a:cs typeface="Times New Roman"/>
                        </a:rPr>
                        <a:t>xizmat</a:t>
                      </a:r>
                      <a:r>
                        <a:rPr sz="5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spc="-25" dirty="0">
                          <a:latin typeface="Times New Roman"/>
                          <a:cs typeface="Times New Roman"/>
                        </a:rPr>
                        <a:t>(S)</a:t>
                      </a: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R="19050" algn="r">
                        <a:lnSpc>
                          <a:spcPts val="490"/>
                        </a:lnSpc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B1</a:t>
                      </a:r>
                      <a:r>
                        <a:rPr sz="4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dirty="0">
                          <a:latin typeface="Times New Roman"/>
                          <a:cs typeface="Times New Roman"/>
                        </a:rPr>
                        <a:t>201</a:t>
                      </a:r>
                      <a:r>
                        <a:rPr sz="4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10" dirty="0">
                          <a:latin typeface="Times New Roman"/>
                          <a:cs typeface="Times New Roman"/>
                        </a:rPr>
                        <a:t>(Kogon)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450" b="1" dirty="0">
                          <a:latin typeface="Times New Roman"/>
                          <a:cs typeface="Times New Roman"/>
                        </a:rPr>
                        <a:t>Faollar</a:t>
                      </a:r>
                      <a:r>
                        <a:rPr sz="4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50" b="1" spc="-20" dirty="0">
                          <a:latin typeface="Times New Roman"/>
                          <a:cs typeface="Times New Roman"/>
                        </a:rPr>
                        <a:t>zali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77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15000">
        <p:blinds dir="vert"/>
      </p:transition>
    </mc:Choice>
    <mc:Fallback xmlns="">
      <p:transition spd="slow" advClick="0" advTm="15000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9929</Words>
  <Application>Microsoft Office PowerPoint</Application>
  <PresentationFormat>Произвольный</PresentationFormat>
  <Paragraphs>3166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Calibri</vt:lpstr>
      <vt:lpstr>Microsoft Sans Serif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BuxPXTI 26.08.2024</dc:title>
  <dc:creator>˜&gt;;L7&gt;20B5;L</dc:creator>
  <cp:lastModifiedBy>hp</cp:lastModifiedBy>
  <cp:revision>40</cp:revision>
  <cp:lastPrinted>2024-10-28T04:10:40Z</cp:lastPrinted>
  <dcterms:created xsi:type="dcterms:W3CDTF">2024-09-12T02:26:17Z</dcterms:created>
  <dcterms:modified xsi:type="dcterms:W3CDTF">2025-09-07T15:29:10Z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2024-09-12T00:00:00Z</vt:filetime>
  </property>
  <property fmtid="{D5CDD505-2E9C-101B-9397-08002B2CF9AE}" pid="3" name="LastSaved">
    <vt:filetime>2024-09-12T00:00:00Z</vt:filetime>
  </property>
</Properties>
</file>