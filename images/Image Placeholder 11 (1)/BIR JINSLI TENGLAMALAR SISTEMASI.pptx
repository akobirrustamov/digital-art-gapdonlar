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6" y="10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 Type="http://schemas.openxmlformats.org/officeDocument/2006/relationships/presProps" Target="presProps.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9EA1E-98C4-4A2E-AAC3-800E357DC9FE}"/>
              </a:ext>
            </a:extLst>
          </p:cNvPr>
          <p:cNvSpPr>
            <a:spLocks noGrp="1"/>
          </p:cNvSpPr>
          <p:nvPr>
            <p:ph type="ctrTitle"/>
          </p:nvPr>
        </p:nvSpPr>
        <p:spPr>
          <a:xfrm>
            <a:off x="1517904" y="1517904"/>
            <a:ext cx="9144000" cy="2798064"/>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A96B1FA-5AE6-4D57-B37B-4AA0216007F8}"/>
              </a:ext>
            </a:extLst>
          </p:cNvPr>
          <p:cNvSpPr>
            <a:spLocks noGrp="1"/>
          </p:cNvSpPr>
          <p:nvPr>
            <p:ph type="subTitle" idx="1"/>
          </p:nvPr>
        </p:nvSpPr>
        <p:spPr>
          <a:xfrm>
            <a:off x="1517904" y="4572000"/>
            <a:ext cx="9144000" cy="1527048"/>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a:extLst>
              <a:ext uri="{FF2B5EF4-FFF2-40B4-BE49-F238E27FC236}">
                <a16:creationId xmlns:a16="http://schemas.microsoft.com/office/drawing/2014/main" id="{01F49B66-DBC3-45EE-A6E1-DE10A6C186C8}"/>
              </a:ext>
            </a:extLst>
          </p:cNvPr>
          <p:cNvSpPr>
            <a:spLocks noGrp="1"/>
          </p:cNvSpPr>
          <p:nvPr>
            <p:ph type="dt" sz="half" idx="10"/>
          </p:nvPr>
        </p:nvSpPr>
        <p:spPr/>
        <p:txBody>
          <a:bodyPr/>
          <a:lstStyle/>
          <a:p>
            <a:pPr algn="r"/>
            <a:fld id="{3F9AFA87-1417-4992-ABD9-27C3BC8CC883}" type="datetimeFigureOut">
              <a:rPr lang="en-US" smtClean="0"/>
              <a:pPr algn="r"/>
              <a:t>10/19/2023</a:t>
            </a:fld>
            <a:endParaRPr lang="en-US" dirty="0"/>
          </a:p>
        </p:txBody>
      </p:sp>
      <p:sp>
        <p:nvSpPr>
          <p:cNvPr id="8" name="Footer Placeholder 7">
            <a:extLst>
              <a:ext uri="{FF2B5EF4-FFF2-40B4-BE49-F238E27FC236}">
                <a16:creationId xmlns:a16="http://schemas.microsoft.com/office/drawing/2014/main" id="{241085F0-1967-4B4F-9824-58E9F2E05125}"/>
              </a:ext>
            </a:extLst>
          </p:cNvPr>
          <p:cNvSpPr>
            <a:spLocks noGrp="1"/>
          </p:cNvSpPr>
          <p:nvPr>
            <p:ph type="ftr" sz="quarter" idx="11"/>
          </p:nvPr>
        </p:nvSpPr>
        <p:spPr/>
        <p:txBody>
          <a:bodyPr/>
          <a:lstStyle/>
          <a:p>
            <a:endParaRPr lang="en-US" sz="1000" dirty="0"/>
          </a:p>
        </p:txBody>
      </p:sp>
      <p:sp>
        <p:nvSpPr>
          <p:cNvPr id="9" name="Slide Number Placeholder 8">
            <a:extLst>
              <a:ext uri="{FF2B5EF4-FFF2-40B4-BE49-F238E27FC236}">
                <a16:creationId xmlns:a16="http://schemas.microsoft.com/office/drawing/2014/main" id="{40AEDEE5-31B5-4868-8C16-47FF43E276A4}"/>
              </a:ext>
            </a:extLst>
          </p:cNvPr>
          <p:cNvSpPr>
            <a:spLocks noGrp="1"/>
          </p:cNvSpPr>
          <p:nvPr>
            <p:ph type="sldNum" sz="quarter" idx="12"/>
          </p:nvPr>
        </p:nvSpPr>
        <p:spPr/>
        <p:txBody>
          <a:bodyPr/>
          <a:lstStyle/>
          <a:p>
            <a:fld id="{CB1E4CB7-CB13-4810-BF18-BE31AFC64F93}" type="slidenum">
              <a:rPr lang="en-US" smtClean="0"/>
              <a:pPr/>
              <a:t>‹#›</a:t>
            </a:fld>
            <a:endParaRPr lang="en-US" sz="1000" dirty="0"/>
          </a:p>
        </p:txBody>
      </p:sp>
    </p:spTree>
    <p:extLst>
      <p:ext uri="{BB962C8B-B14F-4D97-AF65-F5344CB8AC3E}">
        <p14:creationId xmlns:p14="http://schemas.microsoft.com/office/powerpoint/2010/main" val="1384003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5BB2-C09C-49B0-BAFA-DE1801CD3E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A47C21-944D-47FE-9519-A255188371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7CE36D-6B7B-4D5E-831E-34A4286D6E6A}"/>
              </a:ext>
            </a:extLst>
          </p:cNvPr>
          <p:cNvSpPr>
            <a:spLocks noGrp="1"/>
          </p:cNvSpPr>
          <p:nvPr>
            <p:ph type="dt" sz="half" idx="10"/>
          </p:nvPr>
        </p:nvSpPr>
        <p:spPr/>
        <p:txBody>
          <a:bodyPr/>
          <a:lstStyle/>
          <a:p>
            <a:fld id="{3F9AFA87-1417-4992-ABD9-27C3BC8CC883}" type="datetimeFigureOut">
              <a:rPr lang="en-US" smtClean="0"/>
              <a:t>10/19/2023</a:t>
            </a:fld>
            <a:endParaRPr lang="en-US"/>
          </a:p>
        </p:txBody>
      </p:sp>
      <p:sp>
        <p:nvSpPr>
          <p:cNvPr id="5" name="Footer Placeholder 4">
            <a:extLst>
              <a:ext uri="{FF2B5EF4-FFF2-40B4-BE49-F238E27FC236}">
                <a16:creationId xmlns:a16="http://schemas.microsoft.com/office/drawing/2014/main" id="{BA2AD668-6E19-425C-88F7-AF4220662C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905C53-CF7C-4936-9E35-1BEBD683626E}"/>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100695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46C78-A717-4E1F-A742-FD5AECA03B4B}"/>
              </a:ext>
            </a:extLst>
          </p:cNvPr>
          <p:cNvSpPr>
            <a:spLocks noGrp="1"/>
          </p:cNvSpPr>
          <p:nvPr>
            <p:ph type="title"/>
          </p:nvPr>
        </p:nvSpPr>
        <p:spPr>
          <a:xfrm>
            <a:off x="1517904" y="1517904"/>
            <a:ext cx="9144000"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DA1270D-CCAE-4437-A0C0-052D111DFC80}"/>
              </a:ext>
            </a:extLst>
          </p:cNvPr>
          <p:cNvSpPr>
            <a:spLocks noGrp="1"/>
          </p:cNvSpPr>
          <p:nvPr>
            <p:ph type="body" idx="1"/>
          </p:nvPr>
        </p:nvSpPr>
        <p:spPr>
          <a:xfrm>
            <a:off x="1517904" y="4572000"/>
            <a:ext cx="91440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9F006A-7EEE-4DB0-8F92-D34C0D46C38E}"/>
              </a:ext>
            </a:extLst>
          </p:cNvPr>
          <p:cNvSpPr>
            <a:spLocks noGrp="1"/>
          </p:cNvSpPr>
          <p:nvPr>
            <p:ph type="dt" sz="half" idx="10"/>
          </p:nvPr>
        </p:nvSpPr>
        <p:spPr/>
        <p:txBody>
          <a:bodyPr/>
          <a:lstStyle/>
          <a:p>
            <a:fld id="{3F9AFA87-1417-4992-ABD9-27C3BC8CC883}" type="datetimeFigureOut">
              <a:rPr lang="en-US" smtClean="0"/>
              <a:t>10/19/2023</a:t>
            </a:fld>
            <a:endParaRPr lang="en-US"/>
          </a:p>
        </p:txBody>
      </p:sp>
      <p:sp>
        <p:nvSpPr>
          <p:cNvPr id="5" name="Footer Placeholder 4">
            <a:extLst>
              <a:ext uri="{FF2B5EF4-FFF2-40B4-BE49-F238E27FC236}">
                <a16:creationId xmlns:a16="http://schemas.microsoft.com/office/drawing/2014/main" id="{FDA3F2ED-2B0E-44A9-8603-286CA06345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4D801C-6B4E-40B6-9D6E-558192264D2E}"/>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4103670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446AA-9418-4C3E-901B-8E2806122E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997482-2CA6-4707-976E-6FD4B57BFE66}"/>
              </a:ext>
            </a:extLst>
          </p:cNvPr>
          <p:cNvSpPr>
            <a:spLocks noGrp="1"/>
          </p:cNvSpPr>
          <p:nvPr>
            <p:ph sz="half" idx="1"/>
          </p:nvPr>
        </p:nvSpPr>
        <p:spPr>
          <a:xfrm>
            <a:off x="1517904" y="2980944"/>
            <a:ext cx="4334256"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909652-DD12-479C-B639-9452CBA8C019}"/>
              </a:ext>
            </a:extLst>
          </p:cNvPr>
          <p:cNvSpPr>
            <a:spLocks noGrp="1"/>
          </p:cNvSpPr>
          <p:nvPr>
            <p:ph sz="half" idx="2"/>
          </p:nvPr>
        </p:nvSpPr>
        <p:spPr>
          <a:xfrm>
            <a:off x="6336792" y="2980944"/>
            <a:ext cx="4334256"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0EC7A6-AFB1-4989-A0B4-B422D5B2C69C}"/>
              </a:ext>
            </a:extLst>
          </p:cNvPr>
          <p:cNvSpPr>
            <a:spLocks noGrp="1"/>
          </p:cNvSpPr>
          <p:nvPr>
            <p:ph type="dt" sz="half" idx="10"/>
          </p:nvPr>
        </p:nvSpPr>
        <p:spPr/>
        <p:txBody>
          <a:bodyPr/>
          <a:lstStyle/>
          <a:p>
            <a:fld id="{3F9AFA87-1417-4992-ABD9-27C3BC8CC883}" type="datetimeFigureOut">
              <a:rPr lang="en-US" smtClean="0"/>
              <a:t>10/19/2023</a:t>
            </a:fld>
            <a:endParaRPr lang="en-US" dirty="0"/>
          </a:p>
        </p:txBody>
      </p:sp>
      <p:sp>
        <p:nvSpPr>
          <p:cNvPr id="6" name="Footer Placeholder 5">
            <a:extLst>
              <a:ext uri="{FF2B5EF4-FFF2-40B4-BE49-F238E27FC236}">
                <a16:creationId xmlns:a16="http://schemas.microsoft.com/office/drawing/2014/main" id="{F8D2117C-B497-4647-A66B-1887750FB53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9E8C7AF-5092-416B-B61C-F41D3C573E0C}"/>
              </a:ext>
            </a:extLst>
          </p:cNvPr>
          <p:cNvSpPr>
            <a:spLocks noGrp="1"/>
          </p:cNvSpPr>
          <p:nvPr>
            <p:ph type="sldNum" sz="quarter" idx="12"/>
          </p:nvPr>
        </p:nvSpPr>
        <p:spPr/>
        <p:txBody>
          <a:bodyPr/>
          <a:lstStyle/>
          <a:p>
            <a:fld id="{CB1E4CB7-CB13-4810-BF18-BE31AFC64F93}" type="slidenum">
              <a:rPr lang="en-US" smtClean="0"/>
              <a:t>‹#›</a:t>
            </a:fld>
            <a:endParaRPr lang="en-US" dirty="0"/>
          </a:p>
        </p:txBody>
      </p:sp>
    </p:spTree>
    <p:extLst>
      <p:ext uri="{BB962C8B-B14F-4D97-AF65-F5344CB8AC3E}">
        <p14:creationId xmlns:p14="http://schemas.microsoft.com/office/powerpoint/2010/main" val="2566429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90CDE0-3FEB-42A0-8BCC-7DADE7D4A621}"/>
              </a:ext>
            </a:extLst>
          </p:cNvPr>
          <p:cNvSpPr>
            <a:spLocks noGrp="1"/>
          </p:cNvSpPr>
          <p:nvPr>
            <p:ph type="body" idx="1"/>
          </p:nvPr>
        </p:nvSpPr>
        <p:spPr>
          <a:xfrm>
            <a:off x="1517905" y="2944368"/>
            <a:ext cx="4334256"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778B8B-E9A3-44BE-85A6-3E316659A9B4}"/>
              </a:ext>
            </a:extLst>
          </p:cNvPr>
          <p:cNvSpPr>
            <a:spLocks noGrp="1"/>
          </p:cNvSpPr>
          <p:nvPr>
            <p:ph sz="half" idx="2"/>
          </p:nvPr>
        </p:nvSpPr>
        <p:spPr>
          <a:xfrm>
            <a:off x="1517904" y="3644987"/>
            <a:ext cx="4334256" cy="2449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0BF1BCA-A435-4779-A6FE-15207141F519}"/>
              </a:ext>
            </a:extLst>
          </p:cNvPr>
          <p:cNvSpPr>
            <a:spLocks noGrp="1"/>
          </p:cNvSpPr>
          <p:nvPr>
            <p:ph type="body" sz="quarter" idx="3"/>
          </p:nvPr>
        </p:nvSpPr>
        <p:spPr>
          <a:xfrm>
            <a:off x="6336792" y="2944368"/>
            <a:ext cx="4334256"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9B1923-9749-49E3-88FA-75C326E6719A}"/>
              </a:ext>
            </a:extLst>
          </p:cNvPr>
          <p:cNvSpPr>
            <a:spLocks noGrp="1"/>
          </p:cNvSpPr>
          <p:nvPr>
            <p:ph sz="quarter" idx="4"/>
          </p:nvPr>
        </p:nvSpPr>
        <p:spPr>
          <a:xfrm>
            <a:off x="6336792" y="3644987"/>
            <a:ext cx="4334256" cy="2449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F3A70F0-5AFA-4C5A-812B-220C6A38DB6B}"/>
              </a:ext>
            </a:extLst>
          </p:cNvPr>
          <p:cNvSpPr>
            <a:spLocks noGrp="1"/>
          </p:cNvSpPr>
          <p:nvPr>
            <p:ph type="dt" sz="half" idx="10"/>
          </p:nvPr>
        </p:nvSpPr>
        <p:spPr/>
        <p:txBody>
          <a:bodyPr/>
          <a:lstStyle/>
          <a:p>
            <a:fld id="{3F9AFA87-1417-4992-ABD9-27C3BC8CC883}" type="datetimeFigureOut">
              <a:rPr lang="en-US" smtClean="0"/>
              <a:t>10/19/2023</a:t>
            </a:fld>
            <a:endParaRPr lang="en-US"/>
          </a:p>
        </p:txBody>
      </p:sp>
      <p:sp>
        <p:nvSpPr>
          <p:cNvPr id="8" name="Footer Placeholder 7">
            <a:extLst>
              <a:ext uri="{FF2B5EF4-FFF2-40B4-BE49-F238E27FC236}">
                <a16:creationId xmlns:a16="http://schemas.microsoft.com/office/drawing/2014/main" id="{576AF721-83FE-4B57-B910-C395D23FDE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6A5893-52F1-44A1-AE8E-CF094DB41CFA}"/>
              </a:ext>
            </a:extLst>
          </p:cNvPr>
          <p:cNvSpPr>
            <a:spLocks noGrp="1"/>
          </p:cNvSpPr>
          <p:nvPr>
            <p:ph type="sldNum" sz="quarter" idx="12"/>
          </p:nvPr>
        </p:nvSpPr>
        <p:spPr/>
        <p:txBody>
          <a:bodyPr/>
          <a:lstStyle/>
          <a:p>
            <a:fld id="{CB1E4CB7-CB13-4810-BF18-BE31AFC64F93}" type="slidenum">
              <a:rPr lang="en-US" smtClean="0"/>
              <a:t>‹#›</a:t>
            </a:fld>
            <a:endParaRPr lang="en-US"/>
          </a:p>
        </p:txBody>
      </p:sp>
      <p:sp>
        <p:nvSpPr>
          <p:cNvPr id="10" name="Title 9">
            <a:extLst>
              <a:ext uri="{FF2B5EF4-FFF2-40B4-BE49-F238E27FC236}">
                <a16:creationId xmlns:a16="http://schemas.microsoft.com/office/drawing/2014/main" id="{D9D22302-83E3-4E22-93DF-1E5D463B64C3}"/>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856338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D85A6-A4E6-4160-BE43-8146A989464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A24A80-0792-4B3B-BB5A-8B2BD91095A7}"/>
              </a:ext>
            </a:extLst>
          </p:cNvPr>
          <p:cNvSpPr>
            <a:spLocks noGrp="1"/>
          </p:cNvSpPr>
          <p:nvPr>
            <p:ph type="dt" sz="half" idx="10"/>
          </p:nvPr>
        </p:nvSpPr>
        <p:spPr/>
        <p:txBody>
          <a:bodyPr/>
          <a:lstStyle/>
          <a:p>
            <a:fld id="{3F9AFA87-1417-4992-ABD9-27C3BC8CC883}" type="datetimeFigureOut">
              <a:rPr lang="en-US" smtClean="0"/>
              <a:t>10/19/2023</a:t>
            </a:fld>
            <a:endParaRPr lang="en-US"/>
          </a:p>
        </p:txBody>
      </p:sp>
      <p:sp>
        <p:nvSpPr>
          <p:cNvPr id="4" name="Footer Placeholder 3">
            <a:extLst>
              <a:ext uri="{FF2B5EF4-FFF2-40B4-BE49-F238E27FC236}">
                <a16:creationId xmlns:a16="http://schemas.microsoft.com/office/drawing/2014/main" id="{4526116E-7A6D-485F-9FA2-25F94D4F40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09ADCC-C5F2-4D90-B153-93DF55858291}"/>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3093579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862271-51F6-4122-9709-D279042F8846}"/>
              </a:ext>
            </a:extLst>
          </p:cNvPr>
          <p:cNvSpPr>
            <a:spLocks noGrp="1"/>
          </p:cNvSpPr>
          <p:nvPr>
            <p:ph type="dt" sz="half" idx="10"/>
          </p:nvPr>
        </p:nvSpPr>
        <p:spPr/>
        <p:txBody>
          <a:bodyPr/>
          <a:lstStyle/>
          <a:p>
            <a:fld id="{3F9AFA87-1417-4992-ABD9-27C3BC8CC883}" type="datetimeFigureOut">
              <a:rPr lang="en-US" smtClean="0"/>
              <a:t>10/19/2023</a:t>
            </a:fld>
            <a:endParaRPr lang="en-US"/>
          </a:p>
        </p:txBody>
      </p:sp>
      <p:sp>
        <p:nvSpPr>
          <p:cNvPr id="3" name="Footer Placeholder 2">
            <a:extLst>
              <a:ext uri="{FF2B5EF4-FFF2-40B4-BE49-F238E27FC236}">
                <a16:creationId xmlns:a16="http://schemas.microsoft.com/office/drawing/2014/main" id="{452CFE08-03FE-487B-8963-9FAD3049CF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935A50-18AE-4CB1-BB10-1CBDD8A7C2C4}"/>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3985411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1F683-796D-458C-9B32-A385D604DBFC}"/>
              </a:ext>
            </a:extLst>
          </p:cNvPr>
          <p:cNvSpPr>
            <a:spLocks noGrp="1"/>
          </p:cNvSpPr>
          <p:nvPr>
            <p:ph type="title"/>
          </p:nvPr>
        </p:nvSpPr>
        <p:spPr>
          <a:xfrm>
            <a:off x="1517904" y="1517904"/>
            <a:ext cx="3145536" cy="1792224"/>
          </a:xfrm>
        </p:spPr>
        <p:txBody>
          <a:bodyPr anchor="b">
            <a:normAutofit/>
          </a:bodyPr>
          <a:lstStyle>
            <a:lvl1pPr>
              <a:lnSpc>
                <a:spcPct val="100000"/>
              </a:lnSpc>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FB1F0BD-641B-4148-BCB3-2704218C80B8}"/>
              </a:ext>
            </a:extLst>
          </p:cNvPr>
          <p:cNvSpPr>
            <a:spLocks noGrp="1"/>
          </p:cNvSpPr>
          <p:nvPr>
            <p:ph idx="1"/>
          </p:nvPr>
        </p:nvSpPr>
        <p:spPr>
          <a:xfrm>
            <a:off x="5330952" y="1517904"/>
            <a:ext cx="5330952" cy="45811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B28C843-B846-4456-9720-71B7D4FF4062}"/>
              </a:ext>
            </a:extLst>
          </p:cNvPr>
          <p:cNvSpPr>
            <a:spLocks noGrp="1"/>
          </p:cNvSpPr>
          <p:nvPr>
            <p:ph type="body" sz="half" idx="2"/>
          </p:nvPr>
        </p:nvSpPr>
        <p:spPr>
          <a:xfrm>
            <a:off x="1517904" y="3483864"/>
            <a:ext cx="3145536" cy="2615184"/>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3A3A03-31BD-4E7E-879A-A1C71849703C}"/>
              </a:ext>
            </a:extLst>
          </p:cNvPr>
          <p:cNvSpPr>
            <a:spLocks noGrp="1"/>
          </p:cNvSpPr>
          <p:nvPr>
            <p:ph type="dt" sz="half" idx="10"/>
          </p:nvPr>
        </p:nvSpPr>
        <p:spPr/>
        <p:txBody>
          <a:bodyPr/>
          <a:lstStyle/>
          <a:p>
            <a:fld id="{3F9AFA87-1417-4992-ABD9-27C3BC8CC883}" type="datetimeFigureOut">
              <a:rPr lang="en-US" smtClean="0"/>
              <a:t>10/19/2023</a:t>
            </a:fld>
            <a:endParaRPr lang="en-US"/>
          </a:p>
        </p:txBody>
      </p:sp>
      <p:sp>
        <p:nvSpPr>
          <p:cNvPr id="6" name="Footer Placeholder 5">
            <a:extLst>
              <a:ext uri="{FF2B5EF4-FFF2-40B4-BE49-F238E27FC236}">
                <a16:creationId xmlns:a16="http://schemas.microsoft.com/office/drawing/2014/main" id="{4EA39078-7D38-4851-A363-B6BC179A50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1FF25E-A25D-47AA-94EB-580A74F01F1F}"/>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503213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E83B4-9B31-4F73-9767-163636522F3A}"/>
              </a:ext>
            </a:extLst>
          </p:cNvPr>
          <p:cNvSpPr>
            <a:spLocks noGrp="1"/>
          </p:cNvSpPr>
          <p:nvPr>
            <p:ph type="title"/>
          </p:nvPr>
        </p:nvSpPr>
        <p:spPr>
          <a:xfrm>
            <a:off x="1517904" y="1517904"/>
            <a:ext cx="3145536" cy="1792224"/>
          </a:xfrm>
        </p:spPr>
        <p:txBody>
          <a:bodyPr anchor="b">
            <a:normAutofit/>
          </a:bodyPr>
          <a:lstStyle>
            <a:lvl1pPr>
              <a:lnSpc>
                <a:spcPct val="100000"/>
              </a:lnSpc>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BC7CFC30-8163-47A0-A97F-3F2C3A3BE73A}"/>
              </a:ext>
            </a:extLst>
          </p:cNvPr>
          <p:cNvSpPr>
            <a:spLocks noGrp="1"/>
          </p:cNvSpPr>
          <p:nvPr>
            <p:ph type="pic" idx="1"/>
          </p:nvPr>
        </p:nvSpPr>
        <p:spPr>
          <a:xfrm>
            <a:off x="5349240" y="764032"/>
            <a:ext cx="6089904" cy="5330952"/>
          </a:xfrm>
          <a:solidFill>
            <a:schemeClr val="bg1">
              <a:lumMod val="9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AF1B390-0C23-466E-987C-26420A5F098D}"/>
              </a:ext>
            </a:extLst>
          </p:cNvPr>
          <p:cNvSpPr>
            <a:spLocks noGrp="1"/>
          </p:cNvSpPr>
          <p:nvPr>
            <p:ph type="body" sz="half" idx="2"/>
          </p:nvPr>
        </p:nvSpPr>
        <p:spPr>
          <a:xfrm>
            <a:off x="1517904" y="3483864"/>
            <a:ext cx="3145536" cy="2615184"/>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C9CA7C-B9D0-4A72-8061-1E02AA15FE86}"/>
              </a:ext>
            </a:extLst>
          </p:cNvPr>
          <p:cNvSpPr>
            <a:spLocks noGrp="1"/>
          </p:cNvSpPr>
          <p:nvPr>
            <p:ph type="dt" sz="half" idx="10"/>
          </p:nvPr>
        </p:nvSpPr>
        <p:spPr/>
        <p:txBody>
          <a:bodyPr/>
          <a:lstStyle/>
          <a:p>
            <a:fld id="{3F9AFA87-1417-4992-ABD9-27C3BC8CC883}" type="datetimeFigureOut">
              <a:rPr lang="en-US" smtClean="0"/>
              <a:t>10/19/2023</a:t>
            </a:fld>
            <a:endParaRPr lang="en-US"/>
          </a:p>
        </p:txBody>
      </p:sp>
      <p:sp>
        <p:nvSpPr>
          <p:cNvPr id="6" name="Footer Placeholder 5">
            <a:extLst>
              <a:ext uri="{FF2B5EF4-FFF2-40B4-BE49-F238E27FC236}">
                <a16:creationId xmlns:a16="http://schemas.microsoft.com/office/drawing/2014/main" id="{C53EFC84-C9FE-4BFA-9B4E-4516A13625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01A469-3EFC-4F94-8482-378582E1C14F}"/>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651638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F9454-6F74-46A8-B299-4AF451BFB928}"/>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6F55CA9-A0BD-4609-9307-BAF987B262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25E4293-851E-4FA2-BFF2-B646A42369DE}"/>
              </a:ext>
            </a:extLst>
          </p:cNvPr>
          <p:cNvSpPr>
            <a:spLocks noGrp="1"/>
          </p:cNvSpPr>
          <p:nvPr>
            <p:ph type="dt" sz="half" idx="10"/>
          </p:nvPr>
        </p:nvSpPr>
        <p:spPr/>
        <p:txBody>
          <a:bodyPr/>
          <a:lstStyle/>
          <a:p>
            <a:fld id="{3F9AFA87-1417-4992-ABD9-27C3BC8CC883}" type="datetimeFigureOut">
              <a:rPr lang="en-US" smtClean="0"/>
              <a:t>10/19/2023</a:t>
            </a:fld>
            <a:endParaRPr lang="en-US"/>
          </a:p>
        </p:txBody>
      </p:sp>
      <p:sp>
        <p:nvSpPr>
          <p:cNvPr id="5" name="Footer Placeholder 4">
            <a:extLst>
              <a:ext uri="{FF2B5EF4-FFF2-40B4-BE49-F238E27FC236}">
                <a16:creationId xmlns:a16="http://schemas.microsoft.com/office/drawing/2014/main" id="{59A907F5-F26D-4A91-8D70-AB54F8B43D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8ACBD8-D942-449E-A2B8-358CD1365C0A}"/>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549658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A50897-0C2E-420B-9A38-A8D5C1D72786}"/>
              </a:ext>
            </a:extLst>
          </p:cNvPr>
          <p:cNvSpPr>
            <a:spLocks noGrp="1"/>
          </p:cNvSpPr>
          <p:nvPr>
            <p:ph type="title" orient="vert"/>
          </p:nvPr>
        </p:nvSpPr>
        <p:spPr>
          <a:xfrm>
            <a:off x="8450317" y="1517904"/>
            <a:ext cx="2220731" cy="454678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EDB2173-32A5-4677-A08F-DAB8FD430D1A}"/>
              </a:ext>
            </a:extLst>
          </p:cNvPr>
          <p:cNvSpPr>
            <a:spLocks noGrp="1"/>
          </p:cNvSpPr>
          <p:nvPr>
            <p:ph type="body" orient="vert" idx="1"/>
          </p:nvPr>
        </p:nvSpPr>
        <p:spPr>
          <a:xfrm>
            <a:off x="1517904" y="1517904"/>
            <a:ext cx="6562553" cy="454678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3DB124D-B801-4A6A-9DAF-EBC1B98FE4F7}"/>
              </a:ext>
            </a:extLst>
          </p:cNvPr>
          <p:cNvSpPr>
            <a:spLocks noGrp="1"/>
          </p:cNvSpPr>
          <p:nvPr>
            <p:ph type="dt" sz="half" idx="10"/>
          </p:nvPr>
        </p:nvSpPr>
        <p:spPr/>
        <p:txBody>
          <a:bodyPr/>
          <a:lstStyle/>
          <a:p>
            <a:fld id="{3F9AFA87-1417-4992-ABD9-27C3BC8CC883}" type="datetimeFigureOut">
              <a:rPr lang="en-US" smtClean="0"/>
              <a:t>10/19/2023</a:t>
            </a:fld>
            <a:endParaRPr lang="en-US"/>
          </a:p>
        </p:txBody>
      </p:sp>
      <p:sp>
        <p:nvSpPr>
          <p:cNvPr id="5" name="Footer Placeholder 4">
            <a:extLst>
              <a:ext uri="{FF2B5EF4-FFF2-40B4-BE49-F238E27FC236}">
                <a16:creationId xmlns:a16="http://schemas.microsoft.com/office/drawing/2014/main" id="{A8DAF8DF-2544-45A5-B62B-BB7948FCCA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AC232D-131E-4BE6-8E2E-BAF5A30846D6}"/>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364503555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B1D84C-7934-4E5B-B6E4-A1D6EC299551}"/>
              </a:ext>
            </a:extLst>
          </p:cNvPr>
          <p:cNvSpPr>
            <a:spLocks noGrp="1"/>
          </p:cNvSpPr>
          <p:nvPr>
            <p:ph type="title"/>
          </p:nvPr>
        </p:nvSpPr>
        <p:spPr>
          <a:xfrm>
            <a:off x="1517904" y="1517904"/>
            <a:ext cx="9144000" cy="134416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F6A990F-40AC-447A-964A-840C94A6471A}"/>
              </a:ext>
            </a:extLst>
          </p:cNvPr>
          <p:cNvSpPr>
            <a:spLocks noGrp="1"/>
          </p:cNvSpPr>
          <p:nvPr>
            <p:ph type="body" idx="1"/>
          </p:nvPr>
        </p:nvSpPr>
        <p:spPr>
          <a:xfrm>
            <a:off x="1517904" y="2971800"/>
            <a:ext cx="9144000" cy="31272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7D832A1-FFBA-48B6-B2D0-E5414F12838B}"/>
              </a:ext>
            </a:extLst>
          </p:cNvPr>
          <p:cNvSpPr>
            <a:spLocks noGrp="1"/>
          </p:cNvSpPr>
          <p:nvPr>
            <p:ph type="dt" sz="half" idx="2"/>
          </p:nvPr>
        </p:nvSpPr>
        <p:spPr>
          <a:xfrm>
            <a:off x="8805672" y="6400800"/>
            <a:ext cx="1865376" cy="365125"/>
          </a:xfrm>
          <a:prstGeom prst="rect">
            <a:avLst/>
          </a:prstGeom>
        </p:spPr>
        <p:txBody>
          <a:bodyPr vert="horz" lIns="91440" tIns="45720" rIns="91440" bIns="45720" rtlCol="0" anchor="ctr"/>
          <a:lstStyle>
            <a:lvl1pPr algn="r">
              <a:defRPr sz="1000">
                <a:solidFill>
                  <a:schemeClr val="tx1"/>
                </a:solidFill>
              </a:defRPr>
            </a:lvl1pPr>
          </a:lstStyle>
          <a:p>
            <a:pPr algn="r"/>
            <a:fld id="{3F9AFA87-1417-4992-ABD9-27C3BC8CC883}" type="datetimeFigureOut">
              <a:rPr lang="en-US" smtClean="0"/>
              <a:pPr algn="r"/>
              <a:t>10/19/2023</a:t>
            </a:fld>
            <a:endParaRPr lang="en-US" dirty="0"/>
          </a:p>
        </p:txBody>
      </p:sp>
      <p:sp>
        <p:nvSpPr>
          <p:cNvPr id="5" name="Footer Placeholder 4">
            <a:extLst>
              <a:ext uri="{FF2B5EF4-FFF2-40B4-BE49-F238E27FC236}">
                <a16:creationId xmlns:a16="http://schemas.microsoft.com/office/drawing/2014/main" id="{0F933EC1-4EE2-4453-841C-CFDFE708948E}"/>
              </a:ext>
            </a:extLst>
          </p:cNvPr>
          <p:cNvSpPr>
            <a:spLocks noGrp="1"/>
          </p:cNvSpPr>
          <p:nvPr>
            <p:ph type="ftr" sz="quarter" idx="3"/>
          </p:nvPr>
        </p:nvSpPr>
        <p:spPr>
          <a:xfrm>
            <a:off x="758952" y="6400800"/>
            <a:ext cx="6099048" cy="365125"/>
          </a:xfrm>
          <a:prstGeom prst="rect">
            <a:avLst/>
          </a:prstGeom>
        </p:spPr>
        <p:txBody>
          <a:bodyPr vert="horz" lIns="91440" tIns="45720" rIns="91440" bIns="45720" rtlCol="0" anchor="ctr"/>
          <a:lstStyle>
            <a:lvl1pPr algn="l">
              <a:defRPr sz="1000">
                <a:solidFill>
                  <a:schemeClr val="tx1"/>
                </a:solidFill>
              </a:defRPr>
            </a:lvl1pPr>
          </a:lstStyle>
          <a:p>
            <a:endParaRPr lang="en-US" sz="1000" dirty="0"/>
          </a:p>
        </p:txBody>
      </p:sp>
      <p:sp>
        <p:nvSpPr>
          <p:cNvPr id="6" name="Slide Number Placeholder 5">
            <a:extLst>
              <a:ext uri="{FF2B5EF4-FFF2-40B4-BE49-F238E27FC236}">
                <a16:creationId xmlns:a16="http://schemas.microsoft.com/office/drawing/2014/main" id="{C3CEBA78-E732-44EF-BA0B-FC42F7931311}"/>
              </a:ext>
            </a:extLst>
          </p:cNvPr>
          <p:cNvSpPr>
            <a:spLocks noGrp="1"/>
          </p:cNvSpPr>
          <p:nvPr>
            <p:ph type="sldNum" sz="quarter" idx="4"/>
          </p:nvPr>
        </p:nvSpPr>
        <p:spPr>
          <a:xfrm>
            <a:off x="10899648" y="6400800"/>
            <a:ext cx="530352" cy="365125"/>
          </a:xfrm>
          <a:prstGeom prst="rect">
            <a:avLst/>
          </a:prstGeom>
        </p:spPr>
        <p:txBody>
          <a:bodyPr vert="horz" lIns="91440" tIns="45720" rIns="91440" bIns="45720" rtlCol="0" anchor="ctr"/>
          <a:lstStyle>
            <a:lvl1pPr algn="r">
              <a:defRPr sz="1000" b="1">
                <a:solidFill>
                  <a:schemeClr val="tx1"/>
                </a:solidFill>
              </a:defRPr>
            </a:lvl1pPr>
          </a:lstStyle>
          <a:p>
            <a:fld id="{CB1E4CB7-CB13-4810-BF18-BE31AFC64F93}" type="slidenum">
              <a:rPr lang="en-US" smtClean="0"/>
              <a:pPr/>
              <a:t>‹#›</a:t>
            </a:fld>
            <a:endParaRPr lang="en-US" sz="1000" dirty="0"/>
          </a:p>
        </p:txBody>
      </p:sp>
      <p:sp>
        <p:nvSpPr>
          <p:cNvPr id="8" name="Freeform: Shape 7">
            <a:extLst>
              <a:ext uri="{FF2B5EF4-FFF2-40B4-BE49-F238E27FC236}">
                <a16:creationId xmlns:a16="http://schemas.microsoft.com/office/drawing/2014/main" id="{49306479-8C4D-4E4A-A330-DFC80A8A01BE}"/>
              </a:ext>
            </a:extLst>
          </p:cNvPr>
          <p:cNvSpPr/>
          <p:nvPr/>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6832172"/>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p:titleStyle>
    <p:bodyStyle>
      <a:lvl1pPr marL="365760" indent="-365760" algn="l" defTabSz="914400" rtl="0" eaLnBrk="1" latinLnBrk="0" hangingPunct="1">
        <a:lnSpc>
          <a:spcPct val="105000"/>
        </a:lnSpc>
        <a:spcBef>
          <a:spcPts val="900"/>
        </a:spcBef>
        <a:buClr>
          <a:schemeClr val="accent5"/>
        </a:buClr>
        <a:buFont typeface="Avenir Next LT Pro" panose="020B0504020202020204" pitchFamily="34" charset="0"/>
        <a:buChar char="+"/>
        <a:defRPr sz="2600" kern="1200">
          <a:solidFill>
            <a:schemeClr val="tx1"/>
          </a:solidFill>
          <a:latin typeface="+mn-lt"/>
          <a:ea typeface="+mn-ea"/>
          <a:cs typeface="+mn-cs"/>
        </a:defRPr>
      </a:lvl1pPr>
      <a:lvl2pPr marL="365760" indent="0" algn="l" defTabSz="914400" rtl="0" eaLnBrk="1" latinLnBrk="0" hangingPunct="1">
        <a:lnSpc>
          <a:spcPct val="105000"/>
        </a:lnSpc>
        <a:spcBef>
          <a:spcPts val="9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640080"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2000" kern="1200">
          <a:solidFill>
            <a:schemeClr val="tx1"/>
          </a:solidFill>
          <a:latin typeface="+mn-lt"/>
          <a:ea typeface="+mn-ea"/>
          <a:cs typeface="+mn-cs"/>
        </a:defRPr>
      </a:lvl3pPr>
      <a:lvl4pPr marL="640080" indent="0" algn="l" defTabSz="914400" rtl="0" eaLnBrk="1" latinLnBrk="0" hangingPunct="1">
        <a:lnSpc>
          <a:spcPct val="105000"/>
        </a:lnSpc>
        <a:spcBef>
          <a:spcPts val="600"/>
        </a:spcBef>
        <a:buFontTx/>
        <a:buNone/>
        <a:defRPr sz="1800" i="1" kern="1200">
          <a:solidFill>
            <a:schemeClr val="tx1">
              <a:lumMod val="75000"/>
              <a:lumOff val="25000"/>
            </a:schemeClr>
          </a:solidFill>
          <a:latin typeface="+mn-lt"/>
          <a:ea typeface="+mn-ea"/>
          <a:cs typeface="+mn-cs"/>
        </a:defRPr>
      </a:lvl4pPr>
      <a:lvl5pPr marL="886968"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5000"/>
              <a:t>BIR JINSLI TENGLAMALAR SISTEMASI</a:t>
            </a:r>
          </a:p>
        </p:txBody>
      </p:sp>
      <p:sp>
        <p:nvSpPr>
          <p:cNvPr id="3" name="Subtitle 2"/>
          <p:cNvSpPr>
            <a:spLocks noGrp="1"/>
          </p:cNvSpPr>
          <p:nvPr>
            <p:ph type="subTitle" idx="1"/>
          </p:nvPr>
        </p:nvSpPr>
        <p:spPr/>
        <p:txBody>
          <a:bodyPr/>
          <a:lstStyle/>
          <a:p>
            <a:r>
              <a:t>Boboqulov Aslbek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Reja</a:t>
            </a:r>
          </a:p>
        </p:txBody>
      </p:sp>
      <p:sp>
        <p:nvSpPr>
          <p:cNvPr id="3" name="Content Placeholder 2"/>
          <p:cNvSpPr>
            <a:spLocks noGrp="1"/>
          </p:cNvSpPr>
          <p:nvPr>
            <p:ph idx="1"/>
          </p:nvPr>
        </p:nvSpPr>
        <p:spPr/>
        <p:txBody>
          <a:bodyPr/>
          <a:lstStyle/>
          <a:p>
            <a:r>
              <a:rPr sz="2000"/>
              <a:t>Bir jinsli tenglamalar sistemasining asosiy tushunchalari va ularning matematik ahamiyati</a:t>
            </a:r>
          </a:p>
          <a:p>
            <a:r>
              <a:rPr sz="2000"/>
              <a:t>Homogeneous tenglamalar sistemasining yechimlari va ularning xususiyatlari</a:t>
            </a:r>
          </a:p>
          <a:p>
            <a:r>
              <a:rPr sz="2000"/>
              <a:t>Lineer algebra va Bir jinsli tenglamalar sistemasida yechim topish usullari</a:t>
            </a:r>
          </a:p>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Bir jinsli tenglamalar sistemining asosiy tushunchalari va ularning matematik asoslari</a:t>
            </a:r>
          </a:p>
        </p:txBody>
      </p:sp>
      <p:sp>
        <p:nvSpPr>
          <p:cNvPr id="3" name="Rounded Rectangle 2"/>
          <p:cNvSpPr/>
          <p:nvPr/>
        </p:nvSpPr>
        <p:spPr>
          <a:xfrm>
            <a:off x="1981200" y="2286000"/>
            <a:ext cx="8229600" cy="1188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64080" y="2468880"/>
            <a:ext cx="7863840" cy="274320"/>
          </a:xfrm>
          <a:prstGeom prst="rect">
            <a:avLst/>
          </a:prstGeom>
          <a:noFill/>
        </p:spPr>
        <p:txBody>
          <a:bodyPr wrap="square">
            <a:spAutoFit/>
          </a:bodyPr>
          <a:lstStyle/>
          <a:p>
            <a:r>
              <a:rPr b="1" sz="1600"/>
              <a:t>Tenglama tizimi</a:t>
            </a:r>
          </a:p>
        </p:txBody>
      </p:sp>
      <p:sp>
        <p:nvSpPr>
          <p:cNvPr id="5" name="TextBox 4"/>
          <p:cNvSpPr txBox="1"/>
          <p:nvPr/>
        </p:nvSpPr>
        <p:spPr>
          <a:xfrm>
            <a:off x="2164080" y="2743200"/>
            <a:ext cx="7863840" cy="731520"/>
          </a:xfrm>
          <a:prstGeom prst="rect">
            <a:avLst/>
          </a:prstGeom>
          <a:noFill/>
        </p:spPr>
        <p:txBody>
          <a:bodyPr wrap="square">
            <a:spAutoFit/>
          </a:bodyPr>
          <a:lstStyle/>
          <a:p>
            <a:r>
              <a:rPr b="0" sz="1400"/>
              <a:t>Bir jinsli tenglamalar sistemi, bir xil o'zgaruvchilar va tenglamalardan tashkil topgan, lineer algebra asosida yechimlarni topishga imkon beradigan matematik strukturadir.</a:t>
            </a:r>
          </a:p>
        </p:txBody>
      </p:sp>
      <p:sp>
        <p:nvSpPr>
          <p:cNvPr id="6" name="Rounded Rectangle 5"/>
          <p:cNvSpPr/>
          <p:nvPr/>
        </p:nvSpPr>
        <p:spPr>
          <a:xfrm>
            <a:off x="1981200" y="3657600"/>
            <a:ext cx="8229600" cy="1188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64080" y="3840480"/>
            <a:ext cx="7863840" cy="274320"/>
          </a:xfrm>
          <a:prstGeom prst="rect">
            <a:avLst/>
          </a:prstGeom>
          <a:noFill/>
        </p:spPr>
        <p:txBody>
          <a:bodyPr wrap="square">
            <a:spAutoFit/>
          </a:bodyPr>
          <a:lstStyle/>
          <a:p>
            <a:r>
              <a:rPr b="1" sz="1600"/>
              <a:t>Matematik asoslar</a:t>
            </a:r>
          </a:p>
        </p:txBody>
      </p:sp>
      <p:sp>
        <p:nvSpPr>
          <p:cNvPr id="8" name="TextBox 7"/>
          <p:cNvSpPr txBox="1"/>
          <p:nvPr/>
        </p:nvSpPr>
        <p:spPr>
          <a:xfrm>
            <a:off x="2164080" y="4114800"/>
            <a:ext cx="7863840" cy="731520"/>
          </a:xfrm>
          <a:prstGeom prst="rect">
            <a:avLst/>
          </a:prstGeom>
          <a:noFill/>
        </p:spPr>
        <p:txBody>
          <a:bodyPr wrap="square">
            <a:spAutoFit/>
          </a:bodyPr>
          <a:lstStyle/>
          <a:p>
            <a:r>
              <a:rPr b="0" sz="1400"/>
              <a:t>Bu tizimlar lineer tenglamalar sifatida ifodalanadi, ularning yechimlari satr va ustunlardan iborat matritsalar yordamida aniqlanadi.</a:t>
            </a:r>
          </a:p>
        </p:txBody>
      </p:sp>
      <p:sp>
        <p:nvSpPr>
          <p:cNvPr id="9" name="Rounded Rectangle 8"/>
          <p:cNvSpPr/>
          <p:nvPr/>
        </p:nvSpPr>
        <p:spPr>
          <a:xfrm>
            <a:off x="1981200" y="5029200"/>
            <a:ext cx="8229600" cy="1188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64080" y="5212080"/>
            <a:ext cx="7863840" cy="274320"/>
          </a:xfrm>
          <a:prstGeom prst="rect">
            <a:avLst/>
          </a:prstGeom>
          <a:noFill/>
        </p:spPr>
        <p:txBody>
          <a:bodyPr wrap="square">
            <a:spAutoFit/>
          </a:bodyPr>
          <a:lstStyle/>
          <a:p>
            <a:r>
              <a:rPr b="1" sz="1600"/>
              <a:t>Asosiy tushunchalar</a:t>
            </a:r>
          </a:p>
        </p:txBody>
      </p:sp>
      <p:sp>
        <p:nvSpPr>
          <p:cNvPr id="11" name="TextBox 10"/>
          <p:cNvSpPr txBox="1"/>
          <p:nvPr/>
        </p:nvSpPr>
        <p:spPr>
          <a:xfrm>
            <a:off x="2164080" y="5486400"/>
            <a:ext cx="7863840" cy="731520"/>
          </a:xfrm>
          <a:prstGeom prst="rect">
            <a:avLst/>
          </a:prstGeom>
          <a:noFill/>
        </p:spPr>
        <p:txBody>
          <a:bodyPr wrap="square">
            <a:spAutoFit/>
          </a:bodyPr>
          <a:lstStyle/>
          <a:p>
            <a:r>
              <a:rPr b="0" sz="1400"/>
              <a:t>Nolinchi yechim, yakuniy va qisman yechimlar, hamda yechimlarning umumiy shakli va strukturasi bu tizimlarning muhim elementlaridir.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Homogeneous tenglamalar sistemasining xususiyatlari va uning algebraik tuzilishi</a:t>
            </a:r>
          </a:p>
        </p:txBody>
      </p:sp>
      <p:sp>
        <p:nvSpPr>
          <p:cNvPr id="3" name="Rounded Rectangle 2"/>
          <p:cNvSpPr/>
          <p:nvPr/>
        </p:nvSpPr>
        <p:spPr>
          <a:xfrm>
            <a:off x="1432560" y="3017520"/>
            <a:ext cx="457200" cy="4572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99515" y="3084475"/>
            <a:ext cx="323289" cy="323289"/>
          </a:xfrm>
          <a:prstGeom prst="rect">
            <a:avLst/>
          </a:prstGeom>
          <a:noFill/>
        </p:spPr>
        <p:txBody>
          <a:bodyPr wrap="square">
            <a:spAutoFit/>
          </a:bodyPr>
          <a:lstStyle/>
          <a:p>
            <a:r>
              <a:rPr b="0" sz="1600"/>
              <a:t>1</a:t>
            </a:r>
          </a:p>
        </p:txBody>
      </p:sp>
      <p:sp>
        <p:nvSpPr>
          <p:cNvPr id="5" name="TextBox 4"/>
          <p:cNvSpPr txBox="1"/>
          <p:nvPr/>
        </p:nvSpPr>
        <p:spPr>
          <a:xfrm>
            <a:off x="1981200" y="3108960"/>
            <a:ext cx="2468880" cy="274320"/>
          </a:xfrm>
          <a:prstGeom prst="rect">
            <a:avLst/>
          </a:prstGeom>
          <a:noFill/>
        </p:spPr>
        <p:txBody>
          <a:bodyPr wrap="square">
            <a:spAutoFit/>
          </a:bodyPr>
          <a:lstStyle/>
          <a:p>
            <a:r>
              <a:rPr b="1" sz="1600"/>
              <a:t>Homogeneous tenglamalar tuzilishi</a:t>
            </a:r>
          </a:p>
        </p:txBody>
      </p:sp>
      <p:sp>
        <p:nvSpPr>
          <p:cNvPr id="6" name="TextBox 5"/>
          <p:cNvSpPr txBox="1"/>
          <p:nvPr/>
        </p:nvSpPr>
        <p:spPr>
          <a:xfrm>
            <a:off x="1981200" y="3657600"/>
            <a:ext cx="2743200" cy="1828800"/>
          </a:xfrm>
          <a:prstGeom prst="rect">
            <a:avLst/>
          </a:prstGeom>
          <a:noFill/>
        </p:spPr>
        <p:txBody>
          <a:bodyPr wrap="square">
            <a:spAutoFit/>
          </a:bodyPr>
          <a:lstStyle/>
          <a:p>
            <a:r>
              <a:rPr b="0" sz="1400"/>
              <a:t>Homogeneous tenglamalar sistemi, barcha tenglamalar vektorlar tomonidan ifodalanadi va barchasi nol vektor bilan bog‘liq bo‘ladi. Bu sistemada nolinchi yechim doimo mavjud bo‘lib, u asosiy xususiyatlardan biridir.</a:t>
            </a:r>
          </a:p>
        </p:txBody>
      </p:sp>
      <p:sp>
        <p:nvSpPr>
          <p:cNvPr id="7" name="Rounded Rectangle 6"/>
          <p:cNvSpPr/>
          <p:nvPr/>
        </p:nvSpPr>
        <p:spPr>
          <a:xfrm>
            <a:off x="4450080" y="3017520"/>
            <a:ext cx="457200" cy="4572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17035" y="3084475"/>
            <a:ext cx="323289" cy="323289"/>
          </a:xfrm>
          <a:prstGeom prst="rect">
            <a:avLst/>
          </a:prstGeom>
          <a:noFill/>
        </p:spPr>
        <p:txBody>
          <a:bodyPr wrap="square">
            <a:spAutoFit/>
          </a:bodyPr>
          <a:lstStyle/>
          <a:p>
            <a:r>
              <a:rPr b="0" sz="1600"/>
              <a:t>2</a:t>
            </a:r>
          </a:p>
        </p:txBody>
      </p:sp>
      <p:sp>
        <p:nvSpPr>
          <p:cNvPr id="9" name="TextBox 8"/>
          <p:cNvSpPr txBox="1"/>
          <p:nvPr/>
        </p:nvSpPr>
        <p:spPr>
          <a:xfrm>
            <a:off x="4998720" y="3108960"/>
            <a:ext cx="2468880" cy="274320"/>
          </a:xfrm>
          <a:prstGeom prst="rect">
            <a:avLst/>
          </a:prstGeom>
          <a:noFill/>
        </p:spPr>
        <p:txBody>
          <a:bodyPr wrap="square">
            <a:spAutoFit/>
          </a:bodyPr>
          <a:lstStyle/>
          <a:p>
            <a:r>
              <a:rPr b="1" sz="1600"/>
              <a:t>Algebraik shakli</a:t>
            </a:r>
          </a:p>
        </p:txBody>
      </p:sp>
      <p:sp>
        <p:nvSpPr>
          <p:cNvPr id="10" name="TextBox 9"/>
          <p:cNvSpPr txBox="1"/>
          <p:nvPr/>
        </p:nvSpPr>
        <p:spPr>
          <a:xfrm>
            <a:off x="4998720" y="3657600"/>
            <a:ext cx="2743200" cy="1828800"/>
          </a:xfrm>
          <a:prstGeom prst="rect">
            <a:avLst/>
          </a:prstGeom>
          <a:noFill/>
        </p:spPr>
        <p:txBody>
          <a:bodyPr wrap="square">
            <a:spAutoFit/>
          </a:bodyPr>
          <a:lstStyle/>
          <a:p>
            <a:r>
              <a:rPr b="0" sz="1400"/>
              <a:t>Bu tenglamalar matritsa va vektorlar yordamida yoziladi, bu esa yechimlarni topishda lineer algebra metodlaridan foydalanishni osonlashtiradi. Matritsa formasi tizimning strukturasi va xususiyatlarini aniqlashda muhimdir.</a:t>
            </a:r>
          </a:p>
        </p:txBody>
      </p:sp>
      <p:sp>
        <p:nvSpPr>
          <p:cNvPr id="11" name="Rounded Rectangle 10"/>
          <p:cNvSpPr/>
          <p:nvPr/>
        </p:nvSpPr>
        <p:spPr>
          <a:xfrm>
            <a:off x="7467600" y="3017520"/>
            <a:ext cx="457200" cy="4572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34555" y="3084475"/>
            <a:ext cx="323289" cy="323289"/>
          </a:xfrm>
          <a:prstGeom prst="rect">
            <a:avLst/>
          </a:prstGeom>
          <a:noFill/>
        </p:spPr>
        <p:txBody>
          <a:bodyPr wrap="square">
            <a:spAutoFit/>
          </a:bodyPr>
          <a:lstStyle/>
          <a:p>
            <a:r>
              <a:rPr b="0" sz="1600"/>
              <a:t>3</a:t>
            </a:r>
          </a:p>
        </p:txBody>
      </p:sp>
      <p:sp>
        <p:nvSpPr>
          <p:cNvPr id="13" name="TextBox 12"/>
          <p:cNvSpPr txBox="1"/>
          <p:nvPr/>
        </p:nvSpPr>
        <p:spPr>
          <a:xfrm>
            <a:off x="8016240" y="3108960"/>
            <a:ext cx="2468880" cy="274320"/>
          </a:xfrm>
          <a:prstGeom prst="rect">
            <a:avLst/>
          </a:prstGeom>
          <a:noFill/>
        </p:spPr>
        <p:txBody>
          <a:bodyPr wrap="square">
            <a:spAutoFit/>
          </a:bodyPr>
          <a:lstStyle/>
          <a:p>
            <a:r>
              <a:rPr b="1" sz="1600"/>
              <a:t>Xususiyatlari va tuzilishi</a:t>
            </a:r>
          </a:p>
        </p:txBody>
      </p:sp>
      <p:sp>
        <p:nvSpPr>
          <p:cNvPr id="14" name="TextBox 13"/>
          <p:cNvSpPr txBox="1"/>
          <p:nvPr/>
        </p:nvSpPr>
        <p:spPr>
          <a:xfrm>
            <a:off x="8016240" y="3657600"/>
            <a:ext cx="2743200" cy="1828800"/>
          </a:xfrm>
          <a:prstGeom prst="rect">
            <a:avLst/>
          </a:prstGeom>
          <a:noFill/>
        </p:spPr>
        <p:txBody>
          <a:bodyPr wrap="square">
            <a:spAutoFit/>
          </a:bodyPr>
          <a:lstStyle/>
          <a:p>
            <a:r>
              <a:rPr b="0" sz="1400"/>
              <a:t>Homogeneous tenglamalar sistemasi lineer algebra bilan chuqur bog‘liq bo‘lib, uning yechimlari muayyan strukturalarga ega. Bu yechimlar to‘liq yoki qisman bo‘lishi mumkin, va ular sistemaning xususiyatlariga qarab farqlanadi.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Bir jinsli tenglamalar sistemalarida yechimlarning mavjudligi va ularning matematik ahamiyati</a:t>
            </a:r>
          </a:p>
        </p:txBody>
      </p:sp>
      <p:sp>
        <p:nvSpPr>
          <p:cNvPr id="3" name="Rounded Rectangle 2"/>
          <p:cNvSpPr/>
          <p:nvPr/>
        </p:nvSpPr>
        <p:spPr>
          <a:xfrm>
            <a:off x="1066800" y="2286000"/>
            <a:ext cx="10058400" cy="3474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24000" y="2743200"/>
            <a:ext cx="2286000" cy="274320"/>
          </a:xfrm>
          <a:prstGeom prst="rect">
            <a:avLst/>
          </a:prstGeom>
          <a:noFill/>
        </p:spPr>
        <p:txBody>
          <a:bodyPr wrap="square">
            <a:spAutoFit/>
          </a:bodyPr>
          <a:lstStyle/>
          <a:p>
            <a:r>
              <a:rPr b="1" sz="1600"/>
              <a:t>Yechimlarning mavjudligi</a:t>
            </a:r>
          </a:p>
        </p:txBody>
      </p:sp>
      <p:sp>
        <p:nvSpPr>
          <p:cNvPr id="5" name="TextBox 4"/>
          <p:cNvSpPr txBox="1"/>
          <p:nvPr/>
        </p:nvSpPr>
        <p:spPr>
          <a:xfrm>
            <a:off x="1524000" y="3886200"/>
            <a:ext cx="2286000" cy="274320"/>
          </a:xfrm>
          <a:prstGeom prst="rect">
            <a:avLst/>
          </a:prstGeom>
          <a:noFill/>
        </p:spPr>
        <p:txBody>
          <a:bodyPr wrap="square">
            <a:spAutoFit/>
          </a:bodyPr>
          <a:lstStyle/>
          <a:p>
            <a:r>
              <a:rPr b="1" sz="1600"/>
              <a:t>Yechimlarning ahamiyati</a:t>
            </a:r>
          </a:p>
        </p:txBody>
      </p:sp>
      <p:sp>
        <p:nvSpPr>
          <p:cNvPr id="6" name="TextBox 5"/>
          <p:cNvSpPr txBox="1"/>
          <p:nvPr/>
        </p:nvSpPr>
        <p:spPr>
          <a:xfrm>
            <a:off x="1524000" y="5029200"/>
            <a:ext cx="2286000" cy="274320"/>
          </a:xfrm>
          <a:prstGeom prst="rect">
            <a:avLst/>
          </a:prstGeom>
          <a:noFill/>
        </p:spPr>
        <p:txBody>
          <a:bodyPr wrap="square">
            <a:spAutoFit/>
          </a:bodyPr>
          <a:lstStyle/>
          <a:p>
            <a:r>
              <a:rPr b="1" sz="1600"/>
              <a:t>Yechimlarni aniqlash usullari</a:t>
            </a:r>
          </a:p>
        </p:txBody>
      </p:sp>
      <p:sp>
        <p:nvSpPr>
          <p:cNvPr id="7" name="TextBox 6"/>
          <p:cNvSpPr txBox="1"/>
          <p:nvPr/>
        </p:nvSpPr>
        <p:spPr>
          <a:xfrm>
            <a:off x="4419600" y="2560320"/>
            <a:ext cx="6431280" cy="914400"/>
          </a:xfrm>
          <a:prstGeom prst="rect">
            <a:avLst/>
          </a:prstGeom>
          <a:noFill/>
        </p:spPr>
        <p:txBody>
          <a:bodyPr wrap="square">
            <a:spAutoFit/>
          </a:bodyPr>
          <a:lstStyle/>
          <a:p>
            <a:r>
              <a:rPr b="0" sz="1400"/>
              <a:t>Bir jinsli tenglamalar sistemasida yechimlarning mavjudligi, uning konsistensiyasi va muammo talablariga muvofiqligiga bog‘liq. Bu, odatda, matritsa va determinant yordamida tekshiriladi.</a:t>
            </a:r>
          </a:p>
        </p:txBody>
      </p:sp>
      <p:sp>
        <p:nvSpPr>
          <p:cNvPr id="8" name="TextBox 7"/>
          <p:cNvSpPr txBox="1"/>
          <p:nvPr/>
        </p:nvSpPr>
        <p:spPr>
          <a:xfrm>
            <a:off x="4419600" y="3566160"/>
            <a:ext cx="6431280" cy="914400"/>
          </a:xfrm>
          <a:prstGeom prst="rect">
            <a:avLst/>
          </a:prstGeom>
          <a:noFill/>
        </p:spPr>
        <p:txBody>
          <a:bodyPr wrap="square">
            <a:spAutoFit/>
          </a:bodyPr>
          <a:lstStyle/>
          <a:p>
            <a:r>
              <a:rPr b="0" sz="1400"/>
              <a:t>Yechimlar matematik va amaliy muammolarni hal etishda muhim rol o‘ynaydi. Ular yordamida real hayotdagi muammolarni model qilish va yechim topish mumkin.</a:t>
            </a:r>
          </a:p>
        </p:txBody>
      </p:sp>
      <p:sp>
        <p:nvSpPr>
          <p:cNvPr id="9" name="TextBox 8"/>
          <p:cNvSpPr txBox="1"/>
          <p:nvPr/>
        </p:nvSpPr>
        <p:spPr>
          <a:xfrm>
            <a:off x="4419600" y="4572000"/>
            <a:ext cx="6431280" cy="914400"/>
          </a:xfrm>
          <a:prstGeom prst="rect">
            <a:avLst/>
          </a:prstGeom>
          <a:noFill/>
        </p:spPr>
        <p:txBody>
          <a:bodyPr wrap="square">
            <a:spAutoFit/>
          </a:bodyPr>
          <a:lstStyle/>
          <a:p>
            <a:r>
              <a:rPr b="0" sz="1400"/>
              <a:t>Lineer algebra usullari, jumladan, Gauss eliminatsiyasi va matritsa metodlari, sistemaning yechim mavjudligini va ularning xususiyatlarini aniqlashda keng qo‘llaniladi.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Matematika va amaliyotda bir jinsli tenglamalar sistemalarining rolini tahlil qilish</a:t>
            </a:r>
          </a:p>
        </p:txBody>
      </p:sp>
      <p:sp>
        <p:nvSpPr>
          <p:cNvPr id="3" name="Rounded Rectangle 2"/>
          <p:cNvSpPr/>
          <p:nvPr/>
        </p:nvSpPr>
        <p:spPr>
          <a:xfrm>
            <a:off x="1066800" y="2286000"/>
            <a:ext cx="10058400" cy="3474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24000" y="2743200"/>
            <a:ext cx="2286000" cy="274320"/>
          </a:xfrm>
          <a:prstGeom prst="rect">
            <a:avLst/>
          </a:prstGeom>
          <a:noFill/>
        </p:spPr>
        <p:txBody>
          <a:bodyPr wrap="square">
            <a:spAutoFit/>
          </a:bodyPr>
          <a:lstStyle/>
          <a:p>
            <a:r>
              <a:rPr b="1" sz="1600"/>
              <a:t>Tahlil va tahlil qilish</a:t>
            </a:r>
          </a:p>
        </p:txBody>
      </p:sp>
      <p:sp>
        <p:nvSpPr>
          <p:cNvPr id="5" name="TextBox 4"/>
          <p:cNvSpPr txBox="1"/>
          <p:nvPr/>
        </p:nvSpPr>
        <p:spPr>
          <a:xfrm>
            <a:off x="1524000" y="3886200"/>
            <a:ext cx="2286000" cy="274320"/>
          </a:xfrm>
          <a:prstGeom prst="rect">
            <a:avLst/>
          </a:prstGeom>
          <a:noFill/>
        </p:spPr>
        <p:txBody>
          <a:bodyPr wrap="square">
            <a:spAutoFit/>
          </a:bodyPr>
          <a:lstStyle/>
          <a:p>
            <a:r>
              <a:rPr b="1" sz="1600"/>
              <a:t>Amaliy qo‘llanmalar</a:t>
            </a:r>
          </a:p>
        </p:txBody>
      </p:sp>
      <p:sp>
        <p:nvSpPr>
          <p:cNvPr id="6" name="TextBox 5"/>
          <p:cNvSpPr txBox="1"/>
          <p:nvPr/>
        </p:nvSpPr>
        <p:spPr>
          <a:xfrm>
            <a:off x="1524000" y="5029200"/>
            <a:ext cx="2286000" cy="274320"/>
          </a:xfrm>
          <a:prstGeom prst="rect">
            <a:avLst/>
          </a:prstGeom>
          <a:noFill/>
        </p:spPr>
        <p:txBody>
          <a:bodyPr wrap="square">
            <a:spAutoFit/>
          </a:bodyPr>
          <a:lstStyle/>
          <a:p>
            <a:r>
              <a:rPr b="1" sz="1600"/>
              <a:t>Ilmiy rivojlanish</a:t>
            </a:r>
          </a:p>
        </p:txBody>
      </p:sp>
      <p:sp>
        <p:nvSpPr>
          <p:cNvPr id="7" name="TextBox 6"/>
          <p:cNvSpPr txBox="1"/>
          <p:nvPr/>
        </p:nvSpPr>
        <p:spPr>
          <a:xfrm>
            <a:off x="4419600" y="2560320"/>
            <a:ext cx="6431280" cy="914400"/>
          </a:xfrm>
          <a:prstGeom prst="rect">
            <a:avLst/>
          </a:prstGeom>
          <a:noFill/>
        </p:spPr>
        <p:txBody>
          <a:bodyPr wrap="square">
            <a:spAutoFit/>
          </a:bodyPr>
          <a:lstStyle/>
          <a:p>
            <a:r>
              <a:rPr b="0" sz="1400"/>
              <a:t>Bir jinsli tenglamalar sistemalari iqtisodiyot, muhandislik va informatika kabi sohalarda muhim rol o'ynaydi. Ular yordamida muammolarni modellashtirish va yechim topish mumkin.</a:t>
            </a:r>
          </a:p>
        </p:txBody>
      </p:sp>
      <p:sp>
        <p:nvSpPr>
          <p:cNvPr id="8" name="TextBox 7"/>
          <p:cNvSpPr txBox="1"/>
          <p:nvPr/>
        </p:nvSpPr>
        <p:spPr>
          <a:xfrm>
            <a:off x="4419600" y="3566160"/>
            <a:ext cx="6431280" cy="914400"/>
          </a:xfrm>
          <a:prstGeom prst="rect">
            <a:avLst/>
          </a:prstGeom>
          <a:noFill/>
        </p:spPr>
        <p:txBody>
          <a:bodyPr wrap="square">
            <a:spAutoFit/>
          </a:bodyPr>
          <a:lstStyle/>
          <a:p>
            <a:r>
              <a:rPr b="0" sz="1400"/>
              <a:t>Bu tenglamalar tizimlari ishlab chiqarish, logistika va iqtisodiy tahlillarda keng qo'llaniladi. Ular real dunyo muammolarini aniq va samarali hal qilish imkonini beradi.</a:t>
            </a:r>
          </a:p>
        </p:txBody>
      </p:sp>
      <p:sp>
        <p:nvSpPr>
          <p:cNvPr id="9" name="TextBox 8"/>
          <p:cNvSpPr txBox="1"/>
          <p:nvPr/>
        </p:nvSpPr>
        <p:spPr>
          <a:xfrm>
            <a:off x="4419600" y="4572000"/>
            <a:ext cx="6431280" cy="914400"/>
          </a:xfrm>
          <a:prstGeom prst="rect">
            <a:avLst/>
          </a:prstGeom>
          <a:noFill/>
        </p:spPr>
        <p:txBody>
          <a:bodyPr wrap="square">
            <a:spAutoFit/>
          </a:bodyPr>
          <a:lstStyle/>
          <a:p>
            <a:r>
              <a:rPr b="0" sz="1400"/>
              <a:t>Tarixan, bir jinsli tenglamalar sistemalari matematikaning rivojlanishiga turtki bo'ldi. Ularning metodlari va yechimlari yangi ilmiy yutuqlarga asos bo'ldi.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Bir jinsli tenglamalar sistemalarining tarixiy rivojlanishi va ilmiy o'zgarishlar</a:t>
            </a:r>
          </a:p>
        </p:txBody>
      </p:sp>
      <p:sp>
        <p:nvSpPr>
          <p:cNvPr id="3" name="Rounded Rectangle 2"/>
          <p:cNvSpPr/>
          <p:nvPr/>
        </p:nvSpPr>
        <p:spPr>
          <a:xfrm>
            <a:off x="1188720" y="26517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2284" y="2705324"/>
            <a:ext cx="258631" cy="258631"/>
          </a:xfrm>
          <a:prstGeom prst="rect">
            <a:avLst/>
          </a:prstGeom>
          <a:noFill/>
        </p:spPr>
        <p:txBody>
          <a:bodyPr wrap="square">
            <a:spAutoFit/>
          </a:bodyPr>
          <a:lstStyle/>
          <a:p>
            <a:r>
              <a:rPr b="0" sz="1600"/>
              <a:t>1</a:t>
            </a:r>
          </a:p>
        </p:txBody>
      </p:sp>
      <p:sp>
        <p:nvSpPr>
          <p:cNvPr id="5" name="TextBox 4"/>
          <p:cNvSpPr txBox="1"/>
          <p:nvPr/>
        </p:nvSpPr>
        <p:spPr>
          <a:xfrm>
            <a:off x="2103120" y="2560320"/>
            <a:ext cx="6400800" cy="274320"/>
          </a:xfrm>
          <a:prstGeom prst="rect">
            <a:avLst/>
          </a:prstGeom>
          <a:noFill/>
        </p:spPr>
        <p:txBody>
          <a:bodyPr wrap="square">
            <a:spAutoFit/>
          </a:bodyPr>
          <a:lstStyle/>
          <a:p>
            <a:r>
              <a:rPr b="1" sz="1800"/>
              <a:t>Tarixiy rivojlanish</a:t>
            </a:r>
          </a:p>
        </p:txBody>
      </p:sp>
      <p:sp>
        <p:nvSpPr>
          <p:cNvPr id="6" name="TextBox 5"/>
          <p:cNvSpPr txBox="1"/>
          <p:nvPr/>
        </p:nvSpPr>
        <p:spPr>
          <a:xfrm>
            <a:off x="2103120" y="2834640"/>
            <a:ext cx="6400800" cy="914400"/>
          </a:xfrm>
          <a:prstGeom prst="rect">
            <a:avLst/>
          </a:prstGeom>
          <a:noFill/>
        </p:spPr>
        <p:txBody>
          <a:bodyPr wrap="square">
            <a:spAutoFit/>
          </a:bodyPr>
          <a:lstStyle/>
          <a:p>
            <a:r>
              <a:rPr b="0" sz="1400"/>
              <a:t>  - Bir jinsli tenglamalar sistemalarining tarixi qadimgi yunon va hind matematiklaridan boshlanadi, ular algebraik usullar bilan muammolarni hal qilishdi.</a:t>
            </a:r>
          </a:p>
        </p:txBody>
      </p:sp>
      <p:sp>
        <p:nvSpPr>
          <p:cNvPr id="7" name="Rounded Rectangle 6"/>
          <p:cNvSpPr/>
          <p:nvPr/>
        </p:nvSpPr>
        <p:spPr>
          <a:xfrm>
            <a:off x="1188720" y="35661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2284" y="3619724"/>
            <a:ext cx="258631" cy="258631"/>
          </a:xfrm>
          <a:prstGeom prst="rect">
            <a:avLst/>
          </a:prstGeom>
          <a:noFill/>
        </p:spPr>
        <p:txBody>
          <a:bodyPr wrap="square">
            <a:spAutoFit/>
          </a:bodyPr>
          <a:lstStyle/>
          <a:p>
            <a:r>
              <a:rPr b="0" sz="1600"/>
              <a:t>2</a:t>
            </a:r>
          </a:p>
        </p:txBody>
      </p:sp>
      <p:sp>
        <p:nvSpPr>
          <p:cNvPr id="9" name="TextBox 8"/>
          <p:cNvSpPr txBox="1"/>
          <p:nvPr/>
        </p:nvSpPr>
        <p:spPr>
          <a:xfrm>
            <a:off x="2103120" y="3474720"/>
            <a:ext cx="6400800" cy="274320"/>
          </a:xfrm>
          <a:prstGeom prst="rect">
            <a:avLst/>
          </a:prstGeom>
          <a:noFill/>
        </p:spPr>
        <p:txBody>
          <a:bodyPr wrap="square">
            <a:spAutoFit/>
          </a:bodyPr>
          <a:lstStyle/>
          <a:p>
            <a:r>
              <a:rPr b="1" sz="1800"/>
              <a:t>Ilmiy o'zgarishlar</a:t>
            </a:r>
          </a:p>
        </p:txBody>
      </p:sp>
      <p:sp>
        <p:nvSpPr>
          <p:cNvPr id="10" name="TextBox 9"/>
          <p:cNvSpPr txBox="1"/>
          <p:nvPr/>
        </p:nvSpPr>
        <p:spPr>
          <a:xfrm>
            <a:off x="2103120" y="3749040"/>
            <a:ext cx="9144000" cy="914400"/>
          </a:xfrm>
          <a:prstGeom prst="rect">
            <a:avLst/>
          </a:prstGeom>
          <a:noFill/>
        </p:spPr>
        <p:txBody>
          <a:bodyPr wrap="square">
            <a:spAutoFit/>
          </a:bodyPr>
          <a:lstStyle/>
          <a:p>
            <a:r>
              <a:rPr b="0" sz="1400"/>
              <a:t>  - XVII-XVIII asrlarda Lašer, Euler va Gauss kabi olimlar lineer algebra va tenglamalar sistemalarining nazariyasini rivojlantirdilar, bu esa matematikani yangi bosqichga olib chiqdi.</a:t>
            </a:r>
          </a:p>
        </p:txBody>
      </p:sp>
      <p:sp>
        <p:nvSpPr>
          <p:cNvPr id="11" name="Rounded Rectangle 10"/>
          <p:cNvSpPr/>
          <p:nvPr/>
        </p:nvSpPr>
        <p:spPr>
          <a:xfrm>
            <a:off x="1188720" y="44805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2284" y="4534124"/>
            <a:ext cx="258631" cy="258631"/>
          </a:xfrm>
          <a:prstGeom prst="rect">
            <a:avLst/>
          </a:prstGeom>
          <a:noFill/>
        </p:spPr>
        <p:txBody>
          <a:bodyPr wrap="square">
            <a:spAutoFit/>
          </a:bodyPr>
          <a:lstStyle/>
          <a:p>
            <a:r>
              <a:rPr b="0" sz="1600"/>
              <a:t>3</a:t>
            </a:r>
          </a:p>
        </p:txBody>
      </p:sp>
      <p:sp>
        <p:nvSpPr>
          <p:cNvPr id="13" name="TextBox 12"/>
          <p:cNvSpPr txBox="1"/>
          <p:nvPr/>
        </p:nvSpPr>
        <p:spPr>
          <a:xfrm>
            <a:off x="2103120" y="4389120"/>
            <a:ext cx="6400800" cy="274320"/>
          </a:xfrm>
          <a:prstGeom prst="rect">
            <a:avLst/>
          </a:prstGeom>
          <a:noFill/>
        </p:spPr>
        <p:txBody>
          <a:bodyPr wrap="square">
            <a:spAutoFit/>
          </a:bodyPr>
          <a:lstStyle/>
          <a:p>
            <a:r>
              <a:rPr b="1" sz="1800"/>
              <a:t>Amaliy tadqiqotlar</a:t>
            </a:r>
          </a:p>
        </p:txBody>
      </p:sp>
      <p:sp>
        <p:nvSpPr>
          <p:cNvPr id="14" name="TextBox 13"/>
          <p:cNvSpPr txBox="1"/>
          <p:nvPr/>
        </p:nvSpPr>
        <p:spPr>
          <a:xfrm>
            <a:off x="2103120" y="4663440"/>
            <a:ext cx="9144000" cy="914400"/>
          </a:xfrm>
          <a:prstGeom prst="rect">
            <a:avLst/>
          </a:prstGeom>
          <a:noFill/>
        </p:spPr>
        <p:txBody>
          <a:bodyPr wrap="square">
            <a:spAutoFit/>
          </a:bodyPr>
          <a:lstStyle/>
          <a:p>
            <a:r>
              <a:rPr b="0" sz="1400"/>
              <a:t>  - XX asrda kompyuter texnologiyalari yordamida murakkab tenglamalar tizimlarini tez va aniq yechish imkoniyati paydo bo'ldi, bu esa ilmiy va texnik yutuqlarga xizmat qildi.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Bir jinsli tenglamalar sistemalarining amaliy qo'llanmalari va ularning muhimligi</a:t>
            </a:r>
          </a:p>
        </p:txBody>
      </p:sp>
      <p:sp>
        <p:nvSpPr>
          <p:cNvPr id="3" name="Rounded Rectangle 2"/>
          <p:cNvSpPr/>
          <p:nvPr/>
        </p:nvSpPr>
        <p:spPr>
          <a:xfrm>
            <a:off x="1188720" y="26517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2284" y="2705324"/>
            <a:ext cx="258631" cy="258631"/>
          </a:xfrm>
          <a:prstGeom prst="rect">
            <a:avLst/>
          </a:prstGeom>
          <a:noFill/>
        </p:spPr>
        <p:txBody>
          <a:bodyPr wrap="square">
            <a:spAutoFit/>
          </a:bodyPr>
          <a:lstStyle/>
          <a:p>
            <a:r>
              <a:rPr b="0" sz="1600"/>
              <a:t>1</a:t>
            </a:r>
          </a:p>
        </p:txBody>
      </p:sp>
      <p:sp>
        <p:nvSpPr>
          <p:cNvPr id="5" name="TextBox 4"/>
          <p:cNvSpPr txBox="1"/>
          <p:nvPr/>
        </p:nvSpPr>
        <p:spPr>
          <a:xfrm>
            <a:off x="2103120" y="2560320"/>
            <a:ext cx="6400800" cy="274320"/>
          </a:xfrm>
          <a:prstGeom prst="rect">
            <a:avLst/>
          </a:prstGeom>
          <a:noFill/>
        </p:spPr>
        <p:txBody>
          <a:bodyPr wrap="square">
            <a:spAutoFit/>
          </a:bodyPr>
          <a:lstStyle/>
          <a:p>
            <a:r>
              <a:rPr b="1" sz="1800"/>
              <a:t>Model va texnologiyalar</a:t>
            </a:r>
          </a:p>
        </p:txBody>
      </p:sp>
      <p:sp>
        <p:nvSpPr>
          <p:cNvPr id="6" name="TextBox 5"/>
          <p:cNvSpPr txBox="1"/>
          <p:nvPr/>
        </p:nvSpPr>
        <p:spPr>
          <a:xfrm>
            <a:off x="2103120" y="2834640"/>
            <a:ext cx="9144000" cy="914400"/>
          </a:xfrm>
          <a:prstGeom prst="rect">
            <a:avLst/>
          </a:prstGeom>
          <a:noFill/>
        </p:spPr>
        <p:txBody>
          <a:bodyPr wrap="square">
            <a:spAutoFit/>
          </a:bodyPr>
          <a:lstStyle/>
          <a:p>
            <a:r>
              <a:rPr b="0" sz="1400"/>
              <a:t>  - Bir jinsli tenglamalar sistemlari muhandislik, iqtisodiyot va kompyuter texnologiyalarida keng qo‘llaniladi. Ular real muammolarni modellashtirishda va yechim topishda yordam beradi.</a:t>
            </a:r>
          </a:p>
        </p:txBody>
      </p:sp>
      <p:sp>
        <p:nvSpPr>
          <p:cNvPr id="7" name="Rounded Rectangle 6"/>
          <p:cNvSpPr/>
          <p:nvPr/>
        </p:nvSpPr>
        <p:spPr>
          <a:xfrm>
            <a:off x="1188720" y="35661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2284" y="3619724"/>
            <a:ext cx="258631" cy="258631"/>
          </a:xfrm>
          <a:prstGeom prst="rect">
            <a:avLst/>
          </a:prstGeom>
          <a:noFill/>
        </p:spPr>
        <p:txBody>
          <a:bodyPr wrap="square">
            <a:spAutoFit/>
          </a:bodyPr>
          <a:lstStyle/>
          <a:p>
            <a:r>
              <a:rPr b="0" sz="1600"/>
              <a:t>2</a:t>
            </a:r>
          </a:p>
        </p:txBody>
      </p:sp>
      <p:sp>
        <p:nvSpPr>
          <p:cNvPr id="9" name="TextBox 8"/>
          <p:cNvSpPr txBox="1"/>
          <p:nvPr/>
        </p:nvSpPr>
        <p:spPr>
          <a:xfrm>
            <a:off x="2103120" y="3474720"/>
            <a:ext cx="6400800" cy="274320"/>
          </a:xfrm>
          <a:prstGeom prst="rect">
            <a:avLst/>
          </a:prstGeom>
          <a:noFill/>
        </p:spPr>
        <p:txBody>
          <a:bodyPr wrap="square">
            <a:spAutoFit/>
          </a:bodyPr>
          <a:lstStyle/>
          <a:p>
            <a:r>
              <a:rPr b="1" sz="1800"/>
              <a:t>Iqtisodiyotda qo‘llanilishi</a:t>
            </a:r>
          </a:p>
        </p:txBody>
      </p:sp>
      <p:sp>
        <p:nvSpPr>
          <p:cNvPr id="10" name="TextBox 9"/>
          <p:cNvSpPr txBox="1"/>
          <p:nvPr/>
        </p:nvSpPr>
        <p:spPr>
          <a:xfrm>
            <a:off x="2103120" y="3749040"/>
            <a:ext cx="6400800" cy="914400"/>
          </a:xfrm>
          <a:prstGeom prst="rect">
            <a:avLst/>
          </a:prstGeom>
          <a:noFill/>
        </p:spPr>
        <p:txBody>
          <a:bodyPr wrap="square">
            <a:spAutoFit/>
          </a:bodyPr>
          <a:lstStyle/>
          <a:p>
            <a:r>
              <a:rPr b="0" sz="1400"/>
              <a:t>  - Bu sistemalar iqtisodiy jarayonlarni, resurs taqsimoti va narxlarni tahlil qilishda muhim rol o‘ynaydi, qaror qabul qilishda aniq natijalar beradi.</a:t>
            </a:r>
          </a:p>
        </p:txBody>
      </p:sp>
      <p:sp>
        <p:nvSpPr>
          <p:cNvPr id="11" name="Rounded Rectangle 10"/>
          <p:cNvSpPr/>
          <p:nvPr/>
        </p:nvSpPr>
        <p:spPr>
          <a:xfrm>
            <a:off x="1188720" y="44805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2284" y="4534124"/>
            <a:ext cx="258631" cy="258631"/>
          </a:xfrm>
          <a:prstGeom prst="rect">
            <a:avLst/>
          </a:prstGeom>
          <a:noFill/>
        </p:spPr>
        <p:txBody>
          <a:bodyPr wrap="square">
            <a:spAutoFit/>
          </a:bodyPr>
          <a:lstStyle/>
          <a:p>
            <a:r>
              <a:rPr b="0" sz="1600"/>
              <a:t>3</a:t>
            </a:r>
          </a:p>
        </p:txBody>
      </p:sp>
      <p:sp>
        <p:nvSpPr>
          <p:cNvPr id="13" name="TextBox 12"/>
          <p:cNvSpPr txBox="1"/>
          <p:nvPr/>
        </p:nvSpPr>
        <p:spPr>
          <a:xfrm>
            <a:off x="2103120" y="4389120"/>
            <a:ext cx="6400800" cy="274320"/>
          </a:xfrm>
          <a:prstGeom prst="rect">
            <a:avLst/>
          </a:prstGeom>
          <a:noFill/>
        </p:spPr>
        <p:txBody>
          <a:bodyPr wrap="square">
            <a:spAutoFit/>
          </a:bodyPr>
          <a:lstStyle/>
          <a:p>
            <a:r>
              <a:rPr b="1" sz="1800"/>
              <a:t>Ilmiy-tadqiqotda ahamiyati</a:t>
            </a:r>
          </a:p>
        </p:txBody>
      </p:sp>
      <p:sp>
        <p:nvSpPr>
          <p:cNvPr id="14" name="TextBox 13"/>
          <p:cNvSpPr txBox="1"/>
          <p:nvPr/>
        </p:nvSpPr>
        <p:spPr>
          <a:xfrm>
            <a:off x="2103120" y="4663440"/>
            <a:ext cx="9144000" cy="914400"/>
          </a:xfrm>
          <a:prstGeom prst="rect">
            <a:avLst/>
          </a:prstGeom>
          <a:noFill/>
        </p:spPr>
        <p:txBody>
          <a:bodyPr wrap="square">
            <a:spAutoFit/>
          </a:bodyPr>
          <a:lstStyle/>
          <a:p>
            <a:r>
              <a:rPr b="0" sz="1400"/>
              <a:t>  - Ilmiy izlanishlarda, modellashtirish va optimallashtirishda bir jinsli tenglamalar yordamida murakkab muammolarni hal qilish imkonini beradi, bu esa ilmiy rivojlanishga xizmat qiladi.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Bir jinsli tenglamalar sistemasining asosiy tushunchalari va ularning matematik ahamiyati</a:t>
            </a:r>
          </a:p>
        </p:txBody>
      </p:sp>
      <p:cxnSp>
        <p:nvCxnSpPr>
          <p:cNvPr id="3" name="Connector 2"/>
          <p:cNvCxnSpPr/>
          <p:nvPr/>
        </p:nvCxnSpPr>
        <p:spPr>
          <a:xfrm>
            <a:off x="1371600" y="2560320"/>
            <a:ext cx="0" cy="356616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2834640"/>
            <a:ext cx="731520"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188720" y="2651760"/>
            <a:ext cx="365760" cy="36576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42284" y="2705324"/>
            <a:ext cx="258631" cy="258631"/>
          </a:xfrm>
          <a:prstGeom prst="rect">
            <a:avLst/>
          </a:prstGeom>
          <a:noFill/>
        </p:spPr>
        <p:txBody>
          <a:bodyPr wrap="square">
            <a:spAutoFit/>
          </a:bodyPr>
          <a:lstStyle/>
          <a:p>
            <a:r>
              <a:rPr b="0" sz="1600"/>
              <a:t>1</a:t>
            </a:r>
          </a:p>
        </p:txBody>
      </p:sp>
      <p:sp>
        <p:nvSpPr>
          <p:cNvPr id="7" name="TextBox 6"/>
          <p:cNvSpPr txBox="1"/>
          <p:nvPr/>
        </p:nvSpPr>
        <p:spPr>
          <a:xfrm>
            <a:off x="2103120" y="2560320"/>
            <a:ext cx="6400800" cy="274320"/>
          </a:xfrm>
          <a:prstGeom prst="rect">
            <a:avLst/>
          </a:prstGeom>
          <a:noFill/>
        </p:spPr>
        <p:txBody>
          <a:bodyPr wrap="square">
            <a:spAutoFit/>
          </a:bodyPr>
          <a:lstStyle/>
          <a:p>
            <a:r>
              <a:rPr b="1" sz="1600"/>
              <a:t>Tushuncha va mazmun</a:t>
            </a:r>
          </a:p>
        </p:txBody>
      </p:sp>
      <p:sp>
        <p:nvSpPr>
          <p:cNvPr id="8" name="TextBox 7"/>
          <p:cNvSpPr txBox="1"/>
          <p:nvPr/>
        </p:nvSpPr>
        <p:spPr>
          <a:xfrm>
            <a:off x="2103120" y="2834640"/>
            <a:ext cx="9144000" cy="914400"/>
          </a:xfrm>
          <a:prstGeom prst="rect">
            <a:avLst/>
          </a:prstGeom>
          <a:noFill/>
        </p:spPr>
        <p:txBody>
          <a:bodyPr wrap="square">
            <a:spAutoFit/>
          </a:bodyPr>
          <a:lstStyle/>
          <a:p>
            <a:r>
              <a:rPr b="0" sz="1400"/>
              <a:t>Bir jinsli tenglamalar sistemasining asosiy tushunchalari uning matematik muhimligini anglash uchun zarur. Bu tushunchalar yechimlarni aniqlash va tahlil qilishda yordam beradi.</a:t>
            </a:r>
          </a:p>
        </p:txBody>
      </p:sp>
      <p:cxnSp>
        <p:nvCxnSpPr>
          <p:cNvPr id="9" name="Connector 8"/>
          <p:cNvCxnSpPr/>
          <p:nvPr/>
        </p:nvCxnSpPr>
        <p:spPr>
          <a:xfrm>
            <a:off x="1371600" y="3749040"/>
            <a:ext cx="731520"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188720" y="3566160"/>
            <a:ext cx="365760" cy="36576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2284" y="3619724"/>
            <a:ext cx="258631" cy="258631"/>
          </a:xfrm>
          <a:prstGeom prst="rect">
            <a:avLst/>
          </a:prstGeom>
          <a:noFill/>
        </p:spPr>
        <p:txBody>
          <a:bodyPr wrap="square">
            <a:spAutoFit/>
          </a:bodyPr>
          <a:lstStyle/>
          <a:p>
            <a:r>
              <a:rPr b="0" sz="1600"/>
              <a:t>2</a:t>
            </a:r>
          </a:p>
        </p:txBody>
      </p:sp>
      <p:sp>
        <p:nvSpPr>
          <p:cNvPr id="12" name="TextBox 11"/>
          <p:cNvSpPr txBox="1"/>
          <p:nvPr/>
        </p:nvSpPr>
        <p:spPr>
          <a:xfrm>
            <a:off x="2103120" y="3474720"/>
            <a:ext cx="6400800" cy="274320"/>
          </a:xfrm>
          <a:prstGeom prst="rect">
            <a:avLst/>
          </a:prstGeom>
          <a:noFill/>
        </p:spPr>
        <p:txBody>
          <a:bodyPr wrap="square">
            <a:spAutoFit/>
          </a:bodyPr>
          <a:lstStyle/>
          <a:p>
            <a:r>
              <a:rPr b="1" sz="1600"/>
              <a:t>Homogeneous tenglamalar</a:t>
            </a:r>
          </a:p>
        </p:txBody>
      </p:sp>
      <p:sp>
        <p:nvSpPr>
          <p:cNvPr id="13" name="TextBox 12"/>
          <p:cNvSpPr txBox="1"/>
          <p:nvPr/>
        </p:nvSpPr>
        <p:spPr>
          <a:xfrm>
            <a:off x="2103120" y="3749040"/>
            <a:ext cx="6400800" cy="914400"/>
          </a:xfrm>
          <a:prstGeom prst="rect">
            <a:avLst/>
          </a:prstGeom>
          <a:noFill/>
        </p:spPr>
        <p:txBody>
          <a:bodyPr wrap="square">
            <a:spAutoFit/>
          </a:bodyPr>
          <a:lstStyle/>
          <a:p>
            <a:r>
              <a:rPr b="0" sz="1400"/>
              <a:t>Bu tenglamalar tizimida barcha tenglamalar nolga teng bo‘lib, yechimlarning strukturasini o‘rganish uchun muhim asos bo‘lib xizmat qiladi.</a:t>
            </a:r>
          </a:p>
        </p:txBody>
      </p:sp>
      <p:cxnSp>
        <p:nvCxnSpPr>
          <p:cNvPr id="14" name="Connector 13"/>
          <p:cNvCxnSpPr/>
          <p:nvPr/>
        </p:nvCxnSpPr>
        <p:spPr>
          <a:xfrm>
            <a:off x="1371600" y="4663440"/>
            <a:ext cx="731520"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188720" y="4480560"/>
            <a:ext cx="365760" cy="36576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42284" y="4534124"/>
            <a:ext cx="258631" cy="258631"/>
          </a:xfrm>
          <a:prstGeom prst="rect">
            <a:avLst/>
          </a:prstGeom>
          <a:noFill/>
        </p:spPr>
        <p:txBody>
          <a:bodyPr wrap="square">
            <a:spAutoFit/>
          </a:bodyPr>
          <a:lstStyle/>
          <a:p>
            <a:r>
              <a:rPr b="0" sz="1600"/>
              <a:t>3</a:t>
            </a:r>
          </a:p>
        </p:txBody>
      </p:sp>
      <p:sp>
        <p:nvSpPr>
          <p:cNvPr id="17" name="TextBox 16"/>
          <p:cNvSpPr txBox="1"/>
          <p:nvPr/>
        </p:nvSpPr>
        <p:spPr>
          <a:xfrm>
            <a:off x="2103120" y="4389120"/>
            <a:ext cx="6400800" cy="274320"/>
          </a:xfrm>
          <a:prstGeom prst="rect">
            <a:avLst/>
          </a:prstGeom>
          <a:noFill/>
        </p:spPr>
        <p:txBody>
          <a:bodyPr wrap="square">
            <a:spAutoFit/>
          </a:bodyPr>
          <a:lstStyle/>
          <a:p>
            <a:r>
              <a:rPr b="1" sz="1600"/>
              <a:t>Yechimlarning ahamiyati</a:t>
            </a:r>
          </a:p>
        </p:txBody>
      </p:sp>
      <p:sp>
        <p:nvSpPr>
          <p:cNvPr id="18" name="TextBox 17"/>
          <p:cNvSpPr txBox="1"/>
          <p:nvPr/>
        </p:nvSpPr>
        <p:spPr>
          <a:xfrm>
            <a:off x="2103120" y="4663440"/>
            <a:ext cx="6400800" cy="914400"/>
          </a:xfrm>
          <a:prstGeom prst="rect">
            <a:avLst/>
          </a:prstGeom>
          <a:noFill/>
        </p:spPr>
        <p:txBody>
          <a:bodyPr wrap="square">
            <a:spAutoFit/>
          </a:bodyPr>
          <a:lstStyle/>
          <a:p>
            <a:r>
              <a:rPr b="0" sz="1400"/>
              <a:t>Bu tenglamalar yechimlari yordamida real muammolarni modellash va tahlil qilish mumkin, ular matematik va amaliy sohalarda keng qo‘llaniladi.</a:t>
            </a:r>
          </a:p>
        </p:txBody>
      </p:sp>
      <p:cxnSp>
        <p:nvCxnSpPr>
          <p:cNvPr id="19" name="Connector 18"/>
          <p:cNvCxnSpPr/>
          <p:nvPr/>
        </p:nvCxnSpPr>
        <p:spPr>
          <a:xfrm>
            <a:off x="1371600" y="5577840"/>
            <a:ext cx="731520"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1188720" y="5394960"/>
            <a:ext cx="365760" cy="36576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42284" y="5448524"/>
            <a:ext cx="258631" cy="258631"/>
          </a:xfrm>
          <a:prstGeom prst="rect">
            <a:avLst/>
          </a:prstGeom>
          <a:noFill/>
        </p:spPr>
        <p:txBody>
          <a:bodyPr wrap="square">
            <a:spAutoFit/>
          </a:bodyPr>
          <a:lstStyle/>
          <a:p>
            <a:r>
              <a:rPr b="0" sz="1600"/>
              <a:t>4</a:t>
            </a:r>
          </a:p>
        </p:txBody>
      </p:sp>
      <p:sp>
        <p:nvSpPr>
          <p:cNvPr id="22" name="TextBox 21"/>
          <p:cNvSpPr txBox="1"/>
          <p:nvPr/>
        </p:nvSpPr>
        <p:spPr>
          <a:xfrm>
            <a:off x="2103120" y="5303520"/>
            <a:ext cx="6400800" cy="274320"/>
          </a:xfrm>
          <a:prstGeom prst="rect">
            <a:avLst/>
          </a:prstGeom>
          <a:noFill/>
        </p:spPr>
        <p:txBody>
          <a:bodyPr wrap="square">
            <a:spAutoFit/>
          </a:bodyPr>
          <a:lstStyle/>
          <a:p>
            <a:r>
              <a:rPr b="1" sz="1600"/>
              <a:t>Matematik asoslar</a:t>
            </a:r>
          </a:p>
        </p:txBody>
      </p:sp>
      <p:sp>
        <p:nvSpPr>
          <p:cNvPr id="23" name="TextBox 22"/>
          <p:cNvSpPr txBox="1"/>
          <p:nvPr/>
        </p:nvSpPr>
        <p:spPr>
          <a:xfrm>
            <a:off x="2103120" y="5577840"/>
            <a:ext cx="9144000" cy="914400"/>
          </a:xfrm>
          <a:prstGeom prst="rect">
            <a:avLst/>
          </a:prstGeom>
          <a:noFill/>
        </p:spPr>
        <p:txBody>
          <a:bodyPr wrap="square">
            <a:spAutoFit/>
          </a:bodyPr>
          <a:lstStyle/>
          <a:p>
            <a:r>
              <a:rPr b="0" sz="1400"/>
              <a:t>Bu tushunchalar lineer algebra va matritsa metodlari bilan bog‘liq bo‘lib, muammolarni samarali hal qilish uchun matematik bilimlarni mustahkamlash imkonini beradi.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Homogeneous tenglamalar sistemalarining yechimlarining umumiy shakli va strukturasi</a:t>
            </a:r>
          </a:p>
        </p:txBody>
      </p:sp>
      <p:sp>
        <p:nvSpPr>
          <p:cNvPr id="3" name="Rounded Rectangle 2"/>
          <p:cNvSpPr/>
          <p:nvPr/>
        </p:nvSpPr>
        <p:spPr>
          <a:xfrm>
            <a:off x="1188720" y="26517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2284" y="2705324"/>
            <a:ext cx="258631" cy="258631"/>
          </a:xfrm>
          <a:prstGeom prst="rect">
            <a:avLst/>
          </a:prstGeom>
          <a:noFill/>
        </p:spPr>
        <p:txBody>
          <a:bodyPr wrap="square">
            <a:spAutoFit/>
          </a:bodyPr>
          <a:lstStyle/>
          <a:p>
            <a:r>
              <a:rPr b="0" sz="1600"/>
              <a:t>1</a:t>
            </a:r>
          </a:p>
        </p:txBody>
      </p:sp>
      <p:sp>
        <p:nvSpPr>
          <p:cNvPr id="5" name="TextBox 4"/>
          <p:cNvSpPr txBox="1"/>
          <p:nvPr/>
        </p:nvSpPr>
        <p:spPr>
          <a:xfrm>
            <a:off x="2103120" y="2560320"/>
            <a:ext cx="6400800" cy="274320"/>
          </a:xfrm>
          <a:prstGeom prst="rect">
            <a:avLst/>
          </a:prstGeom>
          <a:noFill/>
        </p:spPr>
        <p:txBody>
          <a:bodyPr wrap="square">
            <a:spAutoFit/>
          </a:bodyPr>
          <a:lstStyle/>
          <a:p>
            <a:r>
              <a:rPr b="1" sz="1800"/>
              <a:t>Yechimlarning umumiy shakli</a:t>
            </a:r>
          </a:p>
        </p:txBody>
      </p:sp>
      <p:sp>
        <p:nvSpPr>
          <p:cNvPr id="6" name="TextBox 5"/>
          <p:cNvSpPr txBox="1"/>
          <p:nvPr/>
        </p:nvSpPr>
        <p:spPr>
          <a:xfrm>
            <a:off x="2103120" y="2834640"/>
            <a:ext cx="9144000" cy="914400"/>
          </a:xfrm>
          <a:prstGeom prst="rect">
            <a:avLst/>
          </a:prstGeom>
          <a:noFill/>
        </p:spPr>
        <p:txBody>
          <a:bodyPr wrap="square">
            <a:spAutoFit/>
          </a:bodyPr>
          <a:lstStyle/>
          <a:p>
            <a:r>
              <a:rPr b="0" sz="1400"/>
              <a:t>  - Homogeneous tenglamalar sistemalarida barcha tenglamalar nol vektor bilan bog‘liq bo‘ladi. Bu sistemalar uchun yechimlar to‘plami chiziqli almashuvlar bilan bog‘liq bo‘lib, umumiy shakli lineer kombinatsiyalar shaklida ifodalanadi.</a:t>
            </a:r>
          </a:p>
        </p:txBody>
      </p:sp>
      <p:sp>
        <p:nvSpPr>
          <p:cNvPr id="7" name="Rounded Rectangle 6"/>
          <p:cNvSpPr/>
          <p:nvPr/>
        </p:nvSpPr>
        <p:spPr>
          <a:xfrm>
            <a:off x="1188720" y="35661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2284" y="3619724"/>
            <a:ext cx="258631" cy="258631"/>
          </a:xfrm>
          <a:prstGeom prst="rect">
            <a:avLst/>
          </a:prstGeom>
          <a:noFill/>
        </p:spPr>
        <p:txBody>
          <a:bodyPr wrap="square">
            <a:spAutoFit/>
          </a:bodyPr>
          <a:lstStyle/>
          <a:p>
            <a:r>
              <a:rPr b="0" sz="1600"/>
              <a:t>2</a:t>
            </a:r>
          </a:p>
        </p:txBody>
      </p:sp>
      <p:sp>
        <p:nvSpPr>
          <p:cNvPr id="9" name="TextBox 8"/>
          <p:cNvSpPr txBox="1"/>
          <p:nvPr/>
        </p:nvSpPr>
        <p:spPr>
          <a:xfrm>
            <a:off x="2103120" y="3474720"/>
            <a:ext cx="6400800" cy="274320"/>
          </a:xfrm>
          <a:prstGeom prst="rect">
            <a:avLst/>
          </a:prstGeom>
          <a:noFill/>
        </p:spPr>
        <p:txBody>
          <a:bodyPr wrap="square">
            <a:spAutoFit/>
          </a:bodyPr>
          <a:lstStyle/>
          <a:p>
            <a:r>
              <a:rPr b="1" sz="1800"/>
              <a:t>Struktura va xususiyatlar</a:t>
            </a:r>
          </a:p>
        </p:txBody>
      </p:sp>
      <p:sp>
        <p:nvSpPr>
          <p:cNvPr id="10" name="TextBox 9"/>
          <p:cNvSpPr txBox="1"/>
          <p:nvPr/>
        </p:nvSpPr>
        <p:spPr>
          <a:xfrm>
            <a:off x="2103120" y="3749040"/>
            <a:ext cx="9144000" cy="914400"/>
          </a:xfrm>
          <a:prstGeom prst="rect">
            <a:avLst/>
          </a:prstGeom>
          <a:noFill/>
        </p:spPr>
        <p:txBody>
          <a:bodyPr wrap="square">
            <a:spAutoFit/>
          </a:bodyPr>
          <a:lstStyle/>
          <a:p>
            <a:r>
              <a:rPr b="0" sz="1400"/>
              <a:t>  - Bu sistemalarning yechimlar to‘plami, lineer algebra asosida, subspace (kichik subspace) sifatida tashkil topadi. Ular nolinchi yechim va boshqa mumkin bo‘lgan yechimlarni o‘z ichiga oladi.</a:t>
            </a:r>
          </a:p>
        </p:txBody>
      </p:sp>
      <p:sp>
        <p:nvSpPr>
          <p:cNvPr id="11" name="Rounded Rectangle 10"/>
          <p:cNvSpPr/>
          <p:nvPr/>
        </p:nvSpPr>
        <p:spPr>
          <a:xfrm>
            <a:off x="1188720" y="44805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2284" y="4534124"/>
            <a:ext cx="258631" cy="258631"/>
          </a:xfrm>
          <a:prstGeom prst="rect">
            <a:avLst/>
          </a:prstGeom>
          <a:noFill/>
        </p:spPr>
        <p:txBody>
          <a:bodyPr wrap="square">
            <a:spAutoFit/>
          </a:bodyPr>
          <a:lstStyle/>
          <a:p>
            <a:r>
              <a:rPr b="0" sz="1600"/>
              <a:t>3</a:t>
            </a:r>
          </a:p>
        </p:txBody>
      </p:sp>
      <p:sp>
        <p:nvSpPr>
          <p:cNvPr id="13" name="TextBox 12"/>
          <p:cNvSpPr txBox="1"/>
          <p:nvPr/>
        </p:nvSpPr>
        <p:spPr>
          <a:xfrm>
            <a:off x="2103120" y="4389120"/>
            <a:ext cx="6400800" cy="274320"/>
          </a:xfrm>
          <a:prstGeom prst="rect">
            <a:avLst/>
          </a:prstGeom>
          <a:noFill/>
        </p:spPr>
        <p:txBody>
          <a:bodyPr wrap="square">
            <a:spAutoFit/>
          </a:bodyPr>
          <a:lstStyle/>
          <a:p>
            <a:r>
              <a:rPr b="1" sz="1800"/>
              <a:t>Yechimlar shakli va turlari</a:t>
            </a:r>
          </a:p>
        </p:txBody>
      </p:sp>
      <p:sp>
        <p:nvSpPr>
          <p:cNvPr id="14" name="TextBox 13"/>
          <p:cNvSpPr txBox="1"/>
          <p:nvPr/>
        </p:nvSpPr>
        <p:spPr>
          <a:xfrm>
            <a:off x="2103120" y="4663440"/>
            <a:ext cx="9144000" cy="914400"/>
          </a:xfrm>
          <a:prstGeom prst="rect">
            <a:avLst/>
          </a:prstGeom>
          <a:noFill/>
        </p:spPr>
        <p:txBody>
          <a:bodyPr wrap="square">
            <a:spAutoFit/>
          </a:bodyPr>
          <a:lstStyle/>
          <a:p>
            <a:r>
              <a:rPr b="0" sz="1400"/>
              <a:t>  - Homogeneous sistemalarda yechimlar to‘plami, eng oddiy nolinchi yechim bilan boshlanadi va boshqa yechimlar uning lineer kombinatsiyalaridan tashkil topadi. Bu, ularning strukturasi va xususiyatlarini tushunishga yordam beradi.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Bir jinsli tenglamalar sistemalarida nolinchi yechim va uning roli</a:t>
            </a:r>
          </a:p>
        </p:txBody>
      </p:sp>
      <p:sp>
        <p:nvSpPr>
          <p:cNvPr id="3" name="Rounded Rectangle 2"/>
          <p:cNvSpPr/>
          <p:nvPr/>
        </p:nvSpPr>
        <p:spPr>
          <a:xfrm>
            <a:off x="1981200" y="2286000"/>
            <a:ext cx="8229600" cy="1188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64080" y="2468880"/>
            <a:ext cx="7863840" cy="274320"/>
          </a:xfrm>
          <a:prstGeom prst="rect">
            <a:avLst/>
          </a:prstGeom>
          <a:noFill/>
        </p:spPr>
        <p:txBody>
          <a:bodyPr wrap="square">
            <a:spAutoFit/>
          </a:bodyPr>
          <a:lstStyle/>
          <a:p>
            <a:r>
              <a:rPr b="1" sz="1600"/>
              <a:t>Nolinchi yechim</a:t>
            </a:r>
          </a:p>
        </p:txBody>
      </p:sp>
      <p:sp>
        <p:nvSpPr>
          <p:cNvPr id="5" name="TextBox 4"/>
          <p:cNvSpPr txBox="1"/>
          <p:nvPr/>
        </p:nvSpPr>
        <p:spPr>
          <a:xfrm>
            <a:off x="2164080" y="2743200"/>
            <a:ext cx="7863840" cy="731520"/>
          </a:xfrm>
          <a:prstGeom prst="rect">
            <a:avLst/>
          </a:prstGeom>
          <a:noFill/>
        </p:spPr>
        <p:txBody>
          <a:bodyPr wrap="square">
            <a:spAutoFit/>
          </a:bodyPr>
          <a:lstStyle/>
          <a:p>
            <a:r>
              <a:rPr b="0" sz="1400"/>
              <a:t>Nolinchi yechim, ya'ni, tenglama to‘liq yoki qisman hal bo‘lsa ham, muhim ahamiyatga ega. U muammoning umumiy yechimlar to‘plamini aniqlashda yordam beradi.</a:t>
            </a:r>
          </a:p>
        </p:txBody>
      </p:sp>
      <p:sp>
        <p:nvSpPr>
          <p:cNvPr id="6" name="Rounded Rectangle 5"/>
          <p:cNvSpPr/>
          <p:nvPr/>
        </p:nvSpPr>
        <p:spPr>
          <a:xfrm>
            <a:off x="1981200" y="3657600"/>
            <a:ext cx="8229600" cy="1188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64080" y="3840480"/>
            <a:ext cx="7863840" cy="274320"/>
          </a:xfrm>
          <a:prstGeom prst="rect">
            <a:avLst/>
          </a:prstGeom>
          <a:noFill/>
        </p:spPr>
        <p:txBody>
          <a:bodyPr wrap="square">
            <a:spAutoFit/>
          </a:bodyPr>
          <a:lstStyle/>
          <a:p>
            <a:r>
              <a:rPr b="1" sz="1600"/>
              <a:t>Ro‘lini tushunish</a:t>
            </a:r>
          </a:p>
        </p:txBody>
      </p:sp>
      <p:sp>
        <p:nvSpPr>
          <p:cNvPr id="8" name="TextBox 7"/>
          <p:cNvSpPr txBox="1"/>
          <p:nvPr/>
        </p:nvSpPr>
        <p:spPr>
          <a:xfrm>
            <a:off x="2164080" y="4114800"/>
            <a:ext cx="7863840" cy="731520"/>
          </a:xfrm>
          <a:prstGeom prst="rect">
            <a:avLst/>
          </a:prstGeom>
          <a:noFill/>
        </p:spPr>
        <p:txBody>
          <a:bodyPr wrap="square">
            <a:spAutoFit/>
          </a:bodyPr>
          <a:lstStyle/>
          <a:p>
            <a:r>
              <a:rPr b="0" sz="1400"/>
              <a:t>Nolinchi yechim, ayniqsa, tenglama sistemasining yasalishi va muvofiqligini baholashda asosiy rol o‘ynaydi. Bu, tizimning barqarorlik va mosligini ko‘rsatadi.</a:t>
            </a:r>
          </a:p>
        </p:txBody>
      </p:sp>
      <p:sp>
        <p:nvSpPr>
          <p:cNvPr id="9" name="Rounded Rectangle 8"/>
          <p:cNvSpPr/>
          <p:nvPr/>
        </p:nvSpPr>
        <p:spPr>
          <a:xfrm>
            <a:off x="1981200" y="5029200"/>
            <a:ext cx="8229600" cy="1188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64080" y="5212080"/>
            <a:ext cx="7863840" cy="274320"/>
          </a:xfrm>
          <a:prstGeom prst="rect">
            <a:avLst/>
          </a:prstGeom>
          <a:noFill/>
        </p:spPr>
        <p:txBody>
          <a:bodyPr wrap="square">
            <a:spAutoFit/>
          </a:bodyPr>
          <a:lstStyle/>
          <a:p>
            <a:r>
              <a:rPr b="1" sz="1600"/>
              <a:t>Amaliy qo‘llanma</a:t>
            </a:r>
          </a:p>
        </p:txBody>
      </p:sp>
      <p:sp>
        <p:nvSpPr>
          <p:cNvPr id="11" name="TextBox 10"/>
          <p:cNvSpPr txBox="1"/>
          <p:nvPr/>
        </p:nvSpPr>
        <p:spPr>
          <a:xfrm>
            <a:off x="2164080" y="5486400"/>
            <a:ext cx="7863840" cy="731520"/>
          </a:xfrm>
          <a:prstGeom prst="rect">
            <a:avLst/>
          </a:prstGeom>
          <a:noFill/>
        </p:spPr>
        <p:txBody>
          <a:bodyPr wrap="square">
            <a:spAutoFit/>
          </a:bodyPr>
          <a:lstStyle/>
          <a:p>
            <a:r>
              <a:rPr b="0" sz="1400"/>
              <a:t>Nolinchi yechimlar yordamida, muammolarni tahlil qilish va yechimlarni topish jarayonlarini soddalashtirish mumkin. Bu, matematik va amaliy vazifalarda muhim strategiyadir.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Homogeneous tenglamalar sistemalarida yechimlarning to‘liq va qisman mavjudligi</a:t>
            </a:r>
          </a:p>
        </p:txBody>
      </p:sp>
      <p:cxnSp>
        <p:nvCxnSpPr>
          <p:cNvPr id="3" name="Connector 2"/>
          <p:cNvCxnSpPr/>
          <p:nvPr/>
        </p:nvCxnSpPr>
        <p:spPr>
          <a:xfrm>
            <a:off x="1828800" y="2834640"/>
            <a:ext cx="8412480"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2621280" y="2606040"/>
            <a:ext cx="457200" cy="4572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688235" y="2672995"/>
            <a:ext cx="323289" cy="323289"/>
          </a:xfrm>
          <a:prstGeom prst="rect">
            <a:avLst/>
          </a:prstGeom>
          <a:noFill/>
        </p:spPr>
        <p:txBody>
          <a:bodyPr wrap="square">
            <a:spAutoFit/>
          </a:bodyPr>
          <a:lstStyle/>
          <a:p>
            <a:r>
              <a:rPr b="0" sz="1600"/>
              <a:t>1</a:t>
            </a:r>
          </a:p>
        </p:txBody>
      </p:sp>
      <p:sp>
        <p:nvSpPr>
          <p:cNvPr id="6" name="TextBox 5"/>
          <p:cNvSpPr txBox="1"/>
          <p:nvPr/>
        </p:nvSpPr>
        <p:spPr>
          <a:xfrm>
            <a:off x="1798320" y="3291840"/>
            <a:ext cx="2468880" cy="274320"/>
          </a:xfrm>
          <a:prstGeom prst="rect">
            <a:avLst/>
          </a:prstGeom>
          <a:noFill/>
        </p:spPr>
        <p:txBody>
          <a:bodyPr wrap="square">
            <a:spAutoFit/>
          </a:bodyPr>
          <a:lstStyle/>
          <a:p>
            <a:r>
              <a:rPr b="1" sz="1600"/>
              <a:t>Muammo va imkoniyatlar</a:t>
            </a:r>
          </a:p>
        </p:txBody>
      </p:sp>
      <p:sp>
        <p:nvSpPr>
          <p:cNvPr id="7" name="TextBox 6"/>
          <p:cNvSpPr txBox="1"/>
          <p:nvPr/>
        </p:nvSpPr>
        <p:spPr>
          <a:xfrm>
            <a:off x="1798320" y="3840480"/>
            <a:ext cx="2743200" cy="1828800"/>
          </a:xfrm>
          <a:prstGeom prst="rect">
            <a:avLst/>
          </a:prstGeom>
          <a:noFill/>
        </p:spPr>
        <p:txBody>
          <a:bodyPr wrap="square">
            <a:spAutoFit/>
          </a:bodyPr>
          <a:lstStyle/>
          <a:p>
            <a:r>
              <a:rPr b="0" sz="1400"/>
              <a:t>Homogeneous tenglamalar sistemalarida to‘liq yechimlar mavjud bo‘lishi mumkin, agar barcha yechimlar nolinchi yechim bilan bog‘liq bo‘lsa yoki har doim yechimlar topilsa. Qisman yechimlar esa, faqat ayrim shartlar bajarilganda hosil bo‘ladi, bu muammoning muayyan holatlariga bog‘liq.</a:t>
            </a:r>
          </a:p>
        </p:txBody>
      </p:sp>
      <p:sp>
        <p:nvSpPr>
          <p:cNvPr id="8" name="Rounded Rectangle 7"/>
          <p:cNvSpPr/>
          <p:nvPr/>
        </p:nvSpPr>
        <p:spPr>
          <a:xfrm>
            <a:off x="5638800" y="2606040"/>
            <a:ext cx="457200" cy="4572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05755" y="2672995"/>
            <a:ext cx="323289" cy="323289"/>
          </a:xfrm>
          <a:prstGeom prst="rect">
            <a:avLst/>
          </a:prstGeom>
          <a:noFill/>
        </p:spPr>
        <p:txBody>
          <a:bodyPr wrap="square">
            <a:spAutoFit/>
          </a:bodyPr>
          <a:lstStyle/>
          <a:p>
            <a:r>
              <a:rPr b="0" sz="1600"/>
              <a:t>2</a:t>
            </a:r>
          </a:p>
        </p:txBody>
      </p:sp>
      <p:sp>
        <p:nvSpPr>
          <p:cNvPr id="10" name="TextBox 9"/>
          <p:cNvSpPr txBox="1"/>
          <p:nvPr/>
        </p:nvSpPr>
        <p:spPr>
          <a:xfrm>
            <a:off x="4815840" y="3291840"/>
            <a:ext cx="2468880" cy="274320"/>
          </a:xfrm>
          <a:prstGeom prst="rect">
            <a:avLst/>
          </a:prstGeom>
          <a:noFill/>
        </p:spPr>
        <p:txBody>
          <a:bodyPr wrap="square">
            <a:spAutoFit/>
          </a:bodyPr>
          <a:lstStyle/>
          <a:p>
            <a:r>
              <a:rPr b="1" sz="1600"/>
              <a:t>Yechimlarning mavjudligi shartlari</a:t>
            </a:r>
          </a:p>
        </p:txBody>
      </p:sp>
      <p:sp>
        <p:nvSpPr>
          <p:cNvPr id="11" name="TextBox 10"/>
          <p:cNvSpPr txBox="1"/>
          <p:nvPr/>
        </p:nvSpPr>
        <p:spPr>
          <a:xfrm>
            <a:off x="4815840" y="3840480"/>
            <a:ext cx="2743200" cy="1828800"/>
          </a:xfrm>
          <a:prstGeom prst="rect">
            <a:avLst/>
          </a:prstGeom>
          <a:noFill/>
        </p:spPr>
        <p:txBody>
          <a:bodyPr wrap="square">
            <a:spAutoFit/>
          </a:bodyPr>
          <a:lstStyle/>
          <a:p>
            <a:r>
              <a:rPr b="0" sz="1400"/>
              <a:t>Homogeneous sistema uchun, agar determinant nolga teng bo‘lsa, to‘liq yechimlar mavjud bo‘lib, ular qisman bo‘lishi mumkin. Bu holatda, yechimlar soni va tuzilishi sistemaning algebraik tuzilishiga bog‘liq bo‘ladi.</a:t>
            </a:r>
          </a:p>
        </p:txBody>
      </p:sp>
      <p:sp>
        <p:nvSpPr>
          <p:cNvPr id="12" name="Rounded Rectangle 11"/>
          <p:cNvSpPr/>
          <p:nvPr/>
        </p:nvSpPr>
        <p:spPr>
          <a:xfrm>
            <a:off x="8656320" y="2606040"/>
            <a:ext cx="457200" cy="4572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23275" y="2672995"/>
            <a:ext cx="323289" cy="323289"/>
          </a:xfrm>
          <a:prstGeom prst="rect">
            <a:avLst/>
          </a:prstGeom>
          <a:noFill/>
        </p:spPr>
        <p:txBody>
          <a:bodyPr wrap="square">
            <a:spAutoFit/>
          </a:bodyPr>
          <a:lstStyle/>
          <a:p>
            <a:r>
              <a:rPr b="0" sz="1600"/>
              <a:t>3</a:t>
            </a:r>
          </a:p>
        </p:txBody>
      </p:sp>
      <p:sp>
        <p:nvSpPr>
          <p:cNvPr id="14" name="TextBox 13"/>
          <p:cNvSpPr txBox="1"/>
          <p:nvPr/>
        </p:nvSpPr>
        <p:spPr>
          <a:xfrm>
            <a:off x="7833360" y="3291840"/>
            <a:ext cx="2468880" cy="274320"/>
          </a:xfrm>
          <a:prstGeom prst="rect">
            <a:avLst/>
          </a:prstGeom>
          <a:noFill/>
        </p:spPr>
        <p:txBody>
          <a:bodyPr wrap="square">
            <a:spAutoFit/>
          </a:bodyPr>
          <a:lstStyle/>
          <a:p>
            <a:r>
              <a:rPr b="1" sz="1600"/>
              <a:t>Yechimlarni aniqlash usullari</a:t>
            </a:r>
          </a:p>
        </p:txBody>
      </p:sp>
      <p:sp>
        <p:nvSpPr>
          <p:cNvPr id="15" name="TextBox 14"/>
          <p:cNvSpPr txBox="1"/>
          <p:nvPr/>
        </p:nvSpPr>
        <p:spPr>
          <a:xfrm>
            <a:off x="7833360" y="3840480"/>
            <a:ext cx="2743200" cy="1828800"/>
          </a:xfrm>
          <a:prstGeom prst="rect">
            <a:avLst/>
          </a:prstGeom>
          <a:noFill/>
        </p:spPr>
        <p:txBody>
          <a:bodyPr wrap="square">
            <a:spAutoFit/>
          </a:bodyPr>
          <a:lstStyle/>
          <a:p>
            <a:r>
              <a:rPr b="0" sz="1400"/>
              <a:t>Homogeneous tenglamalar sistema yechimlarini topish uchun lineer algebra metodlari, jumladan, Gauss eliminatsiya va matritsa usullari keng qo‘llanadi. Bu usullar yordamida yechimlarning to‘liq yoki qisman mavjudligini aniqlash mumkin.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Homogeneous tenglamalar sistemalarida yechimlarni topish usullari va amaliy misollar</a:t>
            </a:r>
          </a:p>
        </p:txBody>
      </p:sp>
      <p:sp>
        <p:nvSpPr>
          <p:cNvPr id="3" name="Rounded Rectangle 2"/>
          <p:cNvSpPr/>
          <p:nvPr/>
        </p:nvSpPr>
        <p:spPr>
          <a:xfrm>
            <a:off x="1981200" y="2286000"/>
            <a:ext cx="8229600" cy="1188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64080" y="2468880"/>
            <a:ext cx="7863840" cy="274320"/>
          </a:xfrm>
          <a:prstGeom prst="rect">
            <a:avLst/>
          </a:prstGeom>
          <a:noFill/>
        </p:spPr>
        <p:txBody>
          <a:bodyPr wrap="square">
            <a:spAutoFit/>
          </a:bodyPr>
          <a:lstStyle/>
          <a:p>
            <a:r>
              <a:rPr b="1" sz="1600"/>
              <a:t>Yechimlarni aniqlash usullari</a:t>
            </a:r>
          </a:p>
        </p:txBody>
      </p:sp>
      <p:sp>
        <p:nvSpPr>
          <p:cNvPr id="5" name="TextBox 4"/>
          <p:cNvSpPr txBox="1"/>
          <p:nvPr/>
        </p:nvSpPr>
        <p:spPr>
          <a:xfrm>
            <a:off x="2164080" y="2743200"/>
            <a:ext cx="7863840" cy="731520"/>
          </a:xfrm>
          <a:prstGeom prst="rect">
            <a:avLst/>
          </a:prstGeom>
          <a:noFill/>
        </p:spPr>
        <p:txBody>
          <a:bodyPr wrap="square">
            <a:spAutoFit/>
          </a:bodyPr>
          <a:lstStyle/>
          <a:p>
            <a:r>
              <a:rPr b="0" sz="1400"/>
              <a:t>Homogeneous tenglamalar sistemalarida yechimlarni topish uchun algebraik usullar, jumladan, Gauss eliminatsiyasi va matritsa metodlari keng qo'llaniladi. Bu usullar muammoni soddalashtiradi va to‘liq yechimlarni aniqlash imkonini beradi.</a:t>
            </a:r>
          </a:p>
        </p:txBody>
      </p:sp>
      <p:sp>
        <p:nvSpPr>
          <p:cNvPr id="6" name="Rounded Rectangle 5"/>
          <p:cNvSpPr/>
          <p:nvPr/>
        </p:nvSpPr>
        <p:spPr>
          <a:xfrm>
            <a:off x="1981200" y="3657600"/>
            <a:ext cx="8229600" cy="1188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64080" y="3840480"/>
            <a:ext cx="7863840" cy="274320"/>
          </a:xfrm>
          <a:prstGeom prst="rect">
            <a:avLst/>
          </a:prstGeom>
          <a:noFill/>
        </p:spPr>
        <p:txBody>
          <a:bodyPr wrap="square">
            <a:spAutoFit/>
          </a:bodyPr>
          <a:lstStyle/>
          <a:p>
            <a:r>
              <a:rPr b="1" sz="1600"/>
              <a:t>Matritsa yondashuvi</a:t>
            </a:r>
          </a:p>
        </p:txBody>
      </p:sp>
      <p:sp>
        <p:nvSpPr>
          <p:cNvPr id="8" name="TextBox 7"/>
          <p:cNvSpPr txBox="1"/>
          <p:nvPr/>
        </p:nvSpPr>
        <p:spPr>
          <a:xfrm>
            <a:off x="2164080" y="4114800"/>
            <a:ext cx="7863840" cy="731520"/>
          </a:xfrm>
          <a:prstGeom prst="rect">
            <a:avLst/>
          </a:prstGeom>
          <a:noFill/>
        </p:spPr>
        <p:txBody>
          <a:bodyPr wrap="square">
            <a:spAutoFit/>
          </a:bodyPr>
          <a:lstStyle/>
          <a:p>
            <a:r>
              <a:rPr b="0" sz="1400"/>
              <a:t>Matritsa metodlari yordamida tenglamalar sistemasi ko‘rinishga keltiriladi va yechimlar matritsa algebra yordamida aniqlanadi. Bu usul ko‘p o‘zgaruvchilarga ega tizimlar uchun qulay va samarali.</a:t>
            </a:r>
          </a:p>
        </p:txBody>
      </p:sp>
      <p:sp>
        <p:nvSpPr>
          <p:cNvPr id="9" name="Rounded Rectangle 8"/>
          <p:cNvSpPr/>
          <p:nvPr/>
        </p:nvSpPr>
        <p:spPr>
          <a:xfrm>
            <a:off x="1981200" y="5029200"/>
            <a:ext cx="8229600" cy="1188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64080" y="5212080"/>
            <a:ext cx="7863840" cy="274320"/>
          </a:xfrm>
          <a:prstGeom prst="rect">
            <a:avLst/>
          </a:prstGeom>
          <a:noFill/>
        </p:spPr>
        <p:txBody>
          <a:bodyPr wrap="square">
            <a:spAutoFit/>
          </a:bodyPr>
          <a:lstStyle/>
          <a:p>
            <a:r>
              <a:rPr b="1" sz="1600"/>
              <a:t>Amaliy misollar</a:t>
            </a:r>
          </a:p>
        </p:txBody>
      </p:sp>
      <p:sp>
        <p:nvSpPr>
          <p:cNvPr id="11" name="TextBox 10"/>
          <p:cNvSpPr txBox="1"/>
          <p:nvPr/>
        </p:nvSpPr>
        <p:spPr>
          <a:xfrm>
            <a:off x="2164080" y="5486400"/>
            <a:ext cx="7863840" cy="731520"/>
          </a:xfrm>
          <a:prstGeom prst="rect">
            <a:avLst/>
          </a:prstGeom>
          <a:noFill/>
        </p:spPr>
        <p:txBody>
          <a:bodyPr wrap="square">
            <a:spAutoFit/>
          </a:bodyPr>
          <a:lstStyle/>
          <a:p>
            <a:r>
              <a:rPr b="0" sz="1400"/>
              <a:t>Homogeneous tenglamalar sistemalarini yechish uchun amaliy misollar, masalan, muhandislik va iqtisodiyotdagi muammolar yordamida nazariyani amalda qo‘llash o‘rgatiladi. Bu usullar real hayotdagi muammolarga yechim topishda yordam beradi.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Homogeneous tenglamalar sistemalarining xususiyatlari va ularning lineer algebra bilan aloqasi</a:t>
            </a:r>
          </a:p>
        </p:txBody>
      </p:sp>
      <p:sp>
        <p:nvSpPr>
          <p:cNvPr id="3" name="Rounded Rectangle 2"/>
          <p:cNvSpPr/>
          <p:nvPr/>
        </p:nvSpPr>
        <p:spPr>
          <a:xfrm>
            <a:off x="1188720" y="26517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2284" y="2705324"/>
            <a:ext cx="258631" cy="258631"/>
          </a:xfrm>
          <a:prstGeom prst="rect">
            <a:avLst/>
          </a:prstGeom>
          <a:noFill/>
        </p:spPr>
        <p:txBody>
          <a:bodyPr wrap="square">
            <a:spAutoFit/>
          </a:bodyPr>
          <a:lstStyle/>
          <a:p>
            <a:r>
              <a:rPr b="0" sz="1600"/>
              <a:t>1</a:t>
            </a:r>
          </a:p>
        </p:txBody>
      </p:sp>
      <p:sp>
        <p:nvSpPr>
          <p:cNvPr id="5" name="TextBox 4"/>
          <p:cNvSpPr txBox="1"/>
          <p:nvPr/>
        </p:nvSpPr>
        <p:spPr>
          <a:xfrm>
            <a:off x="2103120" y="2560320"/>
            <a:ext cx="6400800" cy="274320"/>
          </a:xfrm>
          <a:prstGeom prst="rect">
            <a:avLst/>
          </a:prstGeom>
          <a:noFill/>
        </p:spPr>
        <p:txBody>
          <a:bodyPr wrap="square">
            <a:spAutoFit/>
          </a:bodyPr>
          <a:lstStyle/>
          <a:p>
            <a:r>
              <a:rPr b="1" sz="1800"/>
              <a:t>Tenglamalar xususiyatlari</a:t>
            </a:r>
          </a:p>
        </p:txBody>
      </p:sp>
      <p:sp>
        <p:nvSpPr>
          <p:cNvPr id="6" name="TextBox 5"/>
          <p:cNvSpPr txBox="1"/>
          <p:nvPr/>
        </p:nvSpPr>
        <p:spPr>
          <a:xfrm>
            <a:off x="2103120" y="2834640"/>
            <a:ext cx="9144000" cy="914400"/>
          </a:xfrm>
          <a:prstGeom prst="rect">
            <a:avLst/>
          </a:prstGeom>
          <a:noFill/>
        </p:spPr>
        <p:txBody>
          <a:bodyPr wrap="square">
            <a:spAutoFit/>
          </a:bodyPr>
          <a:lstStyle/>
          <a:p>
            <a:r>
              <a:rPr b="0" sz="1400"/>
              <a:t>  - Homogeneous tenglamalar sistemasida barcha tenglamalar o'zgaruvchilarining bir xil koeffitsiyentlar bilan ifodalanadi. Bu ularning yechimlarini aniqlashda yordam beradi.</a:t>
            </a:r>
          </a:p>
        </p:txBody>
      </p:sp>
      <p:sp>
        <p:nvSpPr>
          <p:cNvPr id="7" name="Rounded Rectangle 6"/>
          <p:cNvSpPr/>
          <p:nvPr/>
        </p:nvSpPr>
        <p:spPr>
          <a:xfrm>
            <a:off x="1188720" y="35661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2284" y="3619724"/>
            <a:ext cx="258631" cy="258631"/>
          </a:xfrm>
          <a:prstGeom prst="rect">
            <a:avLst/>
          </a:prstGeom>
          <a:noFill/>
        </p:spPr>
        <p:txBody>
          <a:bodyPr wrap="square">
            <a:spAutoFit/>
          </a:bodyPr>
          <a:lstStyle/>
          <a:p>
            <a:r>
              <a:rPr b="0" sz="1600"/>
              <a:t>2</a:t>
            </a:r>
          </a:p>
        </p:txBody>
      </p:sp>
      <p:sp>
        <p:nvSpPr>
          <p:cNvPr id="9" name="TextBox 8"/>
          <p:cNvSpPr txBox="1"/>
          <p:nvPr/>
        </p:nvSpPr>
        <p:spPr>
          <a:xfrm>
            <a:off x="2103120" y="3474720"/>
            <a:ext cx="6400800" cy="274320"/>
          </a:xfrm>
          <a:prstGeom prst="rect">
            <a:avLst/>
          </a:prstGeom>
          <a:noFill/>
        </p:spPr>
        <p:txBody>
          <a:bodyPr wrap="square">
            <a:spAutoFit/>
          </a:bodyPr>
          <a:lstStyle/>
          <a:p>
            <a:r>
              <a:rPr b="1" sz="1800"/>
              <a:t>Yo‘nalish va yechimlar</a:t>
            </a:r>
          </a:p>
        </p:txBody>
      </p:sp>
      <p:sp>
        <p:nvSpPr>
          <p:cNvPr id="10" name="TextBox 9"/>
          <p:cNvSpPr txBox="1"/>
          <p:nvPr/>
        </p:nvSpPr>
        <p:spPr>
          <a:xfrm>
            <a:off x="2103120" y="3749040"/>
            <a:ext cx="6400800" cy="914400"/>
          </a:xfrm>
          <a:prstGeom prst="rect">
            <a:avLst/>
          </a:prstGeom>
          <a:noFill/>
        </p:spPr>
        <p:txBody>
          <a:bodyPr wrap="square">
            <a:spAutoFit/>
          </a:bodyPr>
          <a:lstStyle/>
          <a:p>
            <a:r>
              <a:rPr b="0" sz="1400"/>
              <a:t>  - Bu tenglamalar sistemasida yechimlar nolinchi yoki infiniti bo‘lishi mumkin. Ularning mavjudligi va shakli lineer algebra yordamida aniqlanadi.</a:t>
            </a:r>
          </a:p>
        </p:txBody>
      </p:sp>
      <p:sp>
        <p:nvSpPr>
          <p:cNvPr id="11" name="Rounded Rectangle 10"/>
          <p:cNvSpPr/>
          <p:nvPr/>
        </p:nvSpPr>
        <p:spPr>
          <a:xfrm>
            <a:off x="1188720" y="44805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2284" y="4534124"/>
            <a:ext cx="258631" cy="258631"/>
          </a:xfrm>
          <a:prstGeom prst="rect">
            <a:avLst/>
          </a:prstGeom>
          <a:noFill/>
        </p:spPr>
        <p:txBody>
          <a:bodyPr wrap="square">
            <a:spAutoFit/>
          </a:bodyPr>
          <a:lstStyle/>
          <a:p>
            <a:r>
              <a:rPr b="0" sz="1600"/>
              <a:t>3</a:t>
            </a:r>
          </a:p>
        </p:txBody>
      </p:sp>
      <p:sp>
        <p:nvSpPr>
          <p:cNvPr id="13" name="TextBox 12"/>
          <p:cNvSpPr txBox="1"/>
          <p:nvPr/>
        </p:nvSpPr>
        <p:spPr>
          <a:xfrm>
            <a:off x="2103120" y="4389120"/>
            <a:ext cx="6400800" cy="274320"/>
          </a:xfrm>
          <a:prstGeom prst="rect">
            <a:avLst/>
          </a:prstGeom>
          <a:noFill/>
        </p:spPr>
        <p:txBody>
          <a:bodyPr wrap="square">
            <a:spAutoFit/>
          </a:bodyPr>
          <a:lstStyle/>
          <a:p>
            <a:r>
              <a:rPr b="1" sz="1800"/>
              <a:t>Matritsa va determinantlar</a:t>
            </a:r>
          </a:p>
        </p:txBody>
      </p:sp>
      <p:sp>
        <p:nvSpPr>
          <p:cNvPr id="14" name="TextBox 13"/>
          <p:cNvSpPr txBox="1"/>
          <p:nvPr/>
        </p:nvSpPr>
        <p:spPr>
          <a:xfrm>
            <a:off x="2103120" y="4663440"/>
            <a:ext cx="6400800" cy="914400"/>
          </a:xfrm>
          <a:prstGeom prst="rect">
            <a:avLst/>
          </a:prstGeom>
          <a:noFill/>
        </p:spPr>
        <p:txBody>
          <a:bodyPr wrap="square">
            <a:spAutoFit/>
          </a:bodyPr>
          <a:lstStyle/>
          <a:p>
            <a:r>
              <a:rPr b="0" sz="1400"/>
              <a:t>  - Homogeneous tenglamalar uchun matritsa metodlari va determinantlar muhimdir. Ular yechimlarni topish va sistemalar xususiyatlarini tahlil qilishda qo‘llanadi.</a:t>
            </a:r>
          </a:p>
        </p:txBody>
      </p:sp>
      <p:sp>
        <p:nvSpPr>
          <p:cNvPr id="15" name="Rounded Rectangle 14"/>
          <p:cNvSpPr/>
          <p:nvPr/>
        </p:nvSpPr>
        <p:spPr>
          <a:xfrm>
            <a:off x="1188720" y="53949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42284" y="5448524"/>
            <a:ext cx="258631" cy="258631"/>
          </a:xfrm>
          <a:prstGeom prst="rect">
            <a:avLst/>
          </a:prstGeom>
          <a:noFill/>
        </p:spPr>
        <p:txBody>
          <a:bodyPr wrap="square">
            <a:spAutoFit/>
          </a:bodyPr>
          <a:lstStyle/>
          <a:p>
            <a:r>
              <a:rPr b="0" sz="1600"/>
              <a:t>4</a:t>
            </a:r>
          </a:p>
        </p:txBody>
      </p:sp>
      <p:sp>
        <p:nvSpPr>
          <p:cNvPr id="17" name="TextBox 16"/>
          <p:cNvSpPr txBox="1"/>
          <p:nvPr/>
        </p:nvSpPr>
        <p:spPr>
          <a:xfrm>
            <a:off x="2103120" y="5303520"/>
            <a:ext cx="6400800" cy="274320"/>
          </a:xfrm>
          <a:prstGeom prst="rect">
            <a:avLst/>
          </a:prstGeom>
          <a:noFill/>
        </p:spPr>
        <p:txBody>
          <a:bodyPr wrap="square">
            <a:spAutoFit/>
          </a:bodyPr>
          <a:lstStyle/>
          <a:p>
            <a:r>
              <a:rPr b="1" sz="1800"/>
              <a:t>Lineer algebra aloqasi</a:t>
            </a:r>
          </a:p>
        </p:txBody>
      </p:sp>
      <p:sp>
        <p:nvSpPr>
          <p:cNvPr id="18" name="TextBox 17"/>
          <p:cNvSpPr txBox="1"/>
          <p:nvPr/>
        </p:nvSpPr>
        <p:spPr>
          <a:xfrm>
            <a:off x="2103120" y="5577840"/>
            <a:ext cx="6400800" cy="914400"/>
          </a:xfrm>
          <a:prstGeom prst="rect">
            <a:avLst/>
          </a:prstGeom>
          <a:noFill/>
        </p:spPr>
        <p:txBody>
          <a:bodyPr wrap="square">
            <a:spAutoFit/>
          </a:bodyPr>
          <a:lstStyle/>
          <a:p>
            <a:r>
              <a:rPr b="0" sz="1400"/>
              <a:t>  - Bu tenglamalar lineer algebra bilan chambarchas bog‘liq bo‘lib, matritsa, vektorlar va determinantlar yordamida yechimlar va strukturalar o‘rganiladi.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Homogeneous tenglamalar sistemasining yechimlari va ularning xususiyatlari</a:t>
            </a:r>
          </a:p>
        </p:txBody>
      </p:sp>
      <p:sp>
        <p:nvSpPr>
          <p:cNvPr id="3" name="Rounded Rectangle 2"/>
          <p:cNvSpPr/>
          <p:nvPr/>
        </p:nvSpPr>
        <p:spPr>
          <a:xfrm>
            <a:off x="2529840" y="2286000"/>
            <a:ext cx="2194560" cy="39319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61360" y="2468880"/>
            <a:ext cx="2194560" cy="914400"/>
          </a:xfrm>
          <a:prstGeom prst="rect">
            <a:avLst/>
          </a:prstGeom>
          <a:noFill/>
        </p:spPr>
        <p:txBody>
          <a:bodyPr wrap="square">
            <a:spAutoFit/>
          </a:bodyPr>
          <a:lstStyle/>
          <a:p>
            <a:r>
              <a:rPr b="1" sz="3600"/>
              <a:t>01</a:t>
            </a:r>
          </a:p>
        </p:txBody>
      </p:sp>
      <p:sp>
        <p:nvSpPr>
          <p:cNvPr id="5" name="TextBox 4"/>
          <p:cNvSpPr txBox="1"/>
          <p:nvPr/>
        </p:nvSpPr>
        <p:spPr>
          <a:xfrm>
            <a:off x="2529840" y="3063240"/>
            <a:ext cx="2194560" cy="457200"/>
          </a:xfrm>
          <a:prstGeom prst="rect">
            <a:avLst/>
          </a:prstGeom>
          <a:noFill/>
        </p:spPr>
        <p:txBody>
          <a:bodyPr wrap="square">
            <a:spAutoFit/>
          </a:bodyPr>
          <a:lstStyle/>
          <a:p>
            <a:r>
              <a:rPr b="1" sz="1800"/>
              <a:t>Yechimlarning mavjudligi</a:t>
            </a:r>
          </a:p>
        </p:txBody>
      </p:sp>
      <p:sp>
        <p:nvSpPr>
          <p:cNvPr id="6" name="TextBox 5"/>
          <p:cNvSpPr txBox="1"/>
          <p:nvPr/>
        </p:nvSpPr>
        <p:spPr>
          <a:xfrm>
            <a:off x="2529840" y="3931920"/>
            <a:ext cx="2194560" cy="2743200"/>
          </a:xfrm>
          <a:prstGeom prst="rect">
            <a:avLst/>
          </a:prstGeom>
          <a:noFill/>
        </p:spPr>
        <p:txBody>
          <a:bodyPr wrap="square">
            <a:spAutoFit/>
          </a:bodyPr>
          <a:lstStyle/>
          <a:p>
            <a:r>
              <a:rPr b="0" sz="1200"/>
              <a:t>Homogeneous tenglamalar sistemasi nolinchi yechimga ega bo’lishi bilan birga, nolinchi yechim ularning asosiy va muhim xususiyatidir. Bu tenglamalar uchun har doim nol vektor yechim mavjud bo’ladi.</a:t>
            </a:r>
          </a:p>
        </p:txBody>
      </p:sp>
      <p:sp>
        <p:nvSpPr>
          <p:cNvPr id="7" name="Rounded Rectangle 6"/>
          <p:cNvSpPr/>
          <p:nvPr/>
        </p:nvSpPr>
        <p:spPr>
          <a:xfrm>
            <a:off x="4998720" y="2286000"/>
            <a:ext cx="2194560" cy="39319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30240" y="2468880"/>
            <a:ext cx="2194560" cy="914400"/>
          </a:xfrm>
          <a:prstGeom prst="rect">
            <a:avLst/>
          </a:prstGeom>
          <a:noFill/>
        </p:spPr>
        <p:txBody>
          <a:bodyPr wrap="square">
            <a:spAutoFit/>
          </a:bodyPr>
          <a:lstStyle/>
          <a:p>
            <a:r>
              <a:rPr b="1" sz="3600"/>
              <a:t>02</a:t>
            </a:r>
          </a:p>
        </p:txBody>
      </p:sp>
      <p:sp>
        <p:nvSpPr>
          <p:cNvPr id="9" name="TextBox 8"/>
          <p:cNvSpPr txBox="1"/>
          <p:nvPr/>
        </p:nvSpPr>
        <p:spPr>
          <a:xfrm>
            <a:off x="4998720" y="3063240"/>
            <a:ext cx="2194560" cy="457200"/>
          </a:xfrm>
          <a:prstGeom prst="rect">
            <a:avLst/>
          </a:prstGeom>
          <a:noFill/>
        </p:spPr>
        <p:txBody>
          <a:bodyPr wrap="square">
            <a:spAutoFit/>
          </a:bodyPr>
          <a:lstStyle/>
          <a:p>
            <a:r>
              <a:rPr b="1" sz="1800"/>
              <a:t>Yechimlarning tuzilishi</a:t>
            </a:r>
          </a:p>
        </p:txBody>
      </p:sp>
      <p:sp>
        <p:nvSpPr>
          <p:cNvPr id="10" name="TextBox 9"/>
          <p:cNvSpPr txBox="1"/>
          <p:nvPr/>
        </p:nvSpPr>
        <p:spPr>
          <a:xfrm>
            <a:off x="4998720" y="3931920"/>
            <a:ext cx="2194560" cy="2743200"/>
          </a:xfrm>
          <a:prstGeom prst="rect">
            <a:avLst/>
          </a:prstGeom>
          <a:noFill/>
        </p:spPr>
        <p:txBody>
          <a:bodyPr wrap="square">
            <a:spAutoFit/>
          </a:bodyPr>
          <a:lstStyle/>
          <a:p>
            <a:r>
              <a:rPr b="0" sz="1200"/>
              <a:t>Homogeneous tenglamalar sistemasi yechimlari lineer kombinatsiyalar shaklida ifodalanadi. Ularning umumiy yechimi faqat nolinchi yechimdan iborat bo’lishi mumkin yoki ko’proq yechimlar bo’lishi ehtimolga ega.</a:t>
            </a:r>
          </a:p>
        </p:txBody>
      </p:sp>
      <p:sp>
        <p:nvSpPr>
          <p:cNvPr id="11" name="Rounded Rectangle 10"/>
          <p:cNvSpPr/>
          <p:nvPr/>
        </p:nvSpPr>
        <p:spPr>
          <a:xfrm>
            <a:off x="7467600" y="2286000"/>
            <a:ext cx="2194560" cy="39319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9120" y="2468880"/>
            <a:ext cx="2194560" cy="914400"/>
          </a:xfrm>
          <a:prstGeom prst="rect">
            <a:avLst/>
          </a:prstGeom>
          <a:noFill/>
        </p:spPr>
        <p:txBody>
          <a:bodyPr wrap="square">
            <a:spAutoFit/>
          </a:bodyPr>
          <a:lstStyle/>
          <a:p>
            <a:r>
              <a:rPr b="1" sz="3600"/>
              <a:t>03</a:t>
            </a:r>
          </a:p>
        </p:txBody>
      </p:sp>
      <p:sp>
        <p:nvSpPr>
          <p:cNvPr id="13" name="TextBox 12"/>
          <p:cNvSpPr txBox="1"/>
          <p:nvPr/>
        </p:nvSpPr>
        <p:spPr>
          <a:xfrm>
            <a:off x="7467600" y="3063240"/>
            <a:ext cx="2194560" cy="457200"/>
          </a:xfrm>
          <a:prstGeom prst="rect">
            <a:avLst/>
          </a:prstGeom>
          <a:noFill/>
        </p:spPr>
        <p:txBody>
          <a:bodyPr wrap="square">
            <a:spAutoFit/>
          </a:bodyPr>
          <a:lstStyle/>
          <a:p>
            <a:r>
              <a:rPr b="1" sz="1800"/>
              <a:t>Yechimlarning xususiyatlari</a:t>
            </a:r>
          </a:p>
        </p:txBody>
      </p:sp>
      <p:sp>
        <p:nvSpPr>
          <p:cNvPr id="14" name="TextBox 13"/>
          <p:cNvSpPr txBox="1"/>
          <p:nvPr/>
        </p:nvSpPr>
        <p:spPr>
          <a:xfrm>
            <a:off x="7467600" y="3931920"/>
            <a:ext cx="2194560" cy="2743200"/>
          </a:xfrm>
          <a:prstGeom prst="rect">
            <a:avLst/>
          </a:prstGeom>
          <a:noFill/>
        </p:spPr>
        <p:txBody>
          <a:bodyPr wrap="square">
            <a:spAutoFit/>
          </a:bodyPr>
          <a:lstStyle/>
          <a:p>
            <a:r>
              <a:rPr b="0" sz="1200"/>
              <a:t>Homogeneous tenglamalar sistemasi yechimlari lineer algebra bilan chuqur bog’liq bo’lib, ular matritsa va vektorlar yordamida tahlil qilinadi. Bu orqali yechimlarning to’liq va qisman mavjudligi aniqlanadi.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Lineer algebra asosida bir jinsli tenglamalar sistemasini yechish metodlari</a:t>
            </a:r>
          </a:p>
        </p:txBody>
      </p:sp>
      <p:cxnSp>
        <p:nvCxnSpPr>
          <p:cNvPr id="3" name="Connector 2"/>
          <p:cNvCxnSpPr/>
          <p:nvPr/>
        </p:nvCxnSpPr>
        <p:spPr>
          <a:xfrm>
            <a:off x="1371600" y="2560320"/>
            <a:ext cx="0" cy="237744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2834640"/>
            <a:ext cx="731520"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188720" y="2651760"/>
            <a:ext cx="365760" cy="36576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42284" y="2705324"/>
            <a:ext cx="258631" cy="258631"/>
          </a:xfrm>
          <a:prstGeom prst="rect">
            <a:avLst/>
          </a:prstGeom>
          <a:noFill/>
        </p:spPr>
        <p:txBody>
          <a:bodyPr wrap="square">
            <a:spAutoFit/>
          </a:bodyPr>
          <a:lstStyle/>
          <a:p>
            <a:r>
              <a:rPr b="0" sz="1600"/>
              <a:t>1</a:t>
            </a:r>
          </a:p>
        </p:txBody>
      </p:sp>
      <p:sp>
        <p:nvSpPr>
          <p:cNvPr id="7" name="TextBox 6"/>
          <p:cNvSpPr txBox="1"/>
          <p:nvPr/>
        </p:nvSpPr>
        <p:spPr>
          <a:xfrm>
            <a:off x="2103120" y="2560320"/>
            <a:ext cx="6400800" cy="274320"/>
          </a:xfrm>
          <a:prstGeom prst="rect">
            <a:avLst/>
          </a:prstGeom>
          <a:noFill/>
        </p:spPr>
        <p:txBody>
          <a:bodyPr wrap="square">
            <a:spAutoFit/>
          </a:bodyPr>
          <a:lstStyle/>
          <a:p>
            <a:r>
              <a:rPr b="1" sz="1600"/>
              <a:t>Klassik metodlar</a:t>
            </a:r>
          </a:p>
        </p:txBody>
      </p:sp>
      <p:sp>
        <p:nvSpPr>
          <p:cNvPr id="8" name="TextBox 7"/>
          <p:cNvSpPr txBox="1"/>
          <p:nvPr/>
        </p:nvSpPr>
        <p:spPr>
          <a:xfrm>
            <a:off x="2103120" y="2834640"/>
            <a:ext cx="9144000" cy="914400"/>
          </a:xfrm>
          <a:prstGeom prst="rect">
            <a:avLst/>
          </a:prstGeom>
          <a:noFill/>
        </p:spPr>
        <p:txBody>
          <a:bodyPr wrap="square">
            <a:spAutoFit/>
          </a:bodyPr>
          <a:lstStyle/>
          <a:p>
            <a:r>
              <a:rPr b="0" sz="1400"/>
              <a:t>Lineer algebra asosida tenglamalar sistemini yechishda Gauss eliminatsiya usuli eng keng qo‘llaniladi. Bu metod yordamida tenglamalar matritsa shaklida ifodalanadi va bosqichma-bosqich yechim topiladi.</a:t>
            </a:r>
          </a:p>
        </p:txBody>
      </p:sp>
      <p:cxnSp>
        <p:nvCxnSpPr>
          <p:cNvPr id="9" name="Connector 8"/>
          <p:cNvCxnSpPr/>
          <p:nvPr/>
        </p:nvCxnSpPr>
        <p:spPr>
          <a:xfrm>
            <a:off x="1371600" y="3749040"/>
            <a:ext cx="731520"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188720" y="3566160"/>
            <a:ext cx="365760" cy="36576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2284" y="3619724"/>
            <a:ext cx="258631" cy="258631"/>
          </a:xfrm>
          <a:prstGeom prst="rect">
            <a:avLst/>
          </a:prstGeom>
          <a:noFill/>
        </p:spPr>
        <p:txBody>
          <a:bodyPr wrap="square">
            <a:spAutoFit/>
          </a:bodyPr>
          <a:lstStyle/>
          <a:p>
            <a:r>
              <a:rPr b="0" sz="1600"/>
              <a:t>2</a:t>
            </a:r>
          </a:p>
        </p:txBody>
      </p:sp>
      <p:sp>
        <p:nvSpPr>
          <p:cNvPr id="12" name="TextBox 11"/>
          <p:cNvSpPr txBox="1"/>
          <p:nvPr/>
        </p:nvSpPr>
        <p:spPr>
          <a:xfrm>
            <a:off x="2103120" y="3474720"/>
            <a:ext cx="6400800" cy="274320"/>
          </a:xfrm>
          <a:prstGeom prst="rect">
            <a:avLst/>
          </a:prstGeom>
          <a:noFill/>
        </p:spPr>
        <p:txBody>
          <a:bodyPr wrap="square">
            <a:spAutoFit/>
          </a:bodyPr>
          <a:lstStyle/>
          <a:p>
            <a:r>
              <a:rPr b="1" sz="1600"/>
              <a:t>Matritsa yondashuvi</a:t>
            </a:r>
          </a:p>
        </p:txBody>
      </p:sp>
      <p:sp>
        <p:nvSpPr>
          <p:cNvPr id="13" name="TextBox 12"/>
          <p:cNvSpPr txBox="1"/>
          <p:nvPr/>
        </p:nvSpPr>
        <p:spPr>
          <a:xfrm>
            <a:off x="2103120" y="3749040"/>
            <a:ext cx="9144000" cy="914400"/>
          </a:xfrm>
          <a:prstGeom prst="rect">
            <a:avLst/>
          </a:prstGeom>
          <a:noFill/>
        </p:spPr>
        <p:txBody>
          <a:bodyPr wrap="square">
            <a:spAutoFit/>
          </a:bodyPr>
          <a:lstStyle/>
          <a:p>
            <a:r>
              <a:rPr b="0" sz="1400"/>
              <a:t>Matritsalar va determinantlar yordamida tenglamalar sistemasi tahlil qilinadi, bu esa yechimlarning mavjudligi va xilma-xilligini aniqlash uchun qulay usul hisoblanadi.</a:t>
            </a:r>
          </a:p>
        </p:txBody>
      </p:sp>
      <p:cxnSp>
        <p:nvCxnSpPr>
          <p:cNvPr id="14" name="Connector 13"/>
          <p:cNvCxnSpPr/>
          <p:nvPr/>
        </p:nvCxnSpPr>
        <p:spPr>
          <a:xfrm>
            <a:off x="1371600" y="4663440"/>
            <a:ext cx="731520"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188720" y="4480560"/>
            <a:ext cx="365760" cy="36576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42284" y="4534124"/>
            <a:ext cx="258631" cy="258631"/>
          </a:xfrm>
          <a:prstGeom prst="rect">
            <a:avLst/>
          </a:prstGeom>
          <a:noFill/>
        </p:spPr>
        <p:txBody>
          <a:bodyPr wrap="square">
            <a:spAutoFit/>
          </a:bodyPr>
          <a:lstStyle/>
          <a:p>
            <a:r>
              <a:rPr b="0" sz="1600"/>
              <a:t>3</a:t>
            </a:r>
          </a:p>
        </p:txBody>
      </p:sp>
      <p:sp>
        <p:nvSpPr>
          <p:cNvPr id="17" name="TextBox 16"/>
          <p:cNvSpPr txBox="1"/>
          <p:nvPr/>
        </p:nvSpPr>
        <p:spPr>
          <a:xfrm>
            <a:off x="2103120" y="4389120"/>
            <a:ext cx="6400800" cy="274320"/>
          </a:xfrm>
          <a:prstGeom prst="rect">
            <a:avLst/>
          </a:prstGeom>
          <a:noFill/>
        </p:spPr>
        <p:txBody>
          <a:bodyPr wrap="square">
            <a:spAutoFit/>
          </a:bodyPr>
          <a:lstStyle/>
          <a:p>
            <a:r>
              <a:rPr b="1" sz="1600"/>
              <a:t>Algoritmik yondashuvlar</a:t>
            </a:r>
          </a:p>
        </p:txBody>
      </p:sp>
      <p:sp>
        <p:nvSpPr>
          <p:cNvPr id="18" name="TextBox 17"/>
          <p:cNvSpPr txBox="1"/>
          <p:nvPr/>
        </p:nvSpPr>
        <p:spPr>
          <a:xfrm>
            <a:off x="2103120" y="4663440"/>
            <a:ext cx="9144000" cy="914400"/>
          </a:xfrm>
          <a:prstGeom prst="rect">
            <a:avLst/>
          </a:prstGeom>
          <a:noFill/>
        </p:spPr>
        <p:txBody>
          <a:bodyPr wrap="square">
            <a:spAutoFit/>
          </a:bodyPr>
          <a:lstStyle/>
          <a:p>
            <a:r>
              <a:rPr b="0" sz="1400"/>
              <a:t>Kompyuter dasturlari yordamida lineer algebra metodlari avtomatlashtiriladi, bu esa katta o‘lchamli va murakkab tenglamalar systemsini tez va aniq yechishga imkon beradi.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Gauss eliminatsiya usuli bilan bir jinsli tenglamalar sistemasini hal qilish</a:t>
            </a:r>
          </a:p>
        </p:txBody>
      </p:sp>
      <p:sp>
        <p:nvSpPr>
          <p:cNvPr id="3" name="Rounded Rectangle 2"/>
          <p:cNvSpPr/>
          <p:nvPr/>
        </p:nvSpPr>
        <p:spPr>
          <a:xfrm>
            <a:off x="1203960" y="2560320"/>
            <a:ext cx="411480" cy="4114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64219" y="2620579"/>
            <a:ext cx="290960" cy="290960"/>
          </a:xfrm>
          <a:prstGeom prst="rect">
            <a:avLst/>
          </a:prstGeom>
          <a:noFill/>
        </p:spPr>
        <p:txBody>
          <a:bodyPr wrap="square">
            <a:spAutoFit/>
          </a:bodyPr>
          <a:lstStyle/>
          <a:p>
            <a:r>
              <a:rPr b="0" sz="1600"/>
              <a:t>1</a:t>
            </a:r>
          </a:p>
        </p:txBody>
      </p:sp>
      <p:sp>
        <p:nvSpPr>
          <p:cNvPr id="5" name="TextBox 4"/>
          <p:cNvSpPr txBox="1"/>
          <p:nvPr/>
        </p:nvSpPr>
        <p:spPr>
          <a:xfrm>
            <a:off x="1478280" y="2468880"/>
            <a:ext cx="4572000" cy="1645920"/>
          </a:xfrm>
          <a:prstGeom prst="rect">
            <a:avLst/>
          </a:prstGeom>
          <a:noFill/>
        </p:spPr>
        <p:txBody>
          <a:bodyPr wrap="none">
            <a:spAutoFit/>
          </a:bodyPr>
          <a:lstStyle/>
          <a:p/>
        </p:txBody>
      </p:sp>
      <p:sp>
        <p:nvSpPr>
          <p:cNvPr id="6" name="TextBox 5"/>
          <p:cNvSpPr txBox="1"/>
          <p:nvPr/>
        </p:nvSpPr>
        <p:spPr>
          <a:xfrm>
            <a:off x="1661160" y="2651760"/>
            <a:ext cx="4206240" cy="274320"/>
          </a:xfrm>
          <a:prstGeom prst="rect">
            <a:avLst/>
          </a:prstGeom>
          <a:noFill/>
        </p:spPr>
        <p:txBody>
          <a:bodyPr wrap="square">
            <a:spAutoFit/>
          </a:bodyPr>
          <a:lstStyle/>
          <a:p>
            <a:r>
              <a:rPr b="1" sz="1600"/>
              <a:t>Matritsa shakli</a:t>
            </a:r>
          </a:p>
        </p:txBody>
      </p:sp>
      <p:sp>
        <p:nvSpPr>
          <p:cNvPr id="7" name="TextBox 6"/>
          <p:cNvSpPr txBox="1"/>
          <p:nvPr/>
        </p:nvSpPr>
        <p:spPr>
          <a:xfrm>
            <a:off x="1661160" y="2926080"/>
            <a:ext cx="4206240" cy="1005840"/>
          </a:xfrm>
          <a:prstGeom prst="rect">
            <a:avLst/>
          </a:prstGeom>
          <a:noFill/>
        </p:spPr>
        <p:txBody>
          <a:bodyPr wrap="square">
            <a:spAutoFit/>
          </a:bodyPr>
          <a:lstStyle/>
          <a:p>
            <a:r>
              <a:rPr b="0" sz="1400"/>
              <a:t>Gauss eliminatsiya usuli matritsalar bilan ishlashga asoslangan bo‘lib, tenglamalar sistemasini ketma-ketlik bilan o‘zgartirish orqali yechim topishga yordam beradi.</a:t>
            </a:r>
          </a:p>
        </p:txBody>
      </p:sp>
      <p:sp>
        <p:nvSpPr>
          <p:cNvPr id="8" name="Rounded Rectangle 7"/>
          <p:cNvSpPr/>
          <p:nvPr/>
        </p:nvSpPr>
        <p:spPr>
          <a:xfrm>
            <a:off x="5867400" y="2560320"/>
            <a:ext cx="411480" cy="4114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27659" y="2620579"/>
            <a:ext cx="290960" cy="290960"/>
          </a:xfrm>
          <a:prstGeom prst="rect">
            <a:avLst/>
          </a:prstGeom>
          <a:noFill/>
        </p:spPr>
        <p:txBody>
          <a:bodyPr wrap="square">
            <a:spAutoFit/>
          </a:bodyPr>
          <a:lstStyle/>
          <a:p>
            <a:r>
              <a:rPr b="0" sz="1600"/>
              <a:t>2</a:t>
            </a:r>
          </a:p>
        </p:txBody>
      </p:sp>
      <p:sp>
        <p:nvSpPr>
          <p:cNvPr id="10" name="TextBox 9"/>
          <p:cNvSpPr txBox="1"/>
          <p:nvPr/>
        </p:nvSpPr>
        <p:spPr>
          <a:xfrm>
            <a:off x="6141720" y="2468880"/>
            <a:ext cx="4572000" cy="1645920"/>
          </a:xfrm>
          <a:prstGeom prst="rect">
            <a:avLst/>
          </a:prstGeom>
          <a:noFill/>
        </p:spPr>
        <p:txBody>
          <a:bodyPr wrap="none">
            <a:spAutoFit/>
          </a:bodyPr>
          <a:lstStyle/>
          <a:p/>
        </p:txBody>
      </p:sp>
      <p:sp>
        <p:nvSpPr>
          <p:cNvPr id="11" name="TextBox 10"/>
          <p:cNvSpPr txBox="1"/>
          <p:nvPr/>
        </p:nvSpPr>
        <p:spPr>
          <a:xfrm>
            <a:off x="6324600" y="2651760"/>
            <a:ext cx="4206240" cy="274320"/>
          </a:xfrm>
          <a:prstGeom prst="rect">
            <a:avLst/>
          </a:prstGeom>
          <a:noFill/>
        </p:spPr>
        <p:txBody>
          <a:bodyPr wrap="square">
            <a:spAutoFit/>
          </a:bodyPr>
          <a:lstStyle/>
          <a:p>
            <a:r>
              <a:rPr b="1" sz="1600"/>
              <a:t>Qadamlar ketma-ketligi</a:t>
            </a:r>
          </a:p>
        </p:txBody>
      </p:sp>
      <p:sp>
        <p:nvSpPr>
          <p:cNvPr id="12" name="TextBox 11"/>
          <p:cNvSpPr txBox="1"/>
          <p:nvPr/>
        </p:nvSpPr>
        <p:spPr>
          <a:xfrm>
            <a:off x="6324600" y="2926080"/>
            <a:ext cx="4206240" cy="1005840"/>
          </a:xfrm>
          <a:prstGeom prst="rect">
            <a:avLst/>
          </a:prstGeom>
          <a:noFill/>
        </p:spPr>
        <p:txBody>
          <a:bodyPr wrap="square">
            <a:spAutoFit/>
          </a:bodyPr>
          <a:lstStyle/>
          <a:p>
            <a:r>
              <a:rPr b="0" sz="1400"/>
              <a:t>Usulda avvalo, avvalgi matritsani shkalalar bilan tartiblaydi, so‘ngra pastki uchburchak shakliga keltirib, yechimlarni aniqroq aniqlash mumkin bo‘ladi.</a:t>
            </a:r>
          </a:p>
        </p:txBody>
      </p:sp>
      <p:sp>
        <p:nvSpPr>
          <p:cNvPr id="13" name="Rounded Rectangle 12"/>
          <p:cNvSpPr/>
          <p:nvPr/>
        </p:nvSpPr>
        <p:spPr>
          <a:xfrm>
            <a:off x="1203960" y="4297680"/>
            <a:ext cx="411480" cy="4114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64219" y="4357939"/>
            <a:ext cx="290960" cy="290960"/>
          </a:xfrm>
          <a:prstGeom prst="rect">
            <a:avLst/>
          </a:prstGeom>
          <a:noFill/>
        </p:spPr>
        <p:txBody>
          <a:bodyPr wrap="square">
            <a:spAutoFit/>
          </a:bodyPr>
          <a:lstStyle/>
          <a:p>
            <a:r>
              <a:rPr b="0" sz="1600"/>
              <a:t>3</a:t>
            </a:r>
          </a:p>
        </p:txBody>
      </p:sp>
      <p:sp>
        <p:nvSpPr>
          <p:cNvPr id="15" name="TextBox 14"/>
          <p:cNvSpPr txBox="1"/>
          <p:nvPr/>
        </p:nvSpPr>
        <p:spPr>
          <a:xfrm>
            <a:off x="1478280" y="4206240"/>
            <a:ext cx="4572000" cy="1645920"/>
          </a:xfrm>
          <a:prstGeom prst="rect">
            <a:avLst/>
          </a:prstGeom>
          <a:noFill/>
        </p:spPr>
        <p:txBody>
          <a:bodyPr wrap="none">
            <a:spAutoFit/>
          </a:bodyPr>
          <a:lstStyle/>
          <a:p/>
        </p:txBody>
      </p:sp>
      <p:sp>
        <p:nvSpPr>
          <p:cNvPr id="16" name="TextBox 15"/>
          <p:cNvSpPr txBox="1"/>
          <p:nvPr/>
        </p:nvSpPr>
        <p:spPr>
          <a:xfrm>
            <a:off x="1661160" y="4389120"/>
            <a:ext cx="4206240" cy="274320"/>
          </a:xfrm>
          <a:prstGeom prst="rect">
            <a:avLst/>
          </a:prstGeom>
          <a:noFill/>
        </p:spPr>
        <p:txBody>
          <a:bodyPr wrap="square">
            <a:spAutoFit/>
          </a:bodyPr>
          <a:lstStyle/>
          <a:p>
            <a:r>
              <a:rPr b="1" sz="1600"/>
              <a:t>Nolinchi elementlar</a:t>
            </a:r>
          </a:p>
        </p:txBody>
      </p:sp>
      <p:sp>
        <p:nvSpPr>
          <p:cNvPr id="17" name="TextBox 16"/>
          <p:cNvSpPr txBox="1"/>
          <p:nvPr/>
        </p:nvSpPr>
        <p:spPr>
          <a:xfrm>
            <a:off x="1661160" y="4663440"/>
            <a:ext cx="4206240" cy="1005840"/>
          </a:xfrm>
          <a:prstGeom prst="rect">
            <a:avLst/>
          </a:prstGeom>
          <a:noFill/>
        </p:spPr>
        <p:txBody>
          <a:bodyPr wrap="square">
            <a:spAutoFit/>
          </a:bodyPr>
          <a:lstStyle/>
          <a:p>
            <a:r>
              <a:rPr b="0" sz="1400"/>
              <a:t>Gauss usulida, har bir qadamda nolinchi elementlar tanlanadi va ular yordamida yuqoridagi elementlar o‘zgartiriladi, yechimlar aniqlanadi.</a:t>
            </a:r>
          </a:p>
        </p:txBody>
      </p:sp>
      <p:sp>
        <p:nvSpPr>
          <p:cNvPr id="18" name="Rounded Rectangle 17"/>
          <p:cNvSpPr/>
          <p:nvPr/>
        </p:nvSpPr>
        <p:spPr>
          <a:xfrm>
            <a:off x="5867400" y="4297680"/>
            <a:ext cx="411480" cy="4114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27659" y="4357939"/>
            <a:ext cx="290960" cy="290960"/>
          </a:xfrm>
          <a:prstGeom prst="rect">
            <a:avLst/>
          </a:prstGeom>
          <a:noFill/>
        </p:spPr>
        <p:txBody>
          <a:bodyPr wrap="square">
            <a:spAutoFit/>
          </a:bodyPr>
          <a:lstStyle/>
          <a:p>
            <a:r>
              <a:rPr b="0" sz="1600"/>
              <a:t>4</a:t>
            </a:r>
          </a:p>
        </p:txBody>
      </p:sp>
      <p:sp>
        <p:nvSpPr>
          <p:cNvPr id="20" name="TextBox 19"/>
          <p:cNvSpPr txBox="1"/>
          <p:nvPr/>
        </p:nvSpPr>
        <p:spPr>
          <a:xfrm>
            <a:off x="6141720" y="4206240"/>
            <a:ext cx="4572000" cy="1645920"/>
          </a:xfrm>
          <a:prstGeom prst="rect">
            <a:avLst/>
          </a:prstGeom>
          <a:noFill/>
        </p:spPr>
        <p:txBody>
          <a:bodyPr wrap="none">
            <a:spAutoFit/>
          </a:bodyPr>
          <a:lstStyle/>
          <a:p/>
        </p:txBody>
      </p:sp>
      <p:sp>
        <p:nvSpPr>
          <p:cNvPr id="21" name="TextBox 20"/>
          <p:cNvSpPr txBox="1"/>
          <p:nvPr/>
        </p:nvSpPr>
        <p:spPr>
          <a:xfrm>
            <a:off x="6324600" y="4389120"/>
            <a:ext cx="4206240" cy="274320"/>
          </a:xfrm>
          <a:prstGeom prst="rect">
            <a:avLst/>
          </a:prstGeom>
          <a:noFill/>
        </p:spPr>
        <p:txBody>
          <a:bodyPr wrap="square">
            <a:spAutoFit/>
          </a:bodyPr>
          <a:lstStyle/>
          <a:p>
            <a:r>
              <a:rPr b="1" sz="1600"/>
              <a:t>Afzalliklari</a:t>
            </a:r>
          </a:p>
        </p:txBody>
      </p:sp>
      <p:sp>
        <p:nvSpPr>
          <p:cNvPr id="22" name="TextBox 21"/>
          <p:cNvSpPr txBox="1"/>
          <p:nvPr/>
        </p:nvSpPr>
        <p:spPr>
          <a:xfrm>
            <a:off x="6324600" y="4663440"/>
            <a:ext cx="4206240" cy="1005840"/>
          </a:xfrm>
          <a:prstGeom prst="rect">
            <a:avLst/>
          </a:prstGeom>
          <a:noFill/>
        </p:spPr>
        <p:txBody>
          <a:bodyPr wrap="square">
            <a:spAutoFit/>
          </a:bodyPr>
          <a:lstStyle/>
          <a:p>
            <a:r>
              <a:rPr b="0" sz="1400"/>
              <a:t>Bu usul matematikani aniq va tizimli qilish imkonini beradi, murakkab tenglamalar sistemasini soddalashtirib, tez va to‘g‘ri yechim olishni ta’minlaydi.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Matritsa metodlari yordamida bir jinsli tenglamalar sistemasini yechish</a:t>
            </a:r>
          </a:p>
        </p:txBody>
      </p:sp>
      <p:sp>
        <p:nvSpPr>
          <p:cNvPr id="3" name="Rounded Rectangle 2"/>
          <p:cNvSpPr/>
          <p:nvPr/>
        </p:nvSpPr>
        <p:spPr>
          <a:xfrm>
            <a:off x="1432560" y="3017520"/>
            <a:ext cx="457200" cy="4572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99515" y="3084475"/>
            <a:ext cx="323289" cy="323289"/>
          </a:xfrm>
          <a:prstGeom prst="rect">
            <a:avLst/>
          </a:prstGeom>
          <a:noFill/>
        </p:spPr>
        <p:txBody>
          <a:bodyPr wrap="square">
            <a:spAutoFit/>
          </a:bodyPr>
          <a:lstStyle/>
          <a:p>
            <a:r>
              <a:rPr b="0" sz="1600"/>
              <a:t>1</a:t>
            </a:r>
          </a:p>
        </p:txBody>
      </p:sp>
      <p:sp>
        <p:nvSpPr>
          <p:cNvPr id="5" name="TextBox 4"/>
          <p:cNvSpPr txBox="1"/>
          <p:nvPr/>
        </p:nvSpPr>
        <p:spPr>
          <a:xfrm>
            <a:off x="1981200" y="3108960"/>
            <a:ext cx="2468880" cy="274320"/>
          </a:xfrm>
          <a:prstGeom prst="rect">
            <a:avLst/>
          </a:prstGeom>
          <a:noFill/>
        </p:spPr>
        <p:txBody>
          <a:bodyPr wrap="square">
            <a:spAutoFit/>
          </a:bodyPr>
          <a:lstStyle/>
          <a:p>
            <a:r>
              <a:rPr b="1" sz="1600"/>
              <a:t>Matritsa usullari</a:t>
            </a:r>
          </a:p>
        </p:txBody>
      </p:sp>
      <p:sp>
        <p:nvSpPr>
          <p:cNvPr id="6" name="TextBox 5"/>
          <p:cNvSpPr txBox="1"/>
          <p:nvPr/>
        </p:nvSpPr>
        <p:spPr>
          <a:xfrm>
            <a:off x="1981200" y="3657600"/>
            <a:ext cx="2743200" cy="1828800"/>
          </a:xfrm>
          <a:prstGeom prst="rect">
            <a:avLst/>
          </a:prstGeom>
          <a:noFill/>
        </p:spPr>
        <p:txBody>
          <a:bodyPr wrap="square">
            <a:spAutoFit/>
          </a:bodyPr>
          <a:lstStyle/>
          <a:p>
            <a:r>
              <a:rPr b="0" sz="1400"/>
              <a:t>Bu metodlar yordamida tenglamalar tizimini matritsa shaklida ifodalash va yechish mumkin. Matritsa yordamida tizimning xususiyatlari va yechimlari aniqroq bo'ladi.</a:t>
            </a:r>
          </a:p>
        </p:txBody>
      </p:sp>
      <p:sp>
        <p:nvSpPr>
          <p:cNvPr id="7" name="Rounded Rectangle 6"/>
          <p:cNvSpPr/>
          <p:nvPr/>
        </p:nvSpPr>
        <p:spPr>
          <a:xfrm>
            <a:off x="4450080" y="3017520"/>
            <a:ext cx="457200" cy="4572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17035" y="3084475"/>
            <a:ext cx="323289" cy="323289"/>
          </a:xfrm>
          <a:prstGeom prst="rect">
            <a:avLst/>
          </a:prstGeom>
          <a:noFill/>
        </p:spPr>
        <p:txBody>
          <a:bodyPr wrap="square">
            <a:spAutoFit/>
          </a:bodyPr>
          <a:lstStyle/>
          <a:p>
            <a:r>
              <a:rPr b="0" sz="1600"/>
              <a:t>2</a:t>
            </a:r>
          </a:p>
        </p:txBody>
      </p:sp>
      <p:sp>
        <p:nvSpPr>
          <p:cNvPr id="9" name="TextBox 8"/>
          <p:cNvSpPr txBox="1"/>
          <p:nvPr/>
        </p:nvSpPr>
        <p:spPr>
          <a:xfrm>
            <a:off x="4998720" y="3108960"/>
            <a:ext cx="2468880" cy="274320"/>
          </a:xfrm>
          <a:prstGeom prst="rect">
            <a:avLst/>
          </a:prstGeom>
          <a:noFill/>
        </p:spPr>
        <p:txBody>
          <a:bodyPr wrap="square">
            <a:spAutoFit/>
          </a:bodyPr>
          <a:lstStyle/>
          <a:p>
            <a:r>
              <a:rPr b="1" sz="1600"/>
              <a:t>Echolash va yechimlar</a:t>
            </a:r>
          </a:p>
        </p:txBody>
      </p:sp>
      <p:sp>
        <p:nvSpPr>
          <p:cNvPr id="10" name="TextBox 9"/>
          <p:cNvSpPr txBox="1"/>
          <p:nvPr/>
        </p:nvSpPr>
        <p:spPr>
          <a:xfrm>
            <a:off x="4998720" y="3657600"/>
            <a:ext cx="2743200" cy="1828800"/>
          </a:xfrm>
          <a:prstGeom prst="rect">
            <a:avLst/>
          </a:prstGeom>
          <a:noFill/>
        </p:spPr>
        <p:txBody>
          <a:bodyPr wrap="square">
            <a:spAutoFit/>
          </a:bodyPr>
          <a:lstStyle/>
          <a:p>
            <a:r>
              <a:rPr b="0" sz="1400"/>
              <a:t>Gauss eliminatsiya usuli, matritsalarni tozalash va ortogonalizatsiya qilish yordamida tizimni soddalashtirib, yechimlarni topish mumkin. Bu usul keng tarqalgan va qulay.</a:t>
            </a:r>
          </a:p>
        </p:txBody>
      </p:sp>
      <p:sp>
        <p:nvSpPr>
          <p:cNvPr id="11" name="Rounded Rectangle 10"/>
          <p:cNvSpPr/>
          <p:nvPr/>
        </p:nvSpPr>
        <p:spPr>
          <a:xfrm>
            <a:off x="7467600" y="3017520"/>
            <a:ext cx="457200" cy="4572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34555" y="3084475"/>
            <a:ext cx="323289" cy="323289"/>
          </a:xfrm>
          <a:prstGeom prst="rect">
            <a:avLst/>
          </a:prstGeom>
          <a:noFill/>
        </p:spPr>
        <p:txBody>
          <a:bodyPr wrap="square">
            <a:spAutoFit/>
          </a:bodyPr>
          <a:lstStyle/>
          <a:p>
            <a:r>
              <a:rPr b="0" sz="1600"/>
              <a:t>3</a:t>
            </a:r>
          </a:p>
        </p:txBody>
      </p:sp>
      <p:sp>
        <p:nvSpPr>
          <p:cNvPr id="13" name="TextBox 12"/>
          <p:cNvSpPr txBox="1"/>
          <p:nvPr/>
        </p:nvSpPr>
        <p:spPr>
          <a:xfrm>
            <a:off x="8016240" y="3108960"/>
            <a:ext cx="2468880" cy="274320"/>
          </a:xfrm>
          <a:prstGeom prst="rect">
            <a:avLst/>
          </a:prstGeom>
          <a:noFill/>
        </p:spPr>
        <p:txBody>
          <a:bodyPr wrap="square">
            <a:spAutoFit/>
          </a:bodyPr>
          <a:lstStyle/>
          <a:p>
            <a:r>
              <a:rPr b="1" sz="1600"/>
              <a:t>Matritsa metodlari afzalliklari</a:t>
            </a:r>
          </a:p>
        </p:txBody>
      </p:sp>
      <p:sp>
        <p:nvSpPr>
          <p:cNvPr id="14" name="TextBox 13"/>
          <p:cNvSpPr txBox="1"/>
          <p:nvPr/>
        </p:nvSpPr>
        <p:spPr>
          <a:xfrm>
            <a:off x="8016240" y="3657600"/>
            <a:ext cx="2743200" cy="1828800"/>
          </a:xfrm>
          <a:prstGeom prst="rect">
            <a:avLst/>
          </a:prstGeom>
          <a:noFill/>
        </p:spPr>
        <p:txBody>
          <a:bodyPr wrap="square">
            <a:spAutoFit/>
          </a:bodyPr>
          <a:lstStyle/>
          <a:p>
            <a:r>
              <a:rPr b="0" sz="1400"/>
              <a:t>Bu usullar juda tezkor va aniq natija beradi. Ular murakkab tizimlarni ham samarali hal qilish imkonini yaratadi, shuningdek, kompyuter dasturlarida keng qo'llaniladi.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Bir jinsli tenglamalar sistemasining muammolari va yechim topish strategiyalari</a:t>
            </a:r>
          </a:p>
        </p:txBody>
      </p:sp>
      <p:sp>
        <p:nvSpPr>
          <p:cNvPr id="3" name="Rounded Rectangle 2"/>
          <p:cNvSpPr/>
          <p:nvPr/>
        </p:nvSpPr>
        <p:spPr>
          <a:xfrm>
            <a:off x="1188720" y="26517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2284" y="2705324"/>
            <a:ext cx="258631" cy="258631"/>
          </a:xfrm>
          <a:prstGeom prst="rect">
            <a:avLst/>
          </a:prstGeom>
          <a:noFill/>
        </p:spPr>
        <p:txBody>
          <a:bodyPr wrap="square">
            <a:spAutoFit/>
          </a:bodyPr>
          <a:lstStyle/>
          <a:p>
            <a:r>
              <a:rPr b="0" sz="1600"/>
              <a:t>1</a:t>
            </a:r>
          </a:p>
        </p:txBody>
      </p:sp>
      <p:sp>
        <p:nvSpPr>
          <p:cNvPr id="5" name="TextBox 4"/>
          <p:cNvSpPr txBox="1"/>
          <p:nvPr/>
        </p:nvSpPr>
        <p:spPr>
          <a:xfrm>
            <a:off x="2103120" y="2560320"/>
            <a:ext cx="6400800" cy="274320"/>
          </a:xfrm>
          <a:prstGeom prst="rect">
            <a:avLst/>
          </a:prstGeom>
          <a:noFill/>
        </p:spPr>
        <p:txBody>
          <a:bodyPr wrap="square">
            <a:spAutoFit/>
          </a:bodyPr>
          <a:lstStyle/>
          <a:p>
            <a:r>
              <a:rPr b="1" sz="1800"/>
              <a:t>Yechim qiyinchiliklari</a:t>
            </a:r>
          </a:p>
        </p:txBody>
      </p:sp>
      <p:sp>
        <p:nvSpPr>
          <p:cNvPr id="6" name="TextBox 5"/>
          <p:cNvSpPr txBox="1"/>
          <p:nvPr/>
        </p:nvSpPr>
        <p:spPr>
          <a:xfrm>
            <a:off x="2103120" y="2834640"/>
            <a:ext cx="9144000" cy="914400"/>
          </a:xfrm>
          <a:prstGeom prst="rect">
            <a:avLst/>
          </a:prstGeom>
          <a:noFill/>
        </p:spPr>
        <p:txBody>
          <a:bodyPr wrap="square">
            <a:spAutoFit/>
          </a:bodyPr>
          <a:lstStyle/>
          <a:p>
            <a:r>
              <a:rPr b="0" sz="1400"/>
              <a:t>  - Homogeneous tenglamalar sistemlarida yechim topish jarayonida ko‘pincha inqirozlar va cheklovlar yuzaga keladi. Muammonar yechimlarning mavjudligi va aniqligi muhim ahamiyatga ega.</a:t>
            </a:r>
          </a:p>
        </p:txBody>
      </p:sp>
      <p:sp>
        <p:nvSpPr>
          <p:cNvPr id="7" name="Rounded Rectangle 6"/>
          <p:cNvSpPr/>
          <p:nvPr/>
        </p:nvSpPr>
        <p:spPr>
          <a:xfrm>
            <a:off x="1188720" y="35661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2284" y="3619724"/>
            <a:ext cx="258631" cy="258631"/>
          </a:xfrm>
          <a:prstGeom prst="rect">
            <a:avLst/>
          </a:prstGeom>
          <a:noFill/>
        </p:spPr>
        <p:txBody>
          <a:bodyPr wrap="square">
            <a:spAutoFit/>
          </a:bodyPr>
          <a:lstStyle/>
          <a:p>
            <a:r>
              <a:rPr b="0" sz="1600"/>
              <a:t>2</a:t>
            </a:r>
          </a:p>
        </p:txBody>
      </p:sp>
      <p:sp>
        <p:nvSpPr>
          <p:cNvPr id="9" name="TextBox 8"/>
          <p:cNvSpPr txBox="1"/>
          <p:nvPr/>
        </p:nvSpPr>
        <p:spPr>
          <a:xfrm>
            <a:off x="2103120" y="3474720"/>
            <a:ext cx="6400800" cy="274320"/>
          </a:xfrm>
          <a:prstGeom prst="rect">
            <a:avLst/>
          </a:prstGeom>
          <a:noFill/>
        </p:spPr>
        <p:txBody>
          <a:bodyPr wrap="square">
            <a:spAutoFit/>
          </a:bodyPr>
          <a:lstStyle/>
          <a:p>
            <a:r>
              <a:rPr b="1" sz="1800"/>
              <a:t>Algoritmik yondashuvlar</a:t>
            </a:r>
          </a:p>
        </p:txBody>
      </p:sp>
      <p:sp>
        <p:nvSpPr>
          <p:cNvPr id="10" name="TextBox 9"/>
          <p:cNvSpPr txBox="1"/>
          <p:nvPr/>
        </p:nvSpPr>
        <p:spPr>
          <a:xfrm>
            <a:off x="2103120" y="3749040"/>
            <a:ext cx="9144000" cy="914400"/>
          </a:xfrm>
          <a:prstGeom prst="rect">
            <a:avLst/>
          </a:prstGeom>
          <a:noFill/>
        </p:spPr>
        <p:txBody>
          <a:bodyPr wrap="square">
            <a:spAutoFit/>
          </a:bodyPr>
          <a:lstStyle/>
          <a:p>
            <a:r>
              <a:rPr b="0" sz="1400"/>
              <a:t>  - Aniq va samarali yechim uchun zamonaviy algoritmlar, masalan, Gauss eliminatsiyasi va matritsa metodlari keng qo‘llaniladi. Ular muammoni tizimli va tez hal qilish imkonini beradi.</a:t>
            </a:r>
          </a:p>
        </p:txBody>
      </p:sp>
      <p:sp>
        <p:nvSpPr>
          <p:cNvPr id="11" name="Rounded Rectangle 10"/>
          <p:cNvSpPr/>
          <p:nvPr/>
        </p:nvSpPr>
        <p:spPr>
          <a:xfrm>
            <a:off x="1188720" y="44805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2284" y="4534124"/>
            <a:ext cx="258631" cy="258631"/>
          </a:xfrm>
          <a:prstGeom prst="rect">
            <a:avLst/>
          </a:prstGeom>
          <a:noFill/>
        </p:spPr>
        <p:txBody>
          <a:bodyPr wrap="square">
            <a:spAutoFit/>
          </a:bodyPr>
          <a:lstStyle/>
          <a:p>
            <a:r>
              <a:rPr b="0" sz="1600"/>
              <a:t>3</a:t>
            </a:r>
          </a:p>
        </p:txBody>
      </p:sp>
      <p:sp>
        <p:nvSpPr>
          <p:cNvPr id="13" name="TextBox 12"/>
          <p:cNvSpPr txBox="1"/>
          <p:nvPr/>
        </p:nvSpPr>
        <p:spPr>
          <a:xfrm>
            <a:off x="2103120" y="4389120"/>
            <a:ext cx="6400800" cy="274320"/>
          </a:xfrm>
          <a:prstGeom prst="rect">
            <a:avLst/>
          </a:prstGeom>
          <a:noFill/>
        </p:spPr>
        <p:txBody>
          <a:bodyPr wrap="square">
            <a:spAutoFit/>
          </a:bodyPr>
          <a:lstStyle/>
          <a:p>
            <a:r>
              <a:rPr b="1" sz="1600"/>
              <a:t>Muammolarni hal qilish strategiyalari</a:t>
            </a:r>
          </a:p>
        </p:txBody>
      </p:sp>
      <p:sp>
        <p:nvSpPr>
          <p:cNvPr id="14" name="TextBox 13"/>
          <p:cNvSpPr txBox="1"/>
          <p:nvPr/>
        </p:nvSpPr>
        <p:spPr>
          <a:xfrm>
            <a:off x="2103120" y="4663440"/>
            <a:ext cx="9144000" cy="914400"/>
          </a:xfrm>
          <a:prstGeom prst="rect">
            <a:avLst/>
          </a:prstGeom>
          <a:noFill/>
        </p:spPr>
        <p:txBody>
          <a:bodyPr wrap="square">
            <a:spAutoFit/>
          </a:bodyPr>
          <a:lstStyle/>
          <a:p>
            <a:r>
              <a:rPr b="0" sz="1400"/>
              <a:t>  - Muammolarni aniqlash, model qurish va mos metodlarni tanlash muhim. Amaliy misollar yordamida yechim topish va real muammolarga tatbiq qilish strategiyalarni rivojlantiradi.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Amaliy misollar orqali lineer algebra va bir jinsli tenglamalar sistemasini o’rganish</a:t>
            </a:r>
          </a:p>
        </p:txBody>
      </p:sp>
      <p:sp>
        <p:nvSpPr>
          <p:cNvPr id="3" name="Rounded Rectangle 2"/>
          <p:cNvSpPr/>
          <p:nvPr/>
        </p:nvSpPr>
        <p:spPr>
          <a:xfrm>
            <a:off x="1981200" y="2286000"/>
            <a:ext cx="8229600" cy="1188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64080" y="2468880"/>
            <a:ext cx="7863840" cy="274320"/>
          </a:xfrm>
          <a:prstGeom prst="rect">
            <a:avLst/>
          </a:prstGeom>
          <a:noFill/>
        </p:spPr>
        <p:txBody>
          <a:bodyPr wrap="square">
            <a:spAutoFit/>
          </a:bodyPr>
          <a:lstStyle/>
          <a:p>
            <a:r>
              <a:rPr b="1" sz="1600"/>
              <a:t>Yechim usullari</a:t>
            </a:r>
          </a:p>
        </p:txBody>
      </p:sp>
      <p:sp>
        <p:nvSpPr>
          <p:cNvPr id="5" name="TextBox 4"/>
          <p:cNvSpPr txBox="1"/>
          <p:nvPr/>
        </p:nvSpPr>
        <p:spPr>
          <a:xfrm>
            <a:off x="2164080" y="2743200"/>
            <a:ext cx="7863840" cy="731520"/>
          </a:xfrm>
          <a:prstGeom prst="rect">
            <a:avLst/>
          </a:prstGeom>
          <a:noFill/>
        </p:spPr>
        <p:txBody>
          <a:bodyPr wrap="square">
            <a:spAutoFit/>
          </a:bodyPr>
          <a:lstStyle/>
          <a:p>
            <a:r>
              <a:rPr b="0" sz="1400"/>
              <a:t>Bu bo‘limda lineer algebra asosida bir jinsli tenglamalar sistemlarini yechish uchun amaliy usullar ko‘rib chiqiladi. Masalan, Gauss eliminatsiya usuli yordamida tenglamalarni samarali hal qilish mumkin.</a:t>
            </a:r>
          </a:p>
        </p:txBody>
      </p:sp>
      <p:sp>
        <p:nvSpPr>
          <p:cNvPr id="6" name="Rounded Rectangle 5"/>
          <p:cNvSpPr/>
          <p:nvPr/>
        </p:nvSpPr>
        <p:spPr>
          <a:xfrm>
            <a:off x="1981200" y="3657600"/>
            <a:ext cx="8229600" cy="1188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64080" y="3840480"/>
            <a:ext cx="7863840" cy="274320"/>
          </a:xfrm>
          <a:prstGeom prst="rect">
            <a:avLst/>
          </a:prstGeom>
          <a:noFill/>
        </p:spPr>
        <p:txBody>
          <a:bodyPr wrap="square">
            <a:spAutoFit/>
          </a:bodyPr>
          <a:lstStyle/>
          <a:p>
            <a:r>
              <a:rPr b="1" sz="1600"/>
              <a:t>Real hayotdagi misollar</a:t>
            </a:r>
          </a:p>
        </p:txBody>
      </p:sp>
      <p:sp>
        <p:nvSpPr>
          <p:cNvPr id="8" name="TextBox 7"/>
          <p:cNvSpPr txBox="1"/>
          <p:nvPr/>
        </p:nvSpPr>
        <p:spPr>
          <a:xfrm>
            <a:off x="2164080" y="4114800"/>
            <a:ext cx="7863840" cy="731520"/>
          </a:xfrm>
          <a:prstGeom prst="rect">
            <a:avLst/>
          </a:prstGeom>
          <a:noFill/>
        </p:spPr>
        <p:txBody>
          <a:bodyPr wrap="square">
            <a:spAutoFit/>
          </a:bodyPr>
          <a:lstStyle/>
          <a:p>
            <a:r>
              <a:rPr b="0" sz="1400"/>
              <a:t>Amaliy misollar orqali tenglamalar sistemlarini qurish va yechish jarayonlarini tushunamiz. Bu usul muhandislik, iqtisodiyot va boshqa sohalarda keng qo‘llaniladi.</a:t>
            </a:r>
          </a:p>
        </p:txBody>
      </p:sp>
      <p:sp>
        <p:nvSpPr>
          <p:cNvPr id="9" name="Rounded Rectangle 8"/>
          <p:cNvSpPr/>
          <p:nvPr/>
        </p:nvSpPr>
        <p:spPr>
          <a:xfrm>
            <a:off x="1981200" y="5029200"/>
            <a:ext cx="8229600" cy="1188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64080" y="5212080"/>
            <a:ext cx="7863840" cy="274320"/>
          </a:xfrm>
          <a:prstGeom prst="rect">
            <a:avLst/>
          </a:prstGeom>
          <a:noFill/>
        </p:spPr>
        <p:txBody>
          <a:bodyPr wrap="square">
            <a:spAutoFit/>
          </a:bodyPr>
          <a:lstStyle/>
          <a:p>
            <a:r>
              <a:rPr b="1" sz="1600"/>
              <a:t>Tajribali yondashuvlar</a:t>
            </a:r>
          </a:p>
        </p:txBody>
      </p:sp>
      <p:sp>
        <p:nvSpPr>
          <p:cNvPr id="11" name="TextBox 10"/>
          <p:cNvSpPr txBox="1"/>
          <p:nvPr/>
        </p:nvSpPr>
        <p:spPr>
          <a:xfrm>
            <a:off x="2164080" y="5486400"/>
            <a:ext cx="7863840" cy="731520"/>
          </a:xfrm>
          <a:prstGeom prst="rect">
            <a:avLst/>
          </a:prstGeom>
          <a:noFill/>
        </p:spPr>
        <p:txBody>
          <a:bodyPr wrap="square">
            <a:spAutoFit/>
          </a:bodyPr>
          <a:lstStyle/>
          <a:p>
            <a:r>
              <a:rPr b="0" sz="1400"/>
              <a:t>Turli metodlarni qo‘llashda muammo va qiyinchiliklar yuzaga kelishi mumkin. Shuning uchun, yechim topish uchun amaliy misollar va metodlarni o‘rganish muhim ahamiyatga ega.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a:pPr>
            <a:r>
              <a:t>Xulosa</a:t>
            </a:r>
          </a:p>
        </p:txBody>
      </p:sp>
      <p:sp>
        <p:nvSpPr>
          <p:cNvPr id="3" name="Rounded Rectangle 2"/>
          <p:cNvSpPr/>
          <p:nvPr/>
        </p:nvSpPr>
        <p:spPr>
          <a:xfrm>
            <a:off x="1981200" y="2286000"/>
            <a:ext cx="8229600" cy="1188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64080" y="2468880"/>
            <a:ext cx="7863840" cy="274320"/>
          </a:xfrm>
          <a:prstGeom prst="rect">
            <a:avLst/>
          </a:prstGeom>
          <a:noFill/>
        </p:spPr>
        <p:txBody>
          <a:bodyPr wrap="square">
            <a:spAutoFit/>
          </a:bodyPr>
          <a:lstStyle/>
          <a:p>
            <a:r>
              <a:rPr b="1" sz="1600"/>
              <a:t>Bir jinsli tenglamalar sistemining asosiy tushunchalari</a:t>
            </a:r>
          </a:p>
        </p:txBody>
      </p:sp>
      <p:sp>
        <p:nvSpPr>
          <p:cNvPr id="5" name="TextBox 4"/>
          <p:cNvSpPr txBox="1"/>
          <p:nvPr/>
        </p:nvSpPr>
        <p:spPr>
          <a:xfrm>
            <a:off x="2164080" y="2743200"/>
            <a:ext cx="7863840" cy="731520"/>
          </a:xfrm>
          <a:prstGeom prst="rect">
            <a:avLst/>
          </a:prstGeom>
          <a:noFill/>
        </p:spPr>
        <p:txBody>
          <a:bodyPr wrap="square">
            <a:spAutoFit/>
          </a:bodyPr>
          <a:lstStyle/>
          <a:p>
            <a:r>
              <a:rPr b="0" sz="1400"/>
              <a:t>Bu bo‘limda tenglama tizimining asosiy tushunchalari va ularning matematik asoslari haqida ma'lumot berildi, ular yechimlarni topishda muhim rol o‘ynaydi.</a:t>
            </a:r>
          </a:p>
        </p:txBody>
      </p:sp>
      <p:sp>
        <p:nvSpPr>
          <p:cNvPr id="6" name="Rounded Rectangle 5"/>
          <p:cNvSpPr/>
          <p:nvPr/>
        </p:nvSpPr>
        <p:spPr>
          <a:xfrm>
            <a:off x="1981200" y="3611880"/>
            <a:ext cx="8229600" cy="1188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64080" y="3794760"/>
            <a:ext cx="7863840" cy="274320"/>
          </a:xfrm>
          <a:prstGeom prst="rect">
            <a:avLst/>
          </a:prstGeom>
          <a:noFill/>
        </p:spPr>
        <p:txBody>
          <a:bodyPr wrap="square">
            <a:spAutoFit/>
          </a:bodyPr>
          <a:lstStyle/>
          <a:p>
            <a:r>
              <a:rPr b="1" sz="1600"/>
              <a:t>Homogeneous tenglamalar va ularning xususiyatlari</a:t>
            </a:r>
          </a:p>
        </p:txBody>
      </p:sp>
      <p:sp>
        <p:nvSpPr>
          <p:cNvPr id="8" name="TextBox 7"/>
          <p:cNvSpPr txBox="1"/>
          <p:nvPr/>
        </p:nvSpPr>
        <p:spPr>
          <a:xfrm>
            <a:off x="2164080" y="4069080"/>
            <a:ext cx="7863840" cy="731520"/>
          </a:xfrm>
          <a:prstGeom prst="rect">
            <a:avLst/>
          </a:prstGeom>
          <a:noFill/>
        </p:spPr>
        <p:txBody>
          <a:bodyPr wrap="square">
            <a:spAutoFit/>
          </a:bodyPr>
          <a:lstStyle/>
          <a:p>
            <a:r>
              <a:rPr b="0" sz="1400"/>
              <a:t>Homogeneous tenglamalar barcha tenglamalar nol vektor bilan ifodalanadi, ularning yechimlari lineer algebra yordamida aniqlanadi va muhim ahamiyatga ega.</a:t>
            </a:r>
          </a:p>
        </p:txBody>
      </p:sp>
      <p:sp>
        <p:nvSpPr>
          <p:cNvPr id="9" name="Rounded Rectangle 8"/>
          <p:cNvSpPr/>
          <p:nvPr/>
        </p:nvSpPr>
        <p:spPr>
          <a:xfrm>
            <a:off x="1981200" y="4937760"/>
            <a:ext cx="8229600" cy="1188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64080" y="5120640"/>
            <a:ext cx="7863840" cy="274320"/>
          </a:xfrm>
          <a:prstGeom prst="rect">
            <a:avLst/>
          </a:prstGeom>
          <a:noFill/>
        </p:spPr>
        <p:txBody>
          <a:bodyPr wrap="square">
            <a:spAutoFit/>
          </a:bodyPr>
          <a:lstStyle/>
          <a:p>
            <a:r>
              <a:rPr b="1" sz="1600"/>
              <a:t>Yechimlarni topish va amaliy qo‘llanishlar</a:t>
            </a:r>
          </a:p>
        </p:txBody>
      </p:sp>
      <p:sp>
        <p:nvSpPr>
          <p:cNvPr id="11" name="TextBox 10"/>
          <p:cNvSpPr txBox="1"/>
          <p:nvPr/>
        </p:nvSpPr>
        <p:spPr>
          <a:xfrm>
            <a:off x="2164080" y="5394960"/>
            <a:ext cx="7863840" cy="731520"/>
          </a:xfrm>
          <a:prstGeom prst="rect">
            <a:avLst/>
          </a:prstGeom>
          <a:noFill/>
        </p:spPr>
        <p:txBody>
          <a:bodyPr wrap="square">
            <a:spAutoFit/>
          </a:bodyPr>
          <a:lstStyle/>
          <a:p>
            <a:r>
              <a:rPr b="0" sz="1400"/>
              <a:t>Ushbu metodlar yordamida tenglamalar tizimini yechish, real muammolarni modellashtirish va iqtisodiy hamda muhandislik sohalarida keng qo‘llash imkoniyatlari mavjud.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Foydalanilgan Adabiyotlar</a:t>
            </a:r>
          </a:p>
        </p:txBody>
      </p:sp>
      <p:sp>
        <p:nvSpPr>
          <p:cNvPr id="3" name="Content Placeholder 2"/>
          <p:cNvSpPr>
            <a:spLocks noGrp="1"/>
          </p:cNvSpPr>
          <p:nvPr>
            <p:ph idx="1"/>
          </p:nvPr>
        </p:nvSpPr>
        <p:spPr/>
        <p:txBody>
          <a:bodyPr/>
          <a:lstStyle/>
          <a:p>
            <a:r>
              <a:rPr sz="1800"/>
              <a:t>1. O‘zbekiston Respublikasi Oliy va O‘rta Maxsus Ta’lim Vazirligi. Matematik analiz va algebra kurslari. Toshkent: O‘zbekiston Milliy Universiteti nashriyoti, 2018.</a:t>
            </a:r>
          </a:p>
          <a:p>
            <a:r>
              <a:rPr sz="1800"/>
              <a:t>2. Sobirov, M. J. Bir jinsli tenglamalar sistemasi va uning yechim usullari. Fan va texnika, 2020.</a:t>
            </a:r>
          </a:p>
          <a:p>
            <a:r>
              <a:rPr sz="1800"/>
              <a:t>3. Rahmonov, S. Homogeneous tenglamalar va ularning xususiyatlari. Matematik adabiyot, 2019.</a:t>
            </a:r>
          </a:p>
          <a:p>
            <a:r>
              <a:rPr sz="1800"/>
              <a:t>4. Toshkent Davlat Universiteti. Matematika fakulteti. Linear algebra va tenglamalar sistemasi. O‘quv qo‘llanma, 2021.</a:t>
            </a:r>
          </a:p>
          <a:p>
            <a:r>
              <a:rPr sz="1800"/>
              <a:t>5. Bekmurodov, M. A. Bir jinsli tenglamalar sistemalarining matematik asoslari. Yozma nashr, 2022.</a:t>
            </a:r>
          </a:p>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E'tiboringiz uchun rahmat!</a:t>
            </a:r>
          </a:p>
        </p:txBody>
      </p:sp>
    </p:spTree>
  </p:cSld>
  <p:clrMapOvr>
    <a:masterClrMapping/>
  </p:clrMapOvr>
</p:sld>
</file>

<file path=ppt/theme/theme1.xml><?xml version="1.0" encoding="utf-8"?>
<a:theme xmlns:a="http://schemas.openxmlformats.org/drawingml/2006/main" name="PrismaticVTI">
  <a:themeElements>
    <a:clrScheme name="AnalogousFromLightSeedLeftStep">
      <a:dk1>
        <a:srgbClr val="000000"/>
      </a:dk1>
      <a:lt1>
        <a:srgbClr val="FFFFFF"/>
      </a:lt1>
      <a:dk2>
        <a:srgbClr val="41243E"/>
      </a:dk2>
      <a:lt2>
        <a:srgbClr val="E2E6E8"/>
      </a:lt2>
      <a:accent1>
        <a:srgbClr val="C39983"/>
      </a:accent1>
      <a:accent2>
        <a:srgbClr val="BF7A7F"/>
      </a:accent2>
      <a:accent3>
        <a:srgbClr val="CB92AE"/>
      </a:accent3>
      <a:accent4>
        <a:srgbClr val="BF7AB9"/>
      </a:accent4>
      <a:accent5>
        <a:srgbClr val="B892CB"/>
      </a:accent5>
      <a:accent6>
        <a:srgbClr val="8B7ABF"/>
      </a:accent6>
      <a:hlink>
        <a:srgbClr val="5B879D"/>
      </a:hlink>
      <a:folHlink>
        <a:srgbClr val="7F7F7F"/>
      </a:folHlink>
    </a:clrScheme>
    <a:fontScheme name="Custom 166">
      <a:majorFont>
        <a:latin typeface="Aharon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ismaticVTI" id="{DA44D624-A564-4DE8-8446-0CD5C485C979}" vid="{8B2B1550-B69C-4156-BAEC-B2E559F94BDB}"/>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0</vt:i4>
      </vt:variant>
    </vt:vector>
  </HeadingPairs>
  <TitlesOfParts>
    <vt:vector size="4" baseType="lpstr">
      <vt:lpstr>Aharoni</vt:lpstr>
      <vt:lpstr>Arial</vt:lpstr>
      <vt:lpstr>Avenir Next LT Pro</vt:lpstr>
      <vt:lpstr>PrismaticVTI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쇼흐조드</dc:creator>
  <cp:lastModifiedBy>쇼흐조드</cp:lastModifiedBy>
  <cp:revision>1</cp:revision>
  <dcterms:created xsi:type="dcterms:W3CDTF">2023-10-19T04:23:04Z</dcterms:created>
  <dcterms:modified xsi:type="dcterms:W3CDTF">2023-10-19T04:24:56Z</dcterms:modified>
</cp:coreProperties>
</file>